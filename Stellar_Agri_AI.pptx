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4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8471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80% of smallholder farmers in Tamil Nadu cannot read complex agricultural dashboards or navigate mobile apps. When crops catch disease or weather turns bad, every hour matters. We built Stellar Agri AI—an autonomous voice agronomist that calls farmers on their standard phone in pure Tamil within 3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Farmers don’t need another smartphone app to download. They need immediate spoken answers in their mother tongue when they are standing in their fields.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farmer submits their number on the web form, which instantly webhooks the FastAPI backend. The backend pulls live weather, APMC mandi prices, and RAG knowledge, then dynamically configures the SnapServe agent with Tamil ASR before dialing the farmer through Vobiz PSTN.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let’s now do a live demonstration. We’ll place a call to a mobile phone right now, speak in Tamil, and get live weather, disease diagnosis, and Mandi prices in real-time.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5.png"/><Relationship Id="rId12"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7.png"/><Relationship Id="rId5" Type="http://schemas.openxmlformats.org/officeDocument/2006/relationships/image" Target="../media/image12.png"/><Relationship Id="rId10" Type="http://schemas.openxmlformats.org/officeDocument/2006/relationships/image" Target="../media/image15.png"/><Relationship Id="rId4" Type="http://schemas.openxmlformats.org/officeDocument/2006/relationships/image" Target="../media/image11.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0.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5.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9.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8.png"/><Relationship Id="rId5" Type="http://schemas.openxmlformats.org/officeDocument/2006/relationships/image" Target="../media/image23.png"/><Relationship Id="rId10" Type="http://schemas.openxmlformats.org/officeDocument/2006/relationships/image" Target="../media/image5.png"/><Relationship Id="rId4" Type="http://schemas.openxmlformats.org/officeDocument/2006/relationships/image" Target="../media/image22.pn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8.pn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9.png"/><Relationship Id="rId4" Type="http://schemas.openxmlformats.org/officeDocument/2006/relationships/image" Target="../media/image29.png"/><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11.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3.png"/><Relationship Id="rId7"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41.png"/><Relationship Id="rId4" Type="http://schemas.openxmlformats.org/officeDocument/2006/relationships/image" Target="../media/image28.png"/><Relationship Id="rId9" Type="http://schemas.openxmlformats.org/officeDocument/2006/relationships/image" Target="../media/image11.png"/></Relationships>
</file>

<file path=ppt/slides/_rels/slide20.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4.png"/><Relationship Id="rId7" Type="http://schemas.openxmlformats.org/officeDocument/2006/relationships/image" Target="../media/image45.png"/><Relationship Id="rId12"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3.png"/><Relationship Id="rId5" Type="http://schemas.openxmlformats.org/officeDocument/2006/relationships/image" Target="../media/image43.png"/><Relationship Id="rId10" Type="http://schemas.openxmlformats.org/officeDocument/2006/relationships/image" Target="../media/image9.png"/><Relationship Id="rId4" Type="http://schemas.openxmlformats.org/officeDocument/2006/relationships/image" Target="../media/image42.png"/><Relationship Id="rId9" Type="http://schemas.openxmlformats.org/officeDocument/2006/relationships/image" Target="../media/image47.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22A"/>
        </a:solidFill>
        <a:effectLst/>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1E4738"/>
          </a:solidFill>
          <a:ln/>
        </p:spPr>
      </p:sp>
      <p:sp>
        <p:nvSpPr>
          <p:cNvPr id="3" name="Shape 1"/>
          <p:cNvSpPr/>
          <p:nvPr/>
        </p:nvSpPr>
        <p:spPr>
          <a:xfrm>
            <a:off x="10241280" y="4206240"/>
            <a:ext cx="4206240" cy="4206240"/>
          </a:xfrm>
          <a:prstGeom prst="ellipse">
            <a:avLst/>
          </a:prstGeom>
          <a:solidFill>
            <a:srgbClr val="1A3E32"/>
          </a:solidFill>
          <a:ln/>
        </p:spPr>
      </p:sp>
      <p:pic>
        <p:nvPicPr>
          <p:cNvPr id="4" name="Image 0" descr="/home/claude/work/stellar_white.png"/>
          <p:cNvPicPr>
            <a:picLocks noChangeAspect="1"/>
          </p:cNvPicPr>
          <p:nvPr/>
        </p:nvPicPr>
        <p:blipFill>
          <a:blip r:embed="rId3"/>
          <a:stretch>
            <a:fillRect/>
          </a:stretch>
        </p:blipFill>
        <p:spPr>
          <a:xfrm>
            <a:off x="457200" y="365760"/>
            <a:ext cx="1371600" cy="479685"/>
          </a:xfrm>
          <a:prstGeom prst="rect">
            <a:avLst/>
          </a:prstGeom>
        </p:spPr>
      </p:pic>
      <p:sp>
        <p:nvSpPr>
          <p:cNvPr id="5" name="Shape 2"/>
          <p:cNvSpPr/>
          <p:nvPr/>
        </p:nvSpPr>
        <p:spPr>
          <a:xfrm>
            <a:off x="10500055" y="365760"/>
            <a:ext cx="1234440" cy="502920"/>
          </a:xfrm>
          <a:prstGeom prst="roundRect">
            <a:avLst>
              <a:gd name="adj" fmla="val 18182"/>
            </a:avLst>
          </a:prstGeom>
          <a:solidFill>
            <a:srgbClr val="FFFFFF"/>
          </a:solidFill>
          <a:ln/>
          <a:effectLst>
            <a:outerShdw blurRad="76200" dist="25400" dir="5400000" algn="bl" rotWithShape="0">
              <a:srgbClr val="000000">
                <a:alpha val="25000"/>
              </a:srgbClr>
            </a:outerShdw>
          </a:effectLst>
        </p:spPr>
      </p:sp>
      <p:pic>
        <p:nvPicPr>
          <p:cNvPr id="6" name="Image 1" descr="/home/claude/work/snap_crop.png"/>
          <p:cNvPicPr>
            <a:picLocks noChangeAspect="1"/>
          </p:cNvPicPr>
          <p:nvPr/>
        </p:nvPicPr>
        <p:blipFill>
          <a:blip r:embed="rId4"/>
          <a:stretch>
            <a:fillRect/>
          </a:stretch>
        </p:blipFill>
        <p:spPr>
          <a:xfrm>
            <a:off x="10643490" y="438912"/>
            <a:ext cx="435506" cy="356616"/>
          </a:xfrm>
          <a:prstGeom prst="rect">
            <a:avLst/>
          </a:prstGeom>
        </p:spPr>
      </p:pic>
      <p:sp>
        <p:nvSpPr>
          <p:cNvPr id="7" name="Text 3"/>
          <p:cNvSpPr/>
          <p:nvPr/>
        </p:nvSpPr>
        <p:spPr>
          <a:xfrm>
            <a:off x="10953849" y="365760"/>
            <a:ext cx="707494" cy="502920"/>
          </a:xfrm>
          <a:prstGeom prst="rect">
            <a:avLst/>
          </a:prstGeom>
          <a:noFill/>
          <a:ln/>
        </p:spPr>
        <p:txBody>
          <a:bodyPr wrap="square" lIns="0" tIns="0" rIns="0" bIns="0" rtlCol="0" anchor="ctr"/>
          <a:lstStyle/>
          <a:p>
            <a:pPr marL="0" indent="0" algn="l">
              <a:buNone/>
            </a:pPr>
            <a:r>
              <a:rPr lang="en-US" sz="1100" b="1" dirty="0">
                <a:solidFill>
                  <a:srgbClr val="13322A"/>
                </a:solidFill>
                <a:latin typeface="Calibri" pitchFamily="34" charset="0"/>
                <a:ea typeface="Calibri" pitchFamily="34" charset="-122"/>
                <a:cs typeface="Calibri" pitchFamily="34" charset="-120"/>
              </a:rPr>
              <a:t>SnapServe</a:t>
            </a:r>
            <a:endParaRPr lang="en-US" sz="1100" dirty="0"/>
          </a:p>
        </p:txBody>
      </p:sp>
      <p:sp>
        <p:nvSpPr>
          <p:cNvPr id="8" name="Text 4"/>
          <p:cNvSpPr/>
          <p:nvPr/>
        </p:nvSpPr>
        <p:spPr>
          <a:xfrm>
            <a:off x="640080" y="1600200"/>
            <a:ext cx="10058400" cy="320040"/>
          </a:xfrm>
          <a:prstGeom prst="rect">
            <a:avLst/>
          </a:prstGeom>
          <a:noFill/>
          <a:ln/>
        </p:spPr>
        <p:txBody>
          <a:bodyPr wrap="square" rtlCol="0" anchor="ctr"/>
          <a:lstStyle/>
          <a:p>
            <a:pPr marL="0" indent="0">
              <a:buNone/>
            </a:pPr>
            <a:r>
              <a:rPr lang="en-US" sz="1250" b="1" kern="0" spc="180" dirty="0">
                <a:solidFill>
                  <a:srgbClr val="D9A441"/>
                </a:solidFill>
                <a:latin typeface="Calibri" pitchFamily="34" charset="0"/>
                <a:ea typeface="Calibri" pitchFamily="34" charset="-122"/>
                <a:cs typeface="Calibri" pitchFamily="34" charset="-120"/>
              </a:rPr>
              <a:t>INDIA’S BIGGEST VOICE-A-THON — AI VOICE FOR TAMIL NADU</a:t>
            </a:r>
            <a:endParaRPr lang="en-US" sz="1250" dirty="0"/>
          </a:p>
        </p:txBody>
      </p:sp>
      <p:sp>
        <p:nvSpPr>
          <p:cNvPr id="9" name="Text 5"/>
          <p:cNvSpPr/>
          <p:nvPr/>
        </p:nvSpPr>
        <p:spPr>
          <a:xfrm>
            <a:off x="594360" y="1938528"/>
            <a:ext cx="10515600" cy="1051560"/>
          </a:xfrm>
          <a:prstGeom prst="rect">
            <a:avLst/>
          </a:prstGeom>
          <a:noFill/>
          <a:ln/>
        </p:spPr>
        <p:txBody>
          <a:bodyPr wrap="square" lIns="0" tIns="0" rIns="0" bIns="0"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Stellar Agri AI</a:t>
            </a:r>
            <a:endParaRPr lang="en-US" sz="5600" dirty="0"/>
          </a:p>
        </p:txBody>
      </p:sp>
      <p:sp>
        <p:nvSpPr>
          <p:cNvPr id="10" name="Text 6"/>
          <p:cNvSpPr/>
          <p:nvPr/>
        </p:nvSpPr>
        <p:spPr>
          <a:xfrm>
            <a:off x="640080" y="2971800"/>
            <a:ext cx="9875520" cy="502920"/>
          </a:xfrm>
          <a:prstGeom prst="rect">
            <a:avLst/>
          </a:prstGeom>
          <a:noFill/>
          <a:ln/>
        </p:spPr>
        <p:txBody>
          <a:bodyPr wrap="square" rtlCol="0" anchor="ctr"/>
          <a:lstStyle/>
          <a:p>
            <a:pPr marL="0" indent="0">
              <a:lnSpc>
                <a:spcPct val="120000"/>
              </a:lnSpc>
              <a:buNone/>
            </a:pPr>
            <a:r>
              <a:rPr lang="en-US" sz="1550" dirty="0">
                <a:solidFill>
                  <a:srgbClr val="D8E3DC"/>
                </a:solidFill>
                <a:latin typeface="Calibri" pitchFamily="34" charset="0"/>
                <a:ea typeface="Calibri" pitchFamily="34" charset="-122"/>
                <a:cs typeface="Calibri" pitchFamily="34" charset="-120"/>
              </a:rPr>
              <a:t>Autonomous Multilingual Voice Telephony &amp; Real-Time Agronomy for Indian Farmers</a:t>
            </a:r>
            <a:endParaRPr lang="en-US" sz="1550" dirty="0"/>
          </a:p>
        </p:txBody>
      </p:sp>
      <p:sp>
        <p:nvSpPr>
          <p:cNvPr id="11" name="Text 7"/>
          <p:cNvSpPr/>
          <p:nvPr/>
        </p:nvSpPr>
        <p:spPr>
          <a:xfrm>
            <a:off x="640080" y="3429000"/>
            <a:ext cx="7315200" cy="320040"/>
          </a:xfrm>
          <a:prstGeom prst="rect">
            <a:avLst/>
          </a:prstGeom>
          <a:noFill/>
          <a:ln/>
        </p:spPr>
        <p:txBody>
          <a:bodyPr wrap="square" rtlCol="0" anchor="ctr"/>
          <a:lstStyle/>
          <a:p>
            <a:pPr marL="0" indent="0">
              <a:buNone/>
            </a:pPr>
            <a:r>
              <a:rPr lang="en-US" sz="1150" i="1" dirty="0">
                <a:solidFill>
                  <a:srgbClr val="F3DFAF"/>
                </a:solidFill>
                <a:latin typeface="Calibri" pitchFamily="34" charset="0"/>
                <a:ea typeface="Calibri" pitchFamily="34" charset="-122"/>
                <a:cs typeface="Calibri" pitchFamily="34" charset="-120"/>
              </a:rPr>
              <a:t>Powered by Vobiz.ai &amp; SnapServe.ai</a:t>
            </a:r>
            <a:endParaRPr lang="en-US" sz="1150" dirty="0"/>
          </a:p>
        </p:txBody>
      </p:sp>
      <p:sp>
        <p:nvSpPr>
          <p:cNvPr id="12" name="Text 8"/>
          <p:cNvSpPr/>
          <p:nvPr/>
        </p:nvSpPr>
        <p:spPr>
          <a:xfrm>
            <a:off x="640080" y="4617720"/>
            <a:ext cx="1645920" cy="256032"/>
          </a:xfrm>
          <a:prstGeom prst="rect">
            <a:avLst/>
          </a:prstGeom>
          <a:noFill/>
          <a:ln/>
        </p:spPr>
        <p:txBody>
          <a:bodyPr wrap="square" rtlCol="0" anchor="ctr"/>
          <a:lstStyle/>
          <a:p>
            <a:pPr marL="0" indent="0">
              <a:buNone/>
            </a:pPr>
            <a:r>
              <a:rPr lang="en-US" sz="1000" b="1" kern="0" spc="150" dirty="0">
                <a:solidFill>
                  <a:srgbClr val="D9A441"/>
                </a:solidFill>
                <a:latin typeface="Calibri" pitchFamily="34" charset="0"/>
                <a:ea typeface="Calibri" pitchFamily="34" charset="-122"/>
                <a:cs typeface="Calibri" pitchFamily="34" charset="-120"/>
              </a:rPr>
              <a:t>TEAM</a:t>
            </a:r>
            <a:endParaRPr lang="en-US" sz="1000" dirty="0"/>
          </a:p>
        </p:txBody>
      </p:sp>
      <p:sp>
        <p:nvSpPr>
          <p:cNvPr id="13" name="Text 9"/>
          <p:cNvSpPr/>
          <p:nvPr/>
        </p:nvSpPr>
        <p:spPr>
          <a:xfrm>
            <a:off x="694944" y="4892040"/>
            <a:ext cx="1645920" cy="45720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STELLAR</a:t>
            </a:r>
            <a:endParaRPr lang="en-US" sz="1350" dirty="0"/>
          </a:p>
        </p:txBody>
      </p:sp>
      <p:sp>
        <p:nvSpPr>
          <p:cNvPr id="14" name="Text 10"/>
          <p:cNvSpPr/>
          <p:nvPr/>
        </p:nvSpPr>
        <p:spPr>
          <a:xfrm>
            <a:off x="2487168" y="4617720"/>
            <a:ext cx="2651760" cy="256032"/>
          </a:xfrm>
          <a:prstGeom prst="rect">
            <a:avLst/>
          </a:prstGeom>
          <a:noFill/>
          <a:ln/>
        </p:spPr>
        <p:txBody>
          <a:bodyPr wrap="square" rtlCol="0" anchor="ctr"/>
          <a:lstStyle/>
          <a:p>
            <a:pPr marL="0" indent="0">
              <a:buNone/>
            </a:pPr>
            <a:r>
              <a:rPr lang="en-US" sz="1000" b="1" kern="0" spc="150" dirty="0">
                <a:solidFill>
                  <a:srgbClr val="D9A441"/>
                </a:solidFill>
                <a:latin typeface="Calibri" pitchFamily="34" charset="0"/>
                <a:ea typeface="Calibri" pitchFamily="34" charset="-122"/>
                <a:cs typeface="Calibri" pitchFamily="34" charset="-120"/>
              </a:rPr>
              <a:t>PRESENTER</a:t>
            </a:r>
            <a:endParaRPr lang="en-US" sz="1000" dirty="0"/>
          </a:p>
        </p:txBody>
      </p:sp>
      <p:sp>
        <p:nvSpPr>
          <p:cNvPr id="15" name="Text 11"/>
          <p:cNvSpPr/>
          <p:nvPr/>
        </p:nvSpPr>
        <p:spPr>
          <a:xfrm>
            <a:off x="2542032" y="4892040"/>
            <a:ext cx="2651760" cy="45720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M. Mohammed Salman</a:t>
            </a:r>
            <a:endParaRPr lang="en-US" sz="1350" dirty="0"/>
          </a:p>
        </p:txBody>
      </p:sp>
      <p:sp>
        <p:nvSpPr>
          <p:cNvPr id="16" name="Text 12"/>
          <p:cNvSpPr/>
          <p:nvPr/>
        </p:nvSpPr>
        <p:spPr>
          <a:xfrm>
            <a:off x="5340096" y="4617720"/>
            <a:ext cx="2286000" cy="256032"/>
          </a:xfrm>
          <a:prstGeom prst="rect">
            <a:avLst/>
          </a:prstGeom>
          <a:noFill/>
          <a:ln/>
        </p:spPr>
        <p:txBody>
          <a:bodyPr wrap="square" rtlCol="0" anchor="ctr"/>
          <a:lstStyle/>
          <a:p>
            <a:pPr marL="0" indent="0">
              <a:buNone/>
            </a:pPr>
            <a:r>
              <a:rPr lang="en-US" sz="1000" b="1" kern="0" spc="150" dirty="0">
                <a:solidFill>
                  <a:srgbClr val="D9A441"/>
                </a:solidFill>
                <a:latin typeface="Calibri" pitchFamily="34" charset="0"/>
                <a:ea typeface="Calibri" pitchFamily="34" charset="-122"/>
                <a:cs typeface="Calibri" pitchFamily="34" charset="-120"/>
              </a:rPr>
              <a:t>LIVE HOTLINE</a:t>
            </a:r>
            <a:endParaRPr lang="en-US" sz="1000" dirty="0"/>
          </a:p>
        </p:txBody>
      </p:sp>
      <p:sp>
        <p:nvSpPr>
          <p:cNvPr id="17" name="Text 13"/>
          <p:cNvSpPr/>
          <p:nvPr/>
        </p:nvSpPr>
        <p:spPr>
          <a:xfrm>
            <a:off x="5340096" y="4892040"/>
            <a:ext cx="2286000" cy="45720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+91 80715 81407</a:t>
            </a:r>
            <a:endParaRPr lang="en-US" sz="1350" dirty="0"/>
          </a:p>
        </p:txBody>
      </p:sp>
      <p:sp>
        <p:nvSpPr>
          <p:cNvPr id="18" name="Text 14"/>
          <p:cNvSpPr/>
          <p:nvPr/>
        </p:nvSpPr>
        <p:spPr>
          <a:xfrm>
            <a:off x="7827264" y="4617720"/>
            <a:ext cx="2651760" cy="256032"/>
          </a:xfrm>
          <a:prstGeom prst="rect">
            <a:avLst/>
          </a:prstGeom>
          <a:noFill/>
          <a:ln/>
        </p:spPr>
        <p:txBody>
          <a:bodyPr wrap="square" rtlCol="0" anchor="ctr"/>
          <a:lstStyle/>
          <a:p>
            <a:pPr marL="0" indent="0">
              <a:buNone/>
            </a:pPr>
            <a:r>
              <a:rPr lang="en-US" sz="1000" b="1" kern="0" spc="150" dirty="0">
                <a:solidFill>
                  <a:srgbClr val="D9A441"/>
                </a:solidFill>
                <a:latin typeface="Calibri" pitchFamily="34" charset="0"/>
                <a:ea typeface="Calibri" pitchFamily="34" charset="-122"/>
                <a:cs typeface="Calibri" pitchFamily="34" charset="-120"/>
              </a:rPr>
              <a:t>LIVE WEB APP</a:t>
            </a:r>
            <a:endParaRPr lang="en-US" sz="1000" dirty="0"/>
          </a:p>
        </p:txBody>
      </p:sp>
      <p:sp>
        <p:nvSpPr>
          <p:cNvPr id="19" name="Text 15"/>
          <p:cNvSpPr/>
          <p:nvPr/>
        </p:nvSpPr>
        <p:spPr>
          <a:xfrm>
            <a:off x="7827264" y="4892040"/>
            <a:ext cx="2651760" cy="45720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stellaragri.site</a:t>
            </a:r>
            <a:endParaRPr lang="en-US" sz="1350" dirty="0"/>
          </a:p>
        </p:txBody>
      </p:sp>
      <p:sp>
        <p:nvSpPr>
          <p:cNvPr id="20" name="Shape 16"/>
          <p:cNvSpPr/>
          <p:nvPr/>
        </p:nvSpPr>
        <p:spPr>
          <a:xfrm>
            <a:off x="640080" y="4526280"/>
            <a:ext cx="10881360" cy="0"/>
          </a:xfrm>
          <a:prstGeom prst="line">
            <a:avLst/>
          </a:prstGeom>
          <a:noFill/>
          <a:ln w="12700">
            <a:solidFill>
              <a:srgbClr val="2F5445"/>
            </a:solidFill>
            <a:prstDash val="solid"/>
          </a:ln>
        </p:spPr>
      </p:sp>
      <p:sp>
        <p:nvSpPr>
          <p:cNvPr id="21" name="Text 17"/>
          <p:cNvSpPr/>
          <p:nvPr/>
        </p:nvSpPr>
        <p:spPr>
          <a:xfrm>
            <a:off x="640080" y="6355080"/>
            <a:ext cx="7315200" cy="274320"/>
          </a:xfrm>
          <a:prstGeom prst="rect">
            <a:avLst/>
          </a:prstGeom>
          <a:noFill/>
          <a:ln/>
        </p:spPr>
        <p:txBody>
          <a:bodyPr wrap="square" rtlCol="0" anchor="ctr"/>
          <a:lstStyle/>
          <a:p>
            <a:pPr marL="0" indent="0">
              <a:buNone/>
            </a:pPr>
            <a:r>
              <a:rPr lang="en-US" sz="1050" i="1" dirty="0">
                <a:solidFill>
                  <a:srgbClr val="9FB3A7"/>
                </a:solidFill>
                <a:latin typeface="Calibri" pitchFamily="34" charset="0"/>
                <a:ea typeface="Calibri" pitchFamily="34" charset="-122"/>
                <a:cs typeface="Calibri" pitchFamily="34" charset="-120"/>
              </a:rPr>
              <a:t>Powered by Sarvam AI  ·  SnapServe  ·  Vobiz</a:t>
            </a:r>
            <a:endParaRPr lang="en-US" sz="1050" dirty="0"/>
          </a:p>
        </p:txBody>
      </p:sp>
      <p:sp>
        <p:nvSpPr>
          <p:cNvPr id="23" name="Text 8">
            <a:extLst>
              <a:ext uri="{FF2B5EF4-FFF2-40B4-BE49-F238E27FC236}">
                <a16:creationId xmlns:a16="http://schemas.microsoft.com/office/drawing/2014/main" id="{187EB0C1-1AD6-F273-F2A0-8CF66671549C}"/>
              </a:ext>
            </a:extLst>
          </p:cNvPr>
          <p:cNvSpPr/>
          <p:nvPr/>
        </p:nvSpPr>
        <p:spPr>
          <a:xfrm>
            <a:off x="640080" y="5468112"/>
            <a:ext cx="1645920" cy="256032"/>
          </a:xfrm>
          <a:prstGeom prst="rect">
            <a:avLst/>
          </a:prstGeom>
          <a:noFill/>
          <a:ln/>
        </p:spPr>
        <p:txBody>
          <a:bodyPr wrap="square" rtlCol="0" anchor="ctr"/>
          <a:lstStyle/>
          <a:p>
            <a:pPr marL="0" indent="0">
              <a:buNone/>
            </a:pPr>
            <a:r>
              <a:rPr lang="en-US" sz="1000" b="1" kern="0" spc="150" dirty="0">
                <a:solidFill>
                  <a:srgbClr val="D9A441"/>
                </a:solidFill>
                <a:latin typeface="Calibri" pitchFamily="34" charset="0"/>
                <a:ea typeface="Calibri" pitchFamily="34" charset="-122"/>
                <a:cs typeface="Calibri" pitchFamily="34" charset="-120"/>
              </a:rPr>
              <a:t>TEAM MEMBERS </a:t>
            </a:r>
            <a:endParaRPr lang="en-US" sz="1000" dirty="0"/>
          </a:p>
        </p:txBody>
      </p:sp>
      <p:sp>
        <p:nvSpPr>
          <p:cNvPr id="25" name="Text 11">
            <a:extLst>
              <a:ext uri="{FF2B5EF4-FFF2-40B4-BE49-F238E27FC236}">
                <a16:creationId xmlns:a16="http://schemas.microsoft.com/office/drawing/2014/main" id="{31A2C64E-782E-FC2F-FCCE-E61FFFE8AE32}"/>
              </a:ext>
            </a:extLst>
          </p:cNvPr>
          <p:cNvSpPr/>
          <p:nvPr/>
        </p:nvSpPr>
        <p:spPr>
          <a:xfrm>
            <a:off x="723519" y="5671945"/>
            <a:ext cx="2651760" cy="528827"/>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Reshmi S</a:t>
            </a:r>
          </a:p>
          <a:p>
            <a:pPr marL="0" indent="0">
              <a:buNone/>
            </a:pPr>
            <a:r>
              <a:rPr lang="en-US" sz="1350" dirty="0">
                <a:solidFill>
                  <a:srgbClr val="FFFFFF"/>
                </a:solidFill>
                <a:latin typeface="Calibri" pitchFamily="34" charset="0"/>
                <a:ea typeface="Calibri" pitchFamily="34" charset="-122"/>
                <a:cs typeface="Calibri" pitchFamily="34" charset="-120"/>
              </a:rPr>
              <a:t>Vinodhini J 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Why agricultural tech fails the average farmer</a:t>
            </a:r>
            <a:endParaRPr lang="en-US" sz="2800" dirty="0"/>
          </a:p>
        </p:txBody>
      </p:sp>
      <p:sp>
        <p:nvSpPr>
          <p:cNvPr id="4" name="Shape 2"/>
          <p:cNvSpPr/>
          <p:nvPr/>
        </p:nvSpPr>
        <p:spPr>
          <a:xfrm>
            <a:off x="548640" y="2331720"/>
            <a:ext cx="2651760" cy="3566160"/>
          </a:xfrm>
          <a:prstGeom prst="roundRect">
            <a:avLst>
              <a:gd name="adj" fmla="val 3103"/>
            </a:avLst>
          </a:prstGeom>
          <a:solidFill>
            <a:srgbClr val="FFFFFF"/>
          </a:solidFill>
          <a:ln/>
          <a:effectLst>
            <a:outerShdw blurRad="127000" dist="38100" dir="5400000" algn="bl" rotWithShape="0">
              <a:srgbClr val="2B3B33">
                <a:alpha val="12000"/>
              </a:srgbClr>
            </a:outerShdw>
          </a:effectLst>
        </p:spPr>
      </p:sp>
      <p:sp>
        <p:nvSpPr>
          <p:cNvPr id="5" name="Shape 3"/>
          <p:cNvSpPr/>
          <p:nvPr/>
        </p:nvSpPr>
        <p:spPr>
          <a:xfrm>
            <a:off x="868680" y="2651760"/>
            <a:ext cx="685800" cy="685800"/>
          </a:xfrm>
          <a:prstGeom prst="ellipse">
            <a:avLst/>
          </a:prstGeom>
          <a:solidFill>
            <a:srgbClr val="13322A"/>
          </a:solidFill>
          <a:ln/>
        </p:spPr>
      </p:sp>
      <p:pic>
        <p:nvPicPr>
          <p:cNvPr id="6" name="Image 0" descr="/home/claude/work/icons/mobile.png"/>
          <p:cNvPicPr>
            <a:picLocks noChangeAspect="1"/>
          </p:cNvPicPr>
          <p:nvPr/>
        </p:nvPicPr>
        <p:blipFill>
          <a:blip r:embed="rId3"/>
          <a:stretch>
            <a:fillRect/>
          </a:stretch>
        </p:blipFill>
        <p:spPr>
          <a:xfrm>
            <a:off x="964692" y="2747772"/>
            <a:ext cx="493776" cy="493776"/>
          </a:xfrm>
          <a:prstGeom prst="rect">
            <a:avLst/>
          </a:prstGeom>
        </p:spPr>
      </p:pic>
      <p:sp>
        <p:nvSpPr>
          <p:cNvPr id="7" name="Text 4"/>
          <p:cNvSpPr/>
          <p:nvPr/>
        </p:nvSpPr>
        <p:spPr>
          <a:xfrm>
            <a:off x="822960" y="3520440"/>
            <a:ext cx="2103120" cy="548640"/>
          </a:xfrm>
          <a:prstGeom prst="rect">
            <a:avLst/>
          </a:prstGeom>
          <a:noFill/>
          <a:ln/>
        </p:spPr>
        <p:txBody>
          <a:bodyPr wrap="square" lIns="0" tIns="0" rIns="0" bIns="0" rtlCol="0" anchor="ctr"/>
          <a:lstStyle/>
          <a:p>
            <a:pPr marL="0" indent="0">
              <a:buNone/>
            </a:pPr>
            <a:r>
              <a:rPr lang="en-US" sz="1550" b="1" dirty="0">
                <a:solidFill>
                  <a:srgbClr val="18231F"/>
                </a:solidFill>
                <a:latin typeface="Cambria" pitchFamily="34" charset="0"/>
                <a:ea typeface="Cambria" pitchFamily="34" charset="-122"/>
                <a:cs typeface="Cambria" pitchFamily="34" charset="-120"/>
              </a:rPr>
              <a:t>The Digital Divide</a:t>
            </a:r>
            <a:endParaRPr lang="en-US" sz="1550" dirty="0"/>
          </a:p>
        </p:txBody>
      </p:sp>
      <p:sp>
        <p:nvSpPr>
          <p:cNvPr id="8" name="Text 5"/>
          <p:cNvSpPr/>
          <p:nvPr/>
        </p:nvSpPr>
        <p:spPr>
          <a:xfrm>
            <a:off x="822960" y="4114800"/>
            <a:ext cx="2103120" cy="1600200"/>
          </a:xfrm>
          <a:prstGeom prst="rect">
            <a:avLst/>
          </a:prstGeom>
          <a:noFill/>
          <a:ln/>
        </p:spPr>
        <p:txBody>
          <a:bodyPr wrap="square" lIns="0" tIns="0" rIns="0" bIns="0" rtlCol="0" anchor="ctr"/>
          <a:lstStyle/>
          <a:p>
            <a:pPr marL="0" indent="0">
              <a:lnSpc>
                <a:spcPct val="118000"/>
              </a:lnSpc>
              <a:buNone/>
            </a:pPr>
            <a:r>
              <a:rPr lang="en-US" sz="1150" dirty="0">
                <a:solidFill>
                  <a:srgbClr val="55645C"/>
                </a:solidFill>
                <a:latin typeface="Calibri" pitchFamily="34" charset="0"/>
                <a:ea typeface="Calibri" pitchFamily="34" charset="-122"/>
                <a:cs typeface="Calibri" pitchFamily="34" charset="-120"/>
              </a:rPr>
              <a:t>Complex mobile apps and PDF manuals see low adoption among rural farmers due to literacy and tech friction.</a:t>
            </a:r>
            <a:endParaRPr lang="en-US" sz="1150" dirty="0"/>
          </a:p>
        </p:txBody>
      </p:sp>
      <p:sp>
        <p:nvSpPr>
          <p:cNvPr id="9" name="Shape 6"/>
          <p:cNvSpPr/>
          <p:nvPr/>
        </p:nvSpPr>
        <p:spPr>
          <a:xfrm>
            <a:off x="3429000" y="2331720"/>
            <a:ext cx="2651760" cy="3566160"/>
          </a:xfrm>
          <a:prstGeom prst="roundRect">
            <a:avLst>
              <a:gd name="adj" fmla="val 3103"/>
            </a:avLst>
          </a:prstGeom>
          <a:solidFill>
            <a:srgbClr val="FFFFFF"/>
          </a:solidFill>
          <a:ln/>
          <a:effectLst>
            <a:outerShdw blurRad="127000" dist="38100" dir="5400000" algn="bl" rotWithShape="0">
              <a:srgbClr val="2B3B33">
                <a:alpha val="12000"/>
              </a:srgbClr>
            </a:outerShdw>
          </a:effectLst>
        </p:spPr>
      </p:sp>
      <p:sp>
        <p:nvSpPr>
          <p:cNvPr id="10" name="Shape 7"/>
          <p:cNvSpPr/>
          <p:nvPr/>
        </p:nvSpPr>
        <p:spPr>
          <a:xfrm>
            <a:off x="3749040" y="2651760"/>
            <a:ext cx="685800" cy="685800"/>
          </a:xfrm>
          <a:prstGeom prst="ellipse">
            <a:avLst/>
          </a:prstGeom>
          <a:solidFill>
            <a:srgbClr val="4C7A5E"/>
          </a:solidFill>
          <a:ln/>
        </p:spPr>
      </p:sp>
      <p:pic>
        <p:nvPicPr>
          <p:cNvPr id="11" name="Image 1" descr="/home/claude/work/icons/dialect.png"/>
          <p:cNvPicPr>
            <a:picLocks noChangeAspect="1"/>
          </p:cNvPicPr>
          <p:nvPr/>
        </p:nvPicPr>
        <p:blipFill>
          <a:blip r:embed="rId4"/>
          <a:stretch>
            <a:fillRect/>
          </a:stretch>
        </p:blipFill>
        <p:spPr>
          <a:xfrm>
            <a:off x="3845052" y="2747772"/>
            <a:ext cx="493776" cy="493776"/>
          </a:xfrm>
          <a:prstGeom prst="rect">
            <a:avLst/>
          </a:prstGeom>
        </p:spPr>
      </p:pic>
      <p:sp>
        <p:nvSpPr>
          <p:cNvPr id="12" name="Text 8"/>
          <p:cNvSpPr/>
          <p:nvPr/>
        </p:nvSpPr>
        <p:spPr>
          <a:xfrm>
            <a:off x="3703320" y="3520440"/>
            <a:ext cx="2103120" cy="548640"/>
          </a:xfrm>
          <a:prstGeom prst="rect">
            <a:avLst/>
          </a:prstGeom>
          <a:noFill/>
          <a:ln/>
        </p:spPr>
        <p:txBody>
          <a:bodyPr wrap="square" lIns="0" tIns="0" rIns="0" bIns="0" rtlCol="0" anchor="ctr"/>
          <a:lstStyle/>
          <a:p>
            <a:pPr marL="0" indent="0">
              <a:buNone/>
            </a:pPr>
            <a:r>
              <a:rPr lang="en-US" sz="1550" b="1" dirty="0">
                <a:solidFill>
                  <a:srgbClr val="18231F"/>
                </a:solidFill>
                <a:latin typeface="Cambria" pitchFamily="34" charset="0"/>
                <a:ea typeface="Cambria" pitchFamily="34" charset="-122"/>
                <a:cs typeface="Cambria" pitchFamily="34" charset="-120"/>
              </a:rPr>
              <a:t>Language &amp; Dialect Barriers</a:t>
            </a:r>
            <a:endParaRPr lang="en-US" sz="1550" dirty="0"/>
          </a:p>
        </p:txBody>
      </p:sp>
      <p:sp>
        <p:nvSpPr>
          <p:cNvPr id="13" name="Text 9"/>
          <p:cNvSpPr/>
          <p:nvPr/>
        </p:nvSpPr>
        <p:spPr>
          <a:xfrm>
            <a:off x="3703320" y="4114800"/>
            <a:ext cx="2103120" cy="1600200"/>
          </a:xfrm>
          <a:prstGeom prst="rect">
            <a:avLst/>
          </a:prstGeom>
          <a:noFill/>
          <a:ln/>
        </p:spPr>
        <p:txBody>
          <a:bodyPr wrap="square" lIns="0" tIns="0" rIns="0" bIns="0" rtlCol="0" anchor="ctr"/>
          <a:lstStyle/>
          <a:p>
            <a:pPr marL="0" indent="0">
              <a:lnSpc>
                <a:spcPct val="118000"/>
              </a:lnSpc>
              <a:buNone/>
            </a:pPr>
            <a:r>
              <a:rPr lang="en-US" sz="1150" dirty="0">
                <a:solidFill>
                  <a:srgbClr val="55645C"/>
                </a:solidFill>
                <a:latin typeface="Calibri" pitchFamily="34" charset="0"/>
                <a:ea typeface="Calibri" pitchFamily="34" charset="-122"/>
                <a:cs typeface="Calibri" pitchFamily="34" charset="-120"/>
              </a:rPr>
              <a:t>Agronomy advice is often in English or generic Hindi, failing to connect with regional Tamil / Indic dialects.</a:t>
            </a:r>
            <a:endParaRPr lang="en-US" sz="1150" dirty="0"/>
          </a:p>
        </p:txBody>
      </p:sp>
      <p:sp>
        <p:nvSpPr>
          <p:cNvPr id="14" name="Shape 10"/>
          <p:cNvSpPr/>
          <p:nvPr/>
        </p:nvSpPr>
        <p:spPr>
          <a:xfrm>
            <a:off x="6309360" y="2331720"/>
            <a:ext cx="2651760" cy="3566160"/>
          </a:xfrm>
          <a:prstGeom prst="roundRect">
            <a:avLst>
              <a:gd name="adj" fmla="val 3103"/>
            </a:avLst>
          </a:prstGeom>
          <a:solidFill>
            <a:srgbClr val="FFFFFF"/>
          </a:solidFill>
          <a:ln/>
          <a:effectLst>
            <a:outerShdw blurRad="127000" dist="38100" dir="5400000" algn="bl" rotWithShape="0">
              <a:srgbClr val="2B3B33">
                <a:alpha val="12000"/>
              </a:srgbClr>
            </a:outerShdw>
          </a:effectLst>
        </p:spPr>
      </p:sp>
      <p:sp>
        <p:nvSpPr>
          <p:cNvPr id="15" name="Shape 11"/>
          <p:cNvSpPr/>
          <p:nvPr/>
        </p:nvSpPr>
        <p:spPr>
          <a:xfrm>
            <a:off x="6629400" y="2651760"/>
            <a:ext cx="685800" cy="685800"/>
          </a:xfrm>
          <a:prstGeom prst="ellipse">
            <a:avLst/>
          </a:prstGeom>
          <a:solidFill>
            <a:srgbClr val="13322A"/>
          </a:solidFill>
          <a:ln/>
        </p:spPr>
      </p:sp>
      <p:pic>
        <p:nvPicPr>
          <p:cNvPr id="16" name="Image 2" descr="/home/claude/work/icons/coins.png"/>
          <p:cNvPicPr>
            <a:picLocks noChangeAspect="1"/>
          </p:cNvPicPr>
          <p:nvPr/>
        </p:nvPicPr>
        <p:blipFill>
          <a:blip r:embed="rId5"/>
          <a:stretch>
            <a:fillRect/>
          </a:stretch>
        </p:blipFill>
        <p:spPr>
          <a:xfrm>
            <a:off x="6725412" y="2747772"/>
            <a:ext cx="493776" cy="493776"/>
          </a:xfrm>
          <a:prstGeom prst="rect">
            <a:avLst/>
          </a:prstGeom>
        </p:spPr>
      </p:pic>
      <p:sp>
        <p:nvSpPr>
          <p:cNvPr id="17" name="Text 12"/>
          <p:cNvSpPr/>
          <p:nvPr/>
        </p:nvSpPr>
        <p:spPr>
          <a:xfrm>
            <a:off x="6583680" y="3520440"/>
            <a:ext cx="2103120" cy="548640"/>
          </a:xfrm>
          <a:prstGeom prst="rect">
            <a:avLst/>
          </a:prstGeom>
          <a:noFill/>
          <a:ln/>
        </p:spPr>
        <p:txBody>
          <a:bodyPr wrap="square" lIns="0" tIns="0" rIns="0" bIns="0" rtlCol="0" anchor="ctr"/>
          <a:lstStyle/>
          <a:p>
            <a:pPr marL="0" indent="0">
              <a:buNone/>
            </a:pPr>
            <a:r>
              <a:rPr lang="en-US" sz="1550" b="1" dirty="0">
                <a:solidFill>
                  <a:srgbClr val="18231F"/>
                </a:solidFill>
                <a:latin typeface="Cambria" pitchFamily="34" charset="0"/>
                <a:ea typeface="Cambria" pitchFamily="34" charset="-122"/>
                <a:cs typeface="Cambria" pitchFamily="34" charset="-120"/>
              </a:rPr>
              <a:t>Information Asymmetry</a:t>
            </a:r>
            <a:endParaRPr lang="en-US" sz="1550" dirty="0"/>
          </a:p>
        </p:txBody>
      </p:sp>
      <p:sp>
        <p:nvSpPr>
          <p:cNvPr id="18" name="Text 13"/>
          <p:cNvSpPr/>
          <p:nvPr/>
        </p:nvSpPr>
        <p:spPr>
          <a:xfrm>
            <a:off x="6583680" y="4114800"/>
            <a:ext cx="2103120" cy="1600200"/>
          </a:xfrm>
          <a:prstGeom prst="rect">
            <a:avLst/>
          </a:prstGeom>
          <a:noFill/>
          <a:ln/>
        </p:spPr>
        <p:txBody>
          <a:bodyPr wrap="square" lIns="0" tIns="0" rIns="0" bIns="0" rtlCol="0" anchor="ctr"/>
          <a:lstStyle/>
          <a:p>
            <a:pPr marL="0" indent="0">
              <a:lnSpc>
                <a:spcPct val="118000"/>
              </a:lnSpc>
              <a:buNone/>
            </a:pPr>
            <a:r>
              <a:rPr lang="en-US" sz="1150" dirty="0">
                <a:solidFill>
                  <a:srgbClr val="55645C"/>
                </a:solidFill>
                <a:latin typeface="Calibri" pitchFamily="34" charset="0"/>
                <a:ea typeface="Calibri" pitchFamily="34" charset="-122"/>
                <a:cs typeface="Calibri" pitchFamily="34" charset="-120"/>
              </a:rPr>
              <a:t>Farmers sell crops below fair market price because they lack real-time local APMC Mandi prices.</a:t>
            </a:r>
            <a:endParaRPr lang="en-US" sz="1150" dirty="0"/>
          </a:p>
        </p:txBody>
      </p:sp>
      <p:sp>
        <p:nvSpPr>
          <p:cNvPr id="19" name="Shape 14"/>
          <p:cNvSpPr/>
          <p:nvPr/>
        </p:nvSpPr>
        <p:spPr>
          <a:xfrm>
            <a:off x="9189720" y="2331720"/>
            <a:ext cx="2651760" cy="3566160"/>
          </a:xfrm>
          <a:prstGeom prst="roundRect">
            <a:avLst>
              <a:gd name="adj" fmla="val 3103"/>
            </a:avLst>
          </a:prstGeom>
          <a:solidFill>
            <a:srgbClr val="FFFFFF"/>
          </a:solidFill>
          <a:ln/>
          <a:effectLst>
            <a:outerShdw blurRad="127000" dist="38100" dir="5400000" algn="bl" rotWithShape="0">
              <a:srgbClr val="2B3B33">
                <a:alpha val="12000"/>
              </a:srgbClr>
            </a:outerShdw>
          </a:effectLst>
        </p:spPr>
      </p:sp>
      <p:sp>
        <p:nvSpPr>
          <p:cNvPr id="20" name="Shape 15"/>
          <p:cNvSpPr/>
          <p:nvPr/>
        </p:nvSpPr>
        <p:spPr>
          <a:xfrm>
            <a:off x="9509760" y="2651760"/>
            <a:ext cx="685800" cy="685800"/>
          </a:xfrm>
          <a:prstGeom prst="ellipse">
            <a:avLst/>
          </a:prstGeom>
          <a:solidFill>
            <a:srgbClr val="4C7A5E"/>
          </a:solidFill>
          <a:ln/>
        </p:spPr>
      </p:sp>
      <p:pic>
        <p:nvPicPr>
          <p:cNvPr id="21" name="Image 3" descr="/home/claude/work/icons/clock.png"/>
          <p:cNvPicPr>
            <a:picLocks noChangeAspect="1"/>
          </p:cNvPicPr>
          <p:nvPr/>
        </p:nvPicPr>
        <p:blipFill>
          <a:blip r:embed="rId6"/>
          <a:stretch>
            <a:fillRect/>
          </a:stretch>
        </p:blipFill>
        <p:spPr>
          <a:xfrm>
            <a:off x="9605772" y="2747772"/>
            <a:ext cx="493776" cy="493776"/>
          </a:xfrm>
          <a:prstGeom prst="rect">
            <a:avLst/>
          </a:prstGeom>
        </p:spPr>
      </p:pic>
      <p:sp>
        <p:nvSpPr>
          <p:cNvPr id="22" name="Text 16"/>
          <p:cNvSpPr/>
          <p:nvPr/>
        </p:nvSpPr>
        <p:spPr>
          <a:xfrm>
            <a:off x="9464040" y="3520440"/>
            <a:ext cx="2103120" cy="548640"/>
          </a:xfrm>
          <a:prstGeom prst="rect">
            <a:avLst/>
          </a:prstGeom>
          <a:noFill/>
          <a:ln/>
        </p:spPr>
        <p:txBody>
          <a:bodyPr wrap="square" lIns="0" tIns="0" rIns="0" bIns="0" rtlCol="0" anchor="ctr"/>
          <a:lstStyle/>
          <a:p>
            <a:pPr marL="0" indent="0">
              <a:buNone/>
            </a:pPr>
            <a:r>
              <a:rPr lang="en-US" sz="1550" b="1" dirty="0">
                <a:solidFill>
                  <a:srgbClr val="18231F"/>
                </a:solidFill>
                <a:latin typeface="Cambria" pitchFamily="34" charset="0"/>
                <a:ea typeface="Cambria" pitchFamily="34" charset="-122"/>
                <a:cs typeface="Cambria" pitchFamily="34" charset="-120"/>
              </a:rPr>
              <a:t>Delayed Crisis Response</a:t>
            </a:r>
            <a:endParaRPr lang="en-US" sz="1550" dirty="0"/>
          </a:p>
        </p:txBody>
      </p:sp>
      <p:sp>
        <p:nvSpPr>
          <p:cNvPr id="23" name="Text 17"/>
          <p:cNvSpPr/>
          <p:nvPr/>
        </p:nvSpPr>
        <p:spPr>
          <a:xfrm>
            <a:off x="9464040" y="4114800"/>
            <a:ext cx="2103120" cy="1600200"/>
          </a:xfrm>
          <a:prstGeom prst="rect">
            <a:avLst/>
          </a:prstGeom>
          <a:noFill/>
          <a:ln/>
        </p:spPr>
        <p:txBody>
          <a:bodyPr wrap="square" lIns="0" tIns="0" rIns="0" bIns="0" rtlCol="0" anchor="ctr"/>
          <a:lstStyle/>
          <a:p>
            <a:pPr marL="0" indent="0">
              <a:lnSpc>
                <a:spcPct val="118000"/>
              </a:lnSpc>
              <a:buNone/>
            </a:pPr>
            <a:r>
              <a:rPr lang="en-US" sz="1150" dirty="0">
                <a:solidFill>
                  <a:srgbClr val="55645C"/>
                </a:solidFill>
                <a:latin typeface="Calibri" pitchFamily="34" charset="0"/>
                <a:ea typeface="Calibri" pitchFamily="34" charset="-122"/>
                <a:cs typeface="Calibri" pitchFamily="34" charset="-120"/>
              </a:rPr>
              <a:t>Crop diseases like leaf blight and bollworm spread rapidly while farmers wait for field officer visits.</a:t>
            </a:r>
            <a:endParaRPr lang="en-US" sz="1150" dirty="0"/>
          </a:p>
        </p:txBody>
      </p:sp>
      <p:sp>
        <p:nvSpPr>
          <p:cNvPr id="24" name="Text 18"/>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25" name="Text 19"/>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THE SOLUTION — STELLAR AGRI AI</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Zero-friction voice telephony agronomist</a:t>
            </a:r>
            <a:endParaRPr lang="en-US" sz="2800" dirty="0"/>
          </a:p>
        </p:txBody>
      </p:sp>
      <p:sp>
        <p:nvSpPr>
          <p:cNvPr id="4" name="Shape 2"/>
          <p:cNvSpPr/>
          <p:nvPr/>
        </p:nvSpPr>
        <p:spPr>
          <a:xfrm>
            <a:off x="548640" y="2148840"/>
            <a:ext cx="5349240" cy="1783080"/>
          </a:xfrm>
          <a:prstGeom prst="roundRect">
            <a:avLst>
              <a:gd name="adj" fmla="val 4615"/>
            </a:avLst>
          </a:prstGeom>
          <a:solidFill>
            <a:srgbClr val="FFFFFF"/>
          </a:solidFill>
          <a:ln w="12700">
            <a:solidFill>
              <a:srgbClr val="E1DFD3"/>
            </a:solidFill>
            <a:prstDash val="solid"/>
          </a:ln>
        </p:spPr>
      </p:sp>
      <p:sp>
        <p:nvSpPr>
          <p:cNvPr id="5" name="Shape 3"/>
          <p:cNvSpPr/>
          <p:nvPr/>
        </p:nvSpPr>
        <p:spPr>
          <a:xfrm>
            <a:off x="822960" y="2651760"/>
            <a:ext cx="777240" cy="777240"/>
          </a:xfrm>
          <a:prstGeom prst="ellipse">
            <a:avLst/>
          </a:prstGeom>
          <a:solidFill>
            <a:srgbClr val="13322A"/>
          </a:solidFill>
          <a:ln/>
        </p:spPr>
      </p:sp>
      <p:pic>
        <p:nvPicPr>
          <p:cNvPr id="6" name="Image 0" descr="/home/claude/work/icons/phone.png"/>
          <p:cNvPicPr>
            <a:picLocks noChangeAspect="1"/>
          </p:cNvPicPr>
          <p:nvPr/>
        </p:nvPicPr>
        <p:blipFill>
          <a:blip r:embed="rId3"/>
          <a:stretch>
            <a:fillRect/>
          </a:stretch>
        </p:blipFill>
        <p:spPr>
          <a:xfrm>
            <a:off x="931774" y="2760574"/>
            <a:ext cx="559613" cy="559613"/>
          </a:xfrm>
          <a:prstGeom prst="rect">
            <a:avLst/>
          </a:prstGeom>
        </p:spPr>
      </p:pic>
      <p:sp>
        <p:nvSpPr>
          <p:cNvPr id="7" name="Text 4"/>
          <p:cNvSpPr/>
          <p:nvPr/>
        </p:nvSpPr>
        <p:spPr>
          <a:xfrm>
            <a:off x="1783080" y="2350008"/>
            <a:ext cx="3886200" cy="457200"/>
          </a:xfrm>
          <a:prstGeom prst="rect">
            <a:avLst/>
          </a:prstGeom>
          <a:noFill/>
          <a:ln/>
        </p:spPr>
        <p:txBody>
          <a:bodyPr wrap="square" lIns="0" tIns="0" rIns="0" bIns="0" rtlCol="0" anchor="ctr"/>
          <a:lstStyle/>
          <a:p>
            <a:pPr marL="0" indent="0">
              <a:buNone/>
            </a:pPr>
            <a:r>
              <a:rPr lang="en-US" sz="1450" b="1" dirty="0">
                <a:solidFill>
                  <a:srgbClr val="18231F"/>
                </a:solidFill>
                <a:latin typeface="Cambria" pitchFamily="34" charset="0"/>
                <a:ea typeface="Cambria" pitchFamily="34" charset="-122"/>
                <a:cs typeface="Cambria" pitchFamily="34" charset="-120"/>
              </a:rPr>
              <a:t>Instant Outbound Calling</a:t>
            </a:r>
            <a:endParaRPr lang="en-US" sz="1450" dirty="0"/>
          </a:p>
        </p:txBody>
      </p:sp>
      <p:sp>
        <p:nvSpPr>
          <p:cNvPr id="8" name="Text 5"/>
          <p:cNvSpPr/>
          <p:nvPr/>
        </p:nvSpPr>
        <p:spPr>
          <a:xfrm>
            <a:off x="1783080" y="2807208"/>
            <a:ext cx="3886200" cy="1005840"/>
          </a:xfrm>
          <a:prstGeom prst="rect">
            <a:avLst/>
          </a:prstGeom>
          <a:noFill/>
          <a:ln/>
        </p:spPr>
        <p:txBody>
          <a:bodyPr wrap="square" lIns="0" tIns="0" rIns="0" bIns="0" rtlCol="0" anchor="ctr"/>
          <a:lstStyle/>
          <a:p>
            <a:pPr marL="0" indent="0">
              <a:lnSpc>
                <a:spcPct val="115000"/>
              </a:lnSpc>
              <a:buNone/>
            </a:pPr>
            <a:r>
              <a:rPr lang="en-US" sz="1080" dirty="0">
                <a:solidFill>
                  <a:srgbClr val="55645C"/>
                </a:solidFill>
                <a:latin typeface="Calibri" pitchFamily="34" charset="0"/>
                <a:ea typeface="Calibri" pitchFamily="34" charset="-122"/>
                <a:cs typeface="Calibri" pitchFamily="34" charset="-120"/>
              </a:rPr>
              <a:t>A farmer submits their number on the web → our AI voice agent calls their phone within 3 to 5 seconds.</a:t>
            </a:r>
            <a:endParaRPr lang="en-US" sz="1080" dirty="0"/>
          </a:p>
        </p:txBody>
      </p:sp>
      <p:sp>
        <p:nvSpPr>
          <p:cNvPr id="9" name="Shape 6"/>
          <p:cNvSpPr/>
          <p:nvPr/>
        </p:nvSpPr>
        <p:spPr>
          <a:xfrm>
            <a:off x="6172200" y="2148840"/>
            <a:ext cx="5349240" cy="1783080"/>
          </a:xfrm>
          <a:prstGeom prst="roundRect">
            <a:avLst>
              <a:gd name="adj" fmla="val 4615"/>
            </a:avLst>
          </a:prstGeom>
          <a:solidFill>
            <a:srgbClr val="FFFFFF"/>
          </a:solidFill>
          <a:ln w="12700">
            <a:solidFill>
              <a:srgbClr val="E1DFD3"/>
            </a:solidFill>
            <a:prstDash val="solid"/>
          </a:ln>
        </p:spPr>
      </p:sp>
      <p:sp>
        <p:nvSpPr>
          <p:cNvPr id="10" name="Shape 7"/>
          <p:cNvSpPr/>
          <p:nvPr/>
        </p:nvSpPr>
        <p:spPr>
          <a:xfrm>
            <a:off x="6446520" y="2651760"/>
            <a:ext cx="777240" cy="777240"/>
          </a:xfrm>
          <a:prstGeom prst="ellipse">
            <a:avLst/>
          </a:prstGeom>
          <a:solidFill>
            <a:srgbClr val="13322A"/>
          </a:solidFill>
          <a:ln/>
        </p:spPr>
      </p:sp>
      <p:pic>
        <p:nvPicPr>
          <p:cNvPr id="11" name="Image 1" descr="/home/claude/work/icons/globe.png"/>
          <p:cNvPicPr>
            <a:picLocks noChangeAspect="1"/>
          </p:cNvPicPr>
          <p:nvPr/>
        </p:nvPicPr>
        <p:blipFill>
          <a:blip r:embed="rId4"/>
          <a:stretch>
            <a:fillRect/>
          </a:stretch>
        </p:blipFill>
        <p:spPr>
          <a:xfrm>
            <a:off x="6555334" y="2760574"/>
            <a:ext cx="559613" cy="559613"/>
          </a:xfrm>
          <a:prstGeom prst="rect">
            <a:avLst/>
          </a:prstGeom>
        </p:spPr>
      </p:pic>
      <p:sp>
        <p:nvSpPr>
          <p:cNvPr id="12" name="Text 8"/>
          <p:cNvSpPr/>
          <p:nvPr/>
        </p:nvSpPr>
        <p:spPr>
          <a:xfrm>
            <a:off x="7406640" y="2350008"/>
            <a:ext cx="3886200" cy="457200"/>
          </a:xfrm>
          <a:prstGeom prst="rect">
            <a:avLst/>
          </a:prstGeom>
          <a:noFill/>
          <a:ln/>
        </p:spPr>
        <p:txBody>
          <a:bodyPr wrap="square" lIns="0" tIns="0" rIns="0" bIns="0" rtlCol="0" anchor="ctr"/>
          <a:lstStyle/>
          <a:p>
            <a:pPr marL="0" indent="0">
              <a:buNone/>
            </a:pPr>
            <a:r>
              <a:rPr lang="en-US" sz="1450" b="1" dirty="0">
                <a:solidFill>
                  <a:srgbClr val="18231F"/>
                </a:solidFill>
                <a:latin typeface="Cambria" pitchFamily="34" charset="0"/>
                <a:ea typeface="Cambria" pitchFamily="34" charset="-122"/>
                <a:cs typeface="Cambria" pitchFamily="34" charset="-120"/>
              </a:rPr>
              <a:t>Native Indic Language Support</a:t>
            </a:r>
            <a:endParaRPr lang="en-US" sz="1450" dirty="0"/>
          </a:p>
        </p:txBody>
      </p:sp>
      <p:sp>
        <p:nvSpPr>
          <p:cNvPr id="13" name="Text 9"/>
          <p:cNvSpPr/>
          <p:nvPr/>
        </p:nvSpPr>
        <p:spPr>
          <a:xfrm>
            <a:off x="7406640" y="2807208"/>
            <a:ext cx="3886200" cy="1005840"/>
          </a:xfrm>
          <a:prstGeom prst="rect">
            <a:avLst/>
          </a:prstGeom>
          <a:noFill/>
          <a:ln/>
        </p:spPr>
        <p:txBody>
          <a:bodyPr wrap="square" lIns="0" tIns="0" rIns="0" bIns="0" rtlCol="0" anchor="ctr"/>
          <a:lstStyle/>
          <a:p>
            <a:pPr marL="0" indent="0">
              <a:lnSpc>
                <a:spcPct val="115000"/>
              </a:lnSpc>
              <a:buNone/>
            </a:pPr>
            <a:r>
              <a:rPr lang="en-US" sz="1080" dirty="0">
                <a:solidFill>
                  <a:srgbClr val="55645C"/>
                </a:solidFill>
                <a:latin typeface="Calibri" pitchFamily="34" charset="0"/>
                <a:ea typeface="Calibri" pitchFamily="34" charset="-122"/>
                <a:cs typeface="Calibri" pitchFamily="34" charset="-120"/>
              </a:rPr>
              <a:t>Built for Tamil, Telugu, Kannada, Hindi, Marathi, Bengali, Gujarati, Punjabi, Malayalam and English.</a:t>
            </a:r>
            <a:endParaRPr lang="en-US" sz="1080" dirty="0"/>
          </a:p>
        </p:txBody>
      </p:sp>
      <p:sp>
        <p:nvSpPr>
          <p:cNvPr id="14" name="Shape 10"/>
          <p:cNvSpPr/>
          <p:nvPr/>
        </p:nvSpPr>
        <p:spPr>
          <a:xfrm>
            <a:off x="548640" y="4206240"/>
            <a:ext cx="5349240" cy="1783080"/>
          </a:xfrm>
          <a:prstGeom prst="roundRect">
            <a:avLst>
              <a:gd name="adj" fmla="val 4615"/>
            </a:avLst>
          </a:prstGeom>
          <a:solidFill>
            <a:srgbClr val="FFFFFF"/>
          </a:solidFill>
          <a:ln w="12700">
            <a:solidFill>
              <a:srgbClr val="E1DFD3"/>
            </a:solidFill>
            <a:prstDash val="solid"/>
          </a:ln>
        </p:spPr>
      </p:sp>
      <p:sp>
        <p:nvSpPr>
          <p:cNvPr id="15" name="Shape 11"/>
          <p:cNvSpPr/>
          <p:nvPr/>
        </p:nvSpPr>
        <p:spPr>
          <a:xfrm>
            <a:off x="822960" y="4709160"/>
            <a:ext cx="777240" cy="777240"/>
          </a:xfrm>
          <a:prstGeom prst="ellipse">
            <a:avLst/>
          </a:prstGeom>
          <a:solidFill>
            <a:srgbClr val="13322A"/>
          </a:solidFill>
          <a:ln/>
        </p:spPr>
      </p:sp>
      <p:pic>
        <p:nvPicPr>
          <p:cNvPr id="16" name="Image 2" descr="/home/claude/work/icons/brain.png"/>
          <p:cNvPicPr>
            <a:picLocks noChangeAspect="1"/>
          </p:cNvPicPr>
          <p:nvPr/>
        </p:nvPicPr>
        <p:blipFill>
          <a:blip r:embed="rId5"/>
          <a:stretch>
            <a:fillRect/>
          </a:stretch>
        </p:blipFill>
        <p:spPr>
          <a:xfrm>
            <a:off x="931774" y="4817974"/>
            <a:ext cx="559613" cy="559613"/>
          </a:xfrm>
          <a:prstGeom prst="rect">
            <a:avLst/>
          </a:prstGeom>
        </p:spPr>
      </p:pic>
      <p:sp>
        <p:nvSpPr>
          <p:cNvPr id="17" name="Text 12"/>
          <p:cNvSpPr/>
          <p:nvPr/>
        </p:nvSpPr>
        <p:spPr>
          <a:xfrm>
            <a:off x="1783080" y="4407408"/>
            <a:ext cx="3886200" cy="457200"/>
          </a:xfrm>
          <a:prstGeom prst="rect">
            <a:avLst/>
          </a:prstGeom>
          <a:noFill/>
          <a:ln/>
        </p:spPr>
        <p:txBody>
          <a:bodyPr wrap="square" lIns="0" tIns="0" rIns="0" bIns="0" rtlCol="0" anchor="ctr"/>
          <a:lstStyle/>
          <a:p>
            <a:pPr marL="0" indent="0">
              <a:buNone/>
            </a:pPr>
            <a:r>
              <a:rPr lang="en-US" sz="1450" b="1" dirty="0">
                <a:solidFill>
                  <a:srgbClr val="18231F"/>
                </a:solidFill>
                <a:latin typeface="Cambria" pitchFamily="34" charset="0"/>
                <a:ea typeface="Cambria" pitchFamily="34" charset="-122"/>
                <a:cs typeface="Cambria" pitchFamily="34" charset="-120"/>
              </a:rPr>
              <a:t>Comprehensive Agronomy Brain</a:t>
            </a:r>
            <a:endParaRPr lang="en-US" sz="1450" dirty="0"/>
          </a:p>
        </p:txBody>
      </p:sp>
      <p:sp>
        <p:nvSpPr>
          <p:cNvPr id="18" name="Text 13"/>
          <p:cNvSpPr/>
          <p:nvPr/>
        </p:nvSpPr>
        <p:spPr>
          <a:xfrm>
            <a:off x="1783080" y="4864608"/>
            <a:ext cx="3886200" cy="1005840"/>
          </a:xfrm>
          <a:prstGeom prst="rect">
            <a:avLst/>
          </a:prstGeom>
          <a:noFill/>
          <a:ln/>
        </p:spPr>
        <p:txBody>
          <a:bodyPr wrap="square" lIns="0" tIns="0" rIns="0" bIns="0" rtlCol="0" anchor="ctr"/>
          <a:lstStyle/>
          <a:p>
            <a:pPr marL="0" indent="0">
              <a:lnSpc>
                <a:spcPct val="115000"/>
              </a:lnSpc>
              <a:buNone/>
            </a:pPr>
            <a:r>
              <a:rPr lang="en-US" sz="1080" dirty="0">
                <a:solidFill>
                  <a:srgbClr val="55645C"/>
                </a:solidFill>
                <a:latin typeface="Calibri" pitchFamily="34" charset="0"/>
                <a:ea typeface="Calibri" pitchFamily="34" charset="-122"/>
                <a:cs typeface="Calibri" pitchFamily="34" charset="-120"/>
              </a:rPr>
              <a:t>Diagnoses crop diseases, prescribes precise fertilizer schedules (Urea, DAP, MOP), and provides pest remedies.</a:t>
            </a:r>
            <a:endParaRPr lang="en-US" sz="1080" dirty="0"/>
          </a:p>
        </p:txBody>
      </p:sp>
      <p:sp>
        <p:nvSpPr>
          <p:cNvPr id="19" name="Shape 14"/>
          <p:cNvSpPr/>
          <p:nvPr/>
        </p:nvSpPr>
        <p:spPr>
          <a:xfrm>
            <a:off x="6172200" y="4206240"/>
            <a:ext cx="5349240" cy="1783080"/>
          </a:xfrm>
          <a:prstGeom prst="roundRect">
            <a:avLst>
              <a:gd name="adj" fmla="val 4615"/>
            </a:avLst>
          </a:prstGeom>
          <a:solidFill>
            <a:srgbClr val="FFFFFF"/>
          </a:solidFill>
          <a:ln w="12700">
            <a:solidFill>
              <a:srgbClr val="E1DFD3"/>
            </a:solidFill>
            <a:prstDash val="solid"/>
          </a:ln>
        </p:spPr>
      </p:sp>
      <p:sp>
        <p:nvSpPr>
          <p:cNvPr id="20" name="Shape 15"/>
          <p:cNvSpPr/>
          <p:nvPr/>
        </p:nvSpPr>
        <p:spPr>
          <a:xfrm>
            <a:off x="6446520" y="4709160"/>
            <a:ext cx="777240" cy="777240"/>
          </a:xfrm>
          <a:prstGeom prst="ellipse">
            <a:avLst/>
          </a:prstGeom>
          <a:solidFill>
            <a:srgbClr val="13322A"/>
          </a:solidFill>
          <a:ln/>
        </p:spPr>
      </p:sp>
      <p:pic>
        <p:nvPicPr>
          <p:cNvPr id="21" name="Image 3" descr="/home/claude/work/icons/cloud_rain.png"/>
          <p:cNvPicPr>
            <a:picLocks noChangeAspect="1"/>
          </p:cNvPicPr>
          <p:nvPr/>
        </p:nvPicPr>
        <p:blipFill>
          <a:blip r:embed="rId6"/>
          <a:stretch>
            <a:fillRect/>
          </a:stretch>
        </p:blipFill>
        <p:spPr>
          <a:xfrm>
            <a:off x="6555334" y="4817974"/>
            <a:ext cx="559613" cy="559613"/>
          </a:xfrm>
          <a:prstGeom prst="rect">
            <a:avLst/>
          </a:prstGeom>
        </p:spPr>
      </p:pic>
      <p:sp>
        <p:nvSpPr>
          <p:cNvPr id="22" name="Text 16"/>
          <p:cNvSpPr/>
          <p:nvPr/>
        </p:nvSpPr>
        <p:spPr>
          <a:xfrm>
            <a:off x="7406640" y="4407408"/>
            <a:ext cx="3886200" cy="457200"/>
          </a:xfrm>
          <a:prstGeom prst="rect">
            <a:avLst/>
          </a:prstGeom>
          <a:noFill/>
          <a:ln/>
        </p:spPr>
        <p:txBody>
          <a:bodyPr wrap="square" lIns="0" tIns="0" rIns="0" bIns="0" rtlCol="0" anchor="ctr"/>
          <a:lstStyle/>
          <a:p>
            <a:pPr marL="0" indent="0">
              <a:buNone/>
            </a:pPr>
            <a:r>
              <a:rPr lang="en-US" sz="1450" b="1" dirty="0">
                <a:solidFill>
                  <a:srgbClr val="18231F"/>
                </a:solidFill>
                <a:latin typeface="Cambria" pitchFamily="34" charset="0"/>
                <a:ea typeface="Cambria" pitchFamily="34" charset="-122"/>
                <a:cs typeface="Cambria" pitchFamily="34" charset="-120"/>
              </a:rPr>
              <a:t>Live Weather &amp; APMC Mandi Telemetry</a:t>
            </a:r>
            <a:endParaRPr lang="en-US" sz="1450" dirty="0"/>
          </a:p>
        </p:txBody>
      </p:sp>
      <p:sp>
        <p:nvSpPr>
          <p:cNvPr id="23" name="Text 17"/>
          <p:cNvSpPr/>
          <p:nvPr/>
        </p:nvSpPr>
        <p:spPr>
          <a:xfrm>
            <a:off x="7406640" y="4864608"/>
            <a:ext cx="3886200" cy="1005840"/>
          </a:xfrm>
          <a:prstGeom prst="rect">
            <a:avLst/>
          </a:prstGeom>
          <a:noFill/>
          <a:ln/>
        </p:spPr>
        <p:txBody>
          <a:bodyPr wrap="square" lIns="0" tIns="0" rIns="0" bIns="0" rtlCol="0" anchor="ctr"/>
          <a:lstStyle/>
          <a:p>
            <a:pPr marL="0" indent="0">
              <a:lnSpc>
                <a:spcPct val="115000"/>
              </a:lnSpc>
              <a:buNone/>
            </a:pPr>
            <a:r>
              <a:rPr lang="en-US" sz="1080" dirty="0">
                <a:solidFill>
                  <a:srgbClr val="55645C"/>
                </a:solidFill>
                <a:latin typeface="Calibri" pitchFamily="34" charset="0"/>
                <a:ea typeface="Calibri" pitchFamily="34" charset="-122"/>
                <a:cs typeface="Calibri" pitchFamily="34" charset="-120"/>
              </a:rPr>
              <a:t>Injects real-time local temperature, rain probability, fungal risk, and live commodity mandi rates into the call.</a:t>
            </a:r>
            <a:endParaRPr lang="en-US" sz="1080" dirty="0"/>
          </a:p>
        </p:txBody>
      </p:sp>
      <p:sp>
        <p:nvSpPr>
          <p:cNvPr id="24" name="Text 18"/>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25" name="Text 19"/>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322A"/>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48640" y="704088"/>
            <a:ext cx="1106424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End-to-end automated telephony pipeline</a:t>
            </a:r>
            <a:endParaRPr lang="en-US" sz="2800" dirty="0"/>
          </a:p>
        </p:txBody>
      </p:sp>
      <p:sp>
        <p:nvSpPr>
          <p:cNvPr id="4" name="Shape 2"/>
          <p:cNvSpPr/>
          <p:nvPr/>
        </p:nvSpPr>
        <p:spPr>
          <a:xfrm>
            <a:off x="457200" y="1600200"/>
            <a:ext cx="11292840" cy="1417320"/>
          </a:xfrm>
          <a:prstGeom prst="roundRect">
            <a:avLst>
              <a:gd name="adj" fmla="val 5161"/>
            </a:avLst>
          </a:prstGeom>
          <a:solidFill>
            <a:srgbClr val="1E4738"/>
          </a:solidFill>
          <a:ln w="12700">
            <a:solidFill>
              <a:srgbClr val="2F5445"/>
            </a:solidFill>
            <a:prstDash val="solid"/>
          </a:ln>
        </p:spPr>
      </p:sp>
      <p:sp>
        <p:nvSpPr>
          <p:cNvPr id="5" name="Text 3"/>
          <p:cNvSpPr/>
          <p:nvPr/>
        </p:nvSpPr>
        <p:spPr>
          <a:xfrm>
            <a:off x="640080" y="1581912"/>
            <a:ext cx="9144000" cy="256032"/>
          </a:xfrm>
          <a:prstGeom prst="rect">
            <a:avLst/>
          </a:prstGeom>
          <a:noFill/>
          <a:ln/>
        </p:spPr>
        <p:txBody>
          <a:bodyPr wrap="square" rtlCol="0" anchor="ctr"/>
          <a:lstStyle/>
          <a:p>
            <a:pPr marL="0" indent="0">
              <a:buNone/>
            </a:pPr>
            <a:r>
              <a:rPr lang="en-US" sz="1050" b="1" kern="0" spc="150" dirty="0">
                <a:solidFill>
                  <a:srgbClr val="D9A441"/>
                </a:solidFill>
                <a:latin typeface="Calibri" pitchFamily="34" charset="0"/>
                <a:ea typeface="Calibri" pitchFamily="34" charset="-122"/>
                <a:cs typeface="Calibri" pitchFamily="34" charset="-120"/>
              </a:rPr>
              <a:t>ENQUIRY</a:t>
            </a:r>
            <a:endParaRPr lang="en-US" sz="1050" dirty="0"/>
          </a:p>
        </p:txBody>
      </p:sp>
      <p:sp>
        <p:nvSpPr>
          <p:cNvPr id="6" name="Shape 4"/>
          <p:cNvSpPr/>
          <p:nvPr/>
        </p:nvSpPr>
        <p:spPr>
          <a:xfrm>
            <a:off x="457200" y="3246120"/>
            <a:ext cx="11292840" cy="1417320"/>
          </a:xfrm>
          <a:prstGeom prst="roundRect">
            <a:avLst>
              <a:gd name="adj" fmla="val 5161"/>
            </a:avLst>
          </a:prstGeom>
          <a:solidFill>
            <a:srgbClr val="234C3D"/>
          </a:solidFill>
          <a:ln w="12700">
            <a:solidFill>
              <a:srgbClr val="2F5445"/>
            </a:solidFill>
            <a:prstDash val="solid"/>
          </a:ln>
        </p:spPr>
      </p:sp>
      <p:sp>
        <p:nvSpPr>
          <p:cNvPr id="7" name="Text 5"/>
          <p:cNvSpPr/>
          <p:nvPr/>
        </p:nvSpPr>
        <p:spPr>
          <a:xfrm>
            <a:off x="640080" y="3227832"/>
            <a:ext cx="9144000" cy="256032"/>
          </a:xfrm>
          <a:prstGeom prst="rect">
            <a:avLst/>
          </a:prstGeom>
          <a:noFill/>
          <a:ln/>
        </p:spPr>
        <p:txBody>
          <a:bodyPr wrap="square" rtlCol="0" anchor="ctr"/>
          <a:lstStyle/>
          <a:p>
            <a:pPr marL="0" indent="0">
              <a:buNone/>
            </a:pPr>
            <a:r>
              <a:rPr lang="en-US" sz="1050" b="1" kern="0" spc="150" dirty="0">
                <a:solidFill>
                  <a:srgbClr val="D9A441"/>
                </a:solidFill>
                <a:latin typeface="Calibri" pitchFamily="34" charset="0"/>
                <a:ea typeface="Calibri" pitchFamily="34" charset="-122"/>
                <a:cs typeface="Calibri" pitchFamily="34" charset="-120"/>
              </a:rPr>
              <a:t>STELLAR AGRI BACKEND (FASTAPI)</a:t>
            </a:r>
            <a:endParaRPr lang="en-US" sz="1050" dirty="0"/>
          </a:p>
        </p:txBody>
      </p:sp>
      <p:sp>
        <p:nvSpPr>
          <p:cNvPr id="8" name="Shape 6"/>
          <p:cNvSpPr/>
          <p:nvPr/>
        </p:nvSpPr>
        <p:spPr>
          <a:xfrm>
            <a:off x="457200" y="4892040"/>
            <a:ext cx="11292840" cy="1417320"/>
          </a:xfrm>
          <a:prstGeom prst="roundRect">
            <a:avLst>
              <a:gd name="adj" fmla="val 5161"/>
            </a:avLst>
          </a:prstGeom>
          <a:solidFill>
            <a:srgbClr val="1A4235"/>
          </a:solidFill>
          <a:ln w="12700">
            <a:solidFill>
              <a:srgbClr val="2F5445"/>
            </a:solidFill>
            <a:prstDash val="solid"/>
          </a:ln>
        </p:spPr>
      </p:sp>
      <p:sp>
        <p:nvSpPr>
          <p:cNvPr id="9" name="Text 7"/>
          <p:cNvSpPr/>
          <p:nvPr/>
        </p:nvSpPr>
        <p:spPr>
          <a:xfrm>
            <a:off x="640080" y="4873752"/>
            <a:ext cx="9144000" cy="256032"/>
          </a:xfrm>
          <a:prstGeom prst="rect">
            <a:avLst/>
          </a:prstGeom>
          <a:noFill/>
          <a:ln/>
        </p:spPr>
        <p:txBody>
          <a:bodyPr wrap="square" rtlCol="0" anchor="ctr"/>
          <a:lstStyle/>
          <a:p>
            <a:pPr marL="0" indent="0">
              <a:buNone/>
            </a:pPr>
            <a:r>
              <a:rPr lang="en-US" sz="1050" b="1" kern="0" spc="150" dirty="0">
                <a:solidFill>
                  <a:srgbClr val="D9A441"/>
                </a:solidFill>
                <a:latin typeface="Calibri" pitchFamily="34" charset="0"/>
                <a:ea typeface="Calibri" pitchFamily="34" charset="-122"/>
                <a:cs typeface="Calibri" pitchFamily="34" charset="-120"/>
              </a:rPr>
              <a:t>VOICE DELIVERY — SNAPSERVE.AI → VOBIZ.AI PSTN</a:t>
            </a:r>
            <a:endParaRPr lang="en-US" sz="1050" dirty="0"/>
          </a:p>
        </p:txBody>
      </p:sp>
      <p:sp>
        <p:nvSpPr>
          <p:cNvPr id="10" name="Shape 8"/>
          <p:cNvSpPr/>
          <p:nvPr/>
        </p:nvSpPr>
        <p:spPr>
          <a:xfrm>
            <a:off x="685800" y="1892808"/>
            <a:ext cx="5212080" cy="868680"/>
          </a:xfrm>
          <a:prstGeom prst="roundRect">
            <a:avLst>
              <a:gd name="adj" fmla="val 8421"/>
            </a:avLst>
          </a:prstGeom>
          <a:solidFill>
            <a:srgbClr val="13322A"/>
          </a:solidFill>
          <a:ln w="12700">
            <a:solidFill>
              <a:srgbClr val="D9A441"/>
            </a:solidFill>
            <a:prstDash val="solid"/>
          </a:ln>
        </p:spPr>
      </p:sp>
      <p:sp>
        <p:nvSpPr>
          <p:cNvPr id="11" name="Shape 9"/>
          <p:cNvSpPr/>
          <p:nvPr/>
        </p:nvSpPr>
        <p:spPr>
          <a:xfrm>
            <a:off x="822960" y="2071116"/>
            <a:ext cx="512064" cy="512064"/>
          </a:xfrm>
          <a:prstGeom prst="ellipse">
            <a:avLst/>
          </a:prstGeom>
          <a:solidFill>
            <a:srgbClr val="4C7A5E"/>
          </a:solidFill>
          <a:ln/>
        </p:spPr>
      </p:sp>
      <p:pic>
        <p:nvPicPr>
          <p:cNvPr id="12" name="Image 0" descr="/home/claude/work/icons/globe.png"/>
          <p:cNvPicPr>
            <a:picLocks noChangeAspect="1"/>
          </p:cNvPicPr>
          <p:nvPr/>
        </p:nvPicPr>
        <p:blipFill>
          <a:blip r:embed="rId3"/>
          <a:stretch>
            <a:fillRect/>
          </a:stretch>
        </p:blipFill>
        <p:spPr>
          <a:xfrm>
            <a:off x="894649" y="2142805"/>
            <a:ext cx="368686" cy="368686"/>
          </a:xfrm>
          <a:prstGeom prst="rect">
            <a:avLst/>
          </a:prstGeom>
        </p:spPr>
      </p:pic>
      <p:sp>
        <p:nvSpPr>
          <p:cNvPr id="13" name="Text 10"/>
          <p:cNvSpPr/>
          <p:nvPr/>
        </p:nvSpPr>
        <p:spPr>
          <a:xfrm>
            <a:off x="1417320" y="1984248"/>
            <a:ext cx="4343400" cy="3657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Farmer / Web Enquiry Form</a:t>
            </a:r>
            <a:endParaRPr lang="en-US" sz="1150" dirty="0"/>
          </a:p>
        </p:txBody>
      </p:sp>
      <p:sp>
        <p:nvSpPr>
          <p:cNvPr id="14" name="Text 11"/>
          <p:cNvSpPr/>
          <p:nvPr/>
        </p:nvSpPr>
        <p:spPr>
          <a:xfrm>
            <a:off x="1417320" y="2350008"/>
            <a:ext cx="4343400" cy="502920"/>
          </a:xfrm>
          <a:prstGeom prst="rect">
            <a:avLst/>
          </a:prstGeom>
          <a:noFill/>
          <a:ln/>
        </p:spPr>
        <p:txBody>
          <a:bodyPr wrap="square" lIns="0" tIns="0" rIns="0" bIns="0" rtlCol="0" anchor="ctr"/>
          <a:lstStyle/>
          <a:p>
            <a:pPr marL="0" indent="0">
              <a:lnSpc>
                <a:spcPct val="105000"/>
              </a:lnSpc>
              <a:buNone/>
            </a:pPr>
            <a:r>
              <a:rPr lang="en-US" sz="900" dirty="0">
                <a:solidFill>
                  <a:srgbClr val="B9C9BF"/>
                </a:solidFill>
                <a:latin typeface="Calibri" pitchFamily="34" charset="0"/>
                <a:ea typeface="Calibri" pitchFamily="34" charset="-122"/>
                <a:cs typeface="Calibri" pitchFamily="34" charset="-120"/>
              </a:rPr>
              <a:t>Farmer submits their phone number on the web</a:t>
            </a:r>
            <a:endParaRPr lang="en-US" sz="900" dirty="0"/>
          </a:p>
        </p:txBody>
      </p:sp>
      <p:sp>
        <p:nvSpPr>
          <p:cNvPr id="15" name="Shape 12"/>
          <p:cNvSpPr/>
          <p:nvPr/>
        </p:nvSpPr>
        <p:spPr>
          <a:xfrm>
            <a:off x="6080760" y="1892808"/>
            <a:ext cx="4983480" cy="868680"/>
          </a:xfrm>
          <a:prstGeom prst="roundRect">
            <a:avLst>
              <a:gd name="adj" fmla="val 8421"/>
            </a:avLst>
          </a:prstGeom>
          <a:solidFill>
            <a:srgbClr val="13322A"/>
          </a:solidFill>
          <a:ln w="12700">
            <a:solidFill>
              <a:srgbClr val="D9A441"/>
            </a:solidFill>
            <a:prstDash val="solid"/>
          </a:ln>
        </p:spPr>
      </p:sp>
      <p:sp>
        <p:nvSpPr>
          <p:cNvPr id="16" name="Shape 13"/>
          <p:cNvSpPr/>
          <p:nvPr/>
        </p:nvSpPr>
        <p:spPr>
          <a:xfrm>
            <a:off x="6217920" y="2071116"/>
            <a:ext cx="512064" cy="512064"/>
          </a:xfrm>
          <a:prstGeom prst="ellipse">
            <a:avLst/>
          </a:prstGeom>
          <a:solidFill>
            <a:srgbClr val="4C7A5E"/>
          </a:solidFill>
          <a:ln/>
        </p:spPr>
      </p:sp>
      <p:pic>
        <p:nvPicPr>
          <p:cNvPr id="17" name="Image 1" descr="/home/claude/work/icons/bolt.png"/>
          <p:cNvPicPr>
            <a:picLocks noChangeAspect="1"/>
          </p:cNvPicPr>
          <p:nvPr/>
        </p:nvPicPr>
        <p:blipFill>
          <a:blip r:embed="rId4"/>
          <a:stretch>
            <a:fillRect/>
          </a:stretch>
        </p:blipFill>
        <p:spPr>
          <a:xfrm>
            <a:off x="6289609" y="2142805"/>
            <a:ext cx="368686" cy="368686"/>
          </a:xfrm>
          <a:prstGeom prst="rect">
            <a:avLst/>
          </a:prstGeom>
        </p:spPr>
      </p:pic>
      <p:sp>
        <p:nvSpPr>
          <p:cNvPr id="18" name="Text 14"/>
          <p:cNvSpPr/>
          <p:nvPr/>
        </p:nvSpPr>
        <p:spPr>
          <a:xfrm>
            <a:off x="6812280" y="1984248"/>
            <a:ext cx="4114800" cy="3657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Instant Webhook Trigger</a:t>
            </a:r>
            <a:endParaRPr lang="en-US" sz="1150" dirty="0"/>
          </a:p>
        </p:txBody>
      </p:sp>
      <p:sp>
        <p:nvSpPr>
          <p:cNvPr id="19" name="Text 15"/>
          <p:cNvSpPr/>
          <p:nvPr/>
        </p:nvSpPr>
        <p:spPr>
          <a:xfrm>
            <a:off x="6812280" y="2350008"/>
            <a:ext cx="4114800" cy="502920"/>
          </a:xfrm>
          <a:prstGeom prst="rect">
            <a:avLst/>
          </a:prstGeom>
          <a:noFill/>
          <a:ln/>
        </p:spPr>
        <p:txBody>
          <a:bodyPr wrap="square" lIns="0" tIns="0" rIns="0" bIns="0" rtlCol="0" anchor="ctr"/>
          <a:lstStyle/>
          <a:p>
            <a:pPr marL="0" indent="0">
              <a:lnSpc>
                <a:spcPct val="105000"/>
              </a:lnSpc>
              <a:buNone/>
            </a:pPr>
            <a:r>
              <a:rPr lang="en-US" sz="900" dirty="0">
                <a:solidFill>
                  <a:srgbClr val="B9C9BF"/>
                </a:solidFill>
                <a:latin typeface="Calibri" pitchFamily="34" charset="0"/>
                <a:ea typeface="Calibri" pitchFamily="34" charset="-122"/>
                <a:cs typeface="Calibri" pitchFamily="34" charset="-120"/>
              </a:rPr>
              <a:t>POST /api/request-call — fires within milliseconds</a:t>
            </a:r>
            <a:endParaRPr lang="en-US" sz="900" dirty="0"/>
          </a:p>
        </p:txBody>
      </p:sp>
      <p:sp>
        <p:nvSpPr>
          <p:cNvPr id="20" name="Shape 16"/>
          <p:cNvSpPr/>
          <p:nvPr/>
        </p:nvSpPr>
        <p:spPr>
          <a:xfrm>
            <a:off x="685800" y="3538728"/>
            <a:ext cx="2606040" cy="868680"/>
          </a:xfrm>
          <a:prstGeom prst="roundRect">
            <a:avLst>
              <a:gd name="adj" fmla="val 8421"/>
            </a:avLst>
          </a:prstGeom>
          <a:solidFill>
            <a:srgbClr val="13322A"/>
          </a:solidFill>
          <a:ln w="12700">
            <a:solidFill>
              <a:srgbClr val="D9A441"/>
            </a:solidFill>
            <a:prstDash val="solid"/>
          </a:ln>
        </p:spPr>
      </p:sp>
      <p:sp>
        <p:nvSpPr>
          <p:cNvPr id="21" name="Shape 17"/>
          <p:cNvSpPr/>
          <p:nvPr/>
        </p:nvSpPr>
        <p:spPr>
          <a:xfrm>
            <a:off x="822960" y="3717036"/>
            <a:ext cx="512064" cy="512064"/>
          </a:xfrm>
          <a:prstGeom prst="ellipse">
            <a:avLst/>
          </a:prstGeom>
          <a:solidFill>
            <a:srgbClr val="4C7A5E"/>
          </a:solidFill>
          <a:ln/>
        </p:spPr>
      </p:sp>
      <p:pic>
        <p:nvPicPr>
          <p:cNvPr id="22" name="Image 2" descr="/home/claude/work/icons/server.png"/>
          <p:cNvPicPr>
            <a:picLocks noChangeAspect="1"/>
          </p:cNvPicPr>
          <p:nvPr/>
        </p:nvPicPr>
        <p:blipFill>
          <a:blip r:embed="rId5"/>
          <a:stretch>
            <a:fillRect/>
          </a:stretch>
        </p:blipFill>
        <p:spPr>
          <a:xfrm>
            <a:off x="894649" y="3788725"/>
            <a:ext cx="368686" cy="368686"/>
          </a:xfrm>
          <a:prstGeom prst="rect">
            <a:avLst/>
          </a:prstGeom>
        </p:spPr>
      </p:pic>
      <p:sp>
        <p:nvSpPr>
          <p:cNvPr id="23" name="Text 18"/>
          <p:cNvSpPr/>
          <p:nvPr/>
        </p:nvSpPr>
        <p:spPr>
          <a:xfrm>
            <a:off x="1417320" y="3630168"/>
            <a:ext cx="1737360" cy="3657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Stellar Agri Backend</a:t>
            </a:r>
            <a:endParaRPr lang="en-US" sz="1150" dirty="0"/>
          </a:p>
        </p:txBody>
      </p:sp>
      <p:sp>
        <p:nvSpPr>
          <p:cNvPr id="24" name="Text 19"/>
          <p:cNvSpPr/>
          <p:nvPr/>
        </p:nvSpPr>
        <p:spPr>
          <a:xfrm>
            <a:off x="1417320" y="3995928"/>
            <a:ext cx="1737360" cy="502920"/>
          </a:xfrm>
          <a:prstGeom prst="rect">
            <a:avLst/>
          </a:prstGeom>
          <a:noFill/>
          <a:ln/>
        </p:spPr>
        <p:txBody>
          <a:bodyPr wrap="square" lIns="0" tIns="0" rIns="0" bIns="0" rtlCol="0" anchor="ctr"/>
          <a:lstStyle/>
          <a:p>
            <a:pPr marL="0" indent="0">
              <a:lnSpc>
                <a:spcPct val="105000"/>
              </a:lnSpc>
              <a:buNone/>
            </a:pPr>
            <a:r>
              <a:rPr lang="en-US" sz="900" dirty="0">
                <a:solidFill>
                  <a:srgbClr val="B9C9BF"/>
                </a:solidFill>
                <a:latin typeface="Calibri" pitchFamily="34" charset="0"/>
                <a:ea typeface="Calibri" pitchFamily="34" charset="-122"/>
                <a:cs typeface="Calibri" pitchFamily="34" charset="-120"/>
              </a:rPr>
              <a:t>FastAPI orchestration core</a:t>
            </a:r>
            <a:endParaRPr lang="en-US" sz="900" dirty="0"/>
          </a:p>
        </p:txBody>
      </p:sp>
      <p:sp>
        <p:nvSpPr>
          <p:cNvPr id="25" name="Shape 20"/>
          <p:cNvSpPr/>
          <p:nvPr/>
        </p:nvSpPr>
        <p:spPr>
          <a:xfrm>
            <a:off x="3566160" y="3538728"/>
            <a:ext cx="2468880" cy="868680"/>
          </a:xfrm>
          <a:prstGeom prst="roundRect">
            <a:avLst>
              <a:gd name="adj" fmla="val 8421"/>
            </a:avLst>
          </a:prstGeom>
          <a:solidFill>
            <a:srgbClr val="13322A"/>
          </a:solidFill>
          <a:ln w="12700">
            <a:solidFill>
              <a:srgbClr val="D9A441"/>
            </a:solidFill>
            <a:prstDash val="solid"/>
          </a:ln>
        </p:spPr>
      </p:sp>
      <p:sp>
        <p:nvSpPr>
          <p:cNvPr id="26" name="Shape 21"/>
          <p:cNvSpPr/>
          <p:nvPr/>
        </p:nvSpPr>
        <p:spPr>
          <a:xfrm>
            <a:off x="3703320" y="3717036"/>
            <a:ext cx="512064" cy="512064"/>
          </a:xfrm>
          <a:prstGeom prst="ellipse">
            <a:avLst/>
          </a:prstGeom>
          <a:solidFill>
            <a:srgbClr val="4C7A5E"/>
          </a:solidFill>
          <a:ln/>
        </p:spPr>
      </p:sp>
      <p:pic>
        <p:nvPicPr>
          <p:cNvPr id="27" name="Image 3" descr="/home/claude/work/icons/cloud_rain.png"/>
          <p:cNvPicPr>
            <a:picLocks noChangeAspect="1"/>
          </p:cNvPicPr>
          <p:nvPr/>
        </p:nvPicPr>
        <p:blipFill>
          <a:blip r:embed="rId6"/>
          <a:stretch>
            <a:fillRect/>
          </a:stretch>
        </p:blipFill>
        <p:spPr>
          <a:xfrm>
            <a:off x="3775009" y="3788725"/>
            <a:ext cx="368686" cy="368686"/>
          </a:xfrm>
          <a:prstGeom prst="rect">
            <a:avLst/>
          </a:prstGeom>
        </p:spPr>
      </p:pic>
      <p:sp>
        <p:nvSpPr>
          <p:cNvPr id="28" name="Text 22"/>
          <p:cNvSpPr/>
          <p:nvPr/>
        </p:nvSpPr>
        <p:spPr>
          <a:xfrm>
            <a:off x="4297680" y="3630168"/>
            <a:ext cx="1600200" cy="3657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Live Weather API</a:t>
            </a:r>
            <a:endParaRPr lang="en-US" sz="1150" dirty="0"/>
          </a:p>
        </p:txBody>
      </p:sp>
      <p:sp>
        <p:nvSpPr>
          <p:cNvPr id="29" name="Text 23"/>
          <p:cNvSpPr/>
          <p:nvPr/>
        </p:nvSpPr>
        <p:spPr>
          <a:xfrm>
            <a:off x="4297680" y="3995928"/>
            <a:ext cx="1600200" cy="502920"/>
          </a:xfrm>
          <a:prstGeom prst="rect">
            <a:avLst/>
          </a:prstGeom>
          <a:noFill/>
          <a:ln/>
        </p:spPr>
        <p:txBody>
          <a:bodyPr wrap="square" lIns="0" tIns="0" rIns="0" bIns="0" rtlCol="0" anchor="ctr"/>
          <a:lstStyle/>
          <a:p>
            <a:pPr marL="0" indent="0">
              <a:lnSpc>
                <a:spcPct val="105000"/>
              </a:lnSpc>
              <a:buNone/>
            </a:pPr>
            <a:r>
              <a:rPr lang="en-US" sz="900" dirty="0">
                <a:solidFill>
                  <a:srgbClr val="B9C9BF"/>
                </a:solidFill>
                <a:latin typeface="Calibri" pitchFamily="34" charset="0"/>
                <a:ea typeface="Calibri" pitchFamily="34" charset="-122"/>
                <a:cs typeface="Calibri" pitchFamily="34" charset="-120"/>
              </a:rPr>
              <a:t>Temp · rain % · fungal risk</a:t>
            </a:r>
            <a:endParaRPr lang="en-US" sz="900" dirty="0"/>
          </a:p>
        </p:txBody>
      </p:sp>
      <p:sp>
        <p:nvSpPr>
          <p:cNvPr id="30" name="Shape 24"/>
          <p:cNvSpPr/>
          <p:nvPr/>
        </p:nvSpPr>
        <p:spPr>
          <a:xfrm>
            <a:off x="6309360" y="3538728"/>
            <a:ext cx="2468880" cy="868680"/>
          </a:xfrm>
          <a:prstGeom prst="roundRect">
            <a:avLst>
              <a:gd name="adj" fmla="val 8421"/>
            </a:avLst>
          </a:prstGeom>
          <a:solidFill>
            <a:srgbClr val="13322A"/>
          </a:solidFill>
          <a:ln w="12700">
            <a:solidFill>
              <a:srgbClr val="D9A441"/>
            </a:solidFill>
            <a:prstDash val="solid"/>
          </a:ln>
        </p:spPr>
      </p:sp>
      <p:sp>
        <p:nvSpPr>
          <p:cNvPr id="31" name="Shape 25"/>
          <p:cNvSpPr/>
          <p:nvPr/>
        </p:nvSpPr>
        <p:spPr>
          <a:xfrm>
            <a:off x="6446520" y="3717036"/>
            <a:ext cx="512064" cy="512064"/>
          </a:xfrm>
          <a:prstGeom prst="ellipse">
            <a:avLst/>
          </a:prstGeom>
          <a:solidFill>
            <a:srgbClr val="4C7A5E"/>
          </a:solidFill>
          <a:ln/>
        </p:spPr>
      </p:sp>
      <p:pic>
        <p:nvPicPr>
          <p:cNvPr id="32" name="Image 4" descr="/home/claude/work/icons/coins.png"/>
          <p:cNvPicPr>
            <a:picLocks noChangeAspect="1"/>
          </p:cNvPicPr>
          <p:nvPr/>
        </p:nvPicPr>
        <p:blipFill>
          <a:blip r:embed="rId7"/>
          <a:stretch>
            <a:fillRect/>
          </a:stretch>
        </p:blipFill>
        <p:spPr>
          <a:xfrm>
            <a:off x="6518209" y="3788725"/>
            <a:ext cx="368686" cy="368686"/>
          </a:xfrm>
          <a:prstGeom prst="rect">
            <a:avLst/>
          </a:prstGeom>
        </p:spPr>
      </p:pic>
      <p:sp>
        <p:nvSpPr>
          <p:cNvPr id="33" name="Text 26"/>
          <p:cNvSpPr/>
          <p:nvPr/>
        </p:nvSpPr>
        <p:spPr>
          <a:xfrm>
            <a:off x="7040880" y="3630168"/>
            <a:ext cx="1600200" cy="3657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APMC Mandi Service</a:t>
            </a:r>
            <a:endParaRPr lang="en-US" sz="1150" dirty="0"/>
          </a:p>
        </p:txBody>
      </p:sp>
      <p:sp>
        <p:nvSpPr>
          <p:cNvPr id="34" name="Text 27"/>
          <p:cNvSpPr/>
          <p:nvPr/>
        </p:nvSpPr>
        <p:spPr>
          <a:xfrm>
            <a:off x="7040880" y="3995928"/>
            <a:ext cx="1600200" cy="502920"/>
          </a:xfrm>
          <a:prstGeom prst="rect">
            <a:avLst/>
          </a:prstGeom>
          <a:noFill/>
          <a:ln/>
        </p:spPr>
        <p:txBody>
          <a:bodyPr wrap="square" lIns="0" tIns="0" rIns="0" bIns="0" rtlCol="0" anchor="ctr"/>
          <a:lstStyle/>
          <a:p>
            <a:pPr marL="0" indent="0">
              <a:lnSpc>
                <a:spcPct val="105000"/>
              </a:lnSpc>
              <a:buNone/>
            </a:pPr>
            <a:r>
              <a:rPr lang="en-US" sz="900" dirty="0">
                <a:solidFill>
                  <a:srgbClr val="B9C9BF"/>
                </a:solidFill>
                <a:latin typeface="Calibri" pitchFamily="34" charset="0"/>
                <a:ea typeface="Calibri" pitchFamily="34" charset="-122"/>
                <a:cs typeface="Calibri" pitchFamily="34" charset="-120"/>
              </a:rPr>
              <a:t>Modal price/quintal · sell advice</a:t>
            </a:r>
            <a:endParaRPr lang="en-US" sz="900" dirty="0"/>
          </a:p>
        </p:txBody>
      </p:sp>
      <p:sp>
        <p:nvSpPr>
          <p:cNvPr id="35" name="Shape 28"/>
          <p:cNvSpPr/>
          <p:nvPr/>
        </p:nvSpPr>
        <p:spPr>
          <a:xfrm>
            <a:off x="9052560" y="3538728"/>
            <a:ext cx="1737360" cy="868680"/>
          </a:xfrm>
          <a:prstGeom prst="roundRect">
            <a:avLst>
              <a:gd name="adj" fmla="val 8421"/>
            </a:avLst>
          </a:prstGeom>
          <a:solidFill>
            <a:srgbClr val="13322A"/>
          </a:solidFill>
          <a:ln w="12700">
            <a:solidFill>
              <a:srgbClr val="D9A441"/>
            </a:solidFill>
            <a:prstDash val="solid"/>
          </a:ln>
        </p:spPr>
      </p:sp>
      <p:sp>
        <p:nvSpPr>
          <p:cNvPr id="36" name="Shape 29"/>
          <p:cNvSpPr/>
          <p:nvPr/>
        </p:nvSpPr>
        <p:spPr>
          <a:xfrm>
            <a:off x="9189720" y="3717036"/>
            <a:ext cx="512064" cy="512064"/>
          </a:xfrm>
          <a:prstGeom prst="ellipse">
            <a:avLst/>
          </a:prstGeom>
          <a:solidFill>
            <a:srgbClr val="4C7A5E"/>
          </a:solidFill>
          <a:ln/>
        </p:spPr>
      </p:sp>
      <p:pic>
        <p:nvPicPr>
          <p:cNvPr id="37" name="Image 5" descr="/home/claude/work/icons/rag.png"/>
          <p:cNvPicPr>
            <a:picLocks noChangeAspect="1"/>
          </p:cNvPicPr>
          <p:nvPr/>
        </p:nvPicPr>
        <p:blipFill>
          <a:blip r:embed="rId8"/>
          <a:stretch>
            <a:fillRect/>
          </a:stretch>
        </p:blipFill>
        <p:spPr>
          <a:xfrm>
            <a:off x="9261409" y="3788725"/>
            <a:ext cx="368686" cy="368686"/>
          </a:xfrm>
          <a:prstGeom prst="rect">
            <a:avLst/>
          </a:prstGeom>
        </p:spPr>
      </p:pic>
      <p:sp>
        <p:nvSpPr>
          <p:cNvPr id="38" name="Text 30"/>
          <p:cNvSpPr/>
          <p:nvPr/>
        </p:nvSpPr>
        <p:spPr>
          <a:xfrm>
            <a:off x="9784080" y="3630168"/>
            <a:ext cx="868680" cy="3657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RAG Base</a:t>
            </a:r>
            <a:endParaRPr lang="en-US" sz="1150" dirty="0"/>
          </a:p>
        </p:txBody>
      </p:sp>
      <p:sp>
        <p:nvSpPr>
          <p:cNvPr id="39" name="Text 31"/>
          <p:cNvSpPr/>
          <p:nvPr/>
        </p:nvSpPr>
        <p:spPr>
          <a:xfrm>
            <a:off x="9784080" y="3995928"/>
            <a:ext cx="868680" cy="502920"/>
          </a:xfrm>
          <a:prstGeom prst="rect">
            <a:avLst/>
          </a:prstGeom>
          <a:noFill/>
          <a:ln/>
        </p:spPr>
        <p:txBody>
          <a:bodyPr wrap="square" lIns="0" tIns="0" rIns="0" bIns="0" rtlCol="0" anchor="ctr"/>
          <a:lstStyle/>
          <a:p>
            <a:pPr marL="0" indent="0">
              <a:lnSpc>
                <a:spcPct val="105000"/>
              </a:lnSpc>
              <a:buNone/>
            </a:pPr>
            <a:r>
              <a:rPr lang="en-US" sz="900" dirty="0">
                <a:solidFill>
                  <a:srgbClr val="B9C9BF"/>
                </a:solidFill>
                <a:latin typeface="Calibri" pitchFamily="34" charset="0"/>
                <a:ea typeface="Calibri" pitchFamily="34" charset="-122"/>
                <a:cs typeface="Calibri" pitchFamily="34" charset="-120"/>
              </a:rPr>
              <a:t>Crop &amp; fertilizer data</a:t>
            </a:r>
            <a:endParaRPr lang="en-US" sz="900" dirty="0"/>
          </a:p>
        </p:txBody>
      </p:sp>
      <p:sp>
        <p:nvSpPr>
          <p:cNvPr id="40" name="Shape 32"/>
          <p:cNvSpPr/>
          <p:nvPr/>
        </p:nvSpPr>
        <p:spPr>
          <a:xfrm>
            <a:off x="685800" y="5184648"/>
            <a:ext cx="3429000" cy="868680"/>
          </a:xfrm>
          <a:prstGeom prst="roundRect">
            <a:avLst>
              <a:gd name="adj" fmla="val 8421"/>
            </a:avLst>
          </a:prstGeom>
          <a:solidFill>
            <a:srgbClr val="13322A"/>
          </a:solidFill>
          <a:ln w="12700">
            <a:solidFill>
              <a:srgbClr val="D9A441"/>
            </a:solidFill>
            <a:prstDash val="solid"/>
          </a:ln>
        </p:spPr>
      </p:sp>
      <p:sp>
        <p:nvSpPr>
          <p:cNvPr id="41" name="Shape 33"/>
          <p:cNvSpPr/>
          <p:nvPr/>
        </p:nvSpPr>
        <p:spPr>
          <a:xfrm>
            <a:off x="822960" y="5362956"/>
            <a:ext cx="512064" cy="512064"/>
          </a:xfrm>
          <a:prstGeom prst="ellipse">
            <a:avLst/>
          </a:prstGeom>
          <a:solidFill>
            <a:srgbClr val="4C7A5E"/>
          </a:solidFill>
          <a:ln/>
        </p:spPr>
      </p:sp>
      <p:pic>
        <p:nvPicPr>
          <p:cNvPr id="42" name="Image 6" descr="/home/claude/work/icons/mic.png"/>
          <p:cNvPicPr>
            <a:picLocks noChangeAspect="1"/>
          </p:cNvPicPr>
          <p:nvPr/>
        </p:nvPicPr>
        <p:blipFill>
          <a:blip r:embed="rId9"/>
          <a:stretch>
            <a:fillRect/>
          </a:stretch>
        </p:blipFill>
        <p:spPr>
          <a:xfrm>
            <a:off x="894649" y="5434645"/>
            <a:ext cx="368686" cy="368686"/>
          </a:xfrm>
          <a:prstGeom prst="rect">
            <a:avLst/>
          </a:prstGeom>
        </p:spPr>
      </p:pic>
      <p:sp>
        <p:nvSpPr>
          <p:cNvPr id="43" name="Text 34"/>
          <p:cNvSpPr/>
          <p:nvPr/>
        </p:nvSpPr>
        <p:spPr>
          <a:xfrm>
            <a:off x="1417320" y="5276088"/>
            <a:ext cx="2560320" cy="3657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SnapServe.ai Platform</a:t>
            </a:r>
            <a:endParaRPr lang="en-US" sz="1150" dirty="0"/>
          </a:p>
        </p:txBody>
      </p:sp>
      <p:sp>
        <p:nvSpPr>
          <p:cNvPr id="44" name="Text 35"/>
          <p:cNvSpPr/>
          <p:nvPr/>
        </p:nvSpPr>
        <p:spPr>
          <a:xfrm>
            <a:off x="1417320" y="5641848"/>
            <a:ext cx="2560320" cy="502920"/>
          </a:xfrm>
          <a:prstGeom prst="rect">
            <a:avLst/>
          </a:prstGeom>
          <a:noFill/>
          <a:ln/>
        </p:spPr>
        <p:txBody>
          <a:bodyPr wrap="square" lIns="0" tIns="0" rIns="0" bIns="0" rtlCol="0" anchor="ctr"/>
          <a:lstStyle/>
          <a:p>
            <a:pPr marL="0" indent="0">
              <a:lnSpc>
                <a:spcPct val="105000"/>
              </a:lnSpc>
              <a:buNone/>
            </a:pPr>
            <a:r>
              <a:rPr lang="en-US" sz="900" dirty="0">
                <a:solidFill>
                  <a:srgbClr val="B9C9BF"/>
                </a:solidFill>
                <a:latin typeface="Calibri" pitchFamily="34" charset="0"/>
                <a:ea typeface="Calibri" pitchFamily="34" charset="-122"/>
                <a:cs typeface="Calibri" pitchFamily="34" charset="-120"/>
              </a:rPr>
              <a:t>Sets Tamil ASR (ta-IN), voice &amp; system prompt</a:t>
            </a:r>
            <a:endParaRPr lang="en-US" sz="900" dirty="0"/>
          </a:p>
        </p:txBody>
      </p:sp>
      <p:sp>
        <p:nvSpPr>
          <p:cNvPr id="45" name="Shape 36"/>
          <p:cNvSpPr/>
          <p:nvPr/>
        </p:nvSpPr>
        <p:spPr>
          <a:xfrm>
            <a:off x="4389120" y="5184648"/>
            <a:ext cx="3291840" cy="868680"/>
          </a:xfrm>
          <a:prstGeom prst="roundRect">
            <a:avLst>
              <a:gd name="adj" fmla="val 8421"/>
            </a:avLst>
          </a:prstGeom>
          <a:solidFill>
            <a:srgbClr val="13322A"/>
          </a:solidFill>
          <a:ln w="12700">
            <a:solidFill>
              <a:srgbClr val="D9A441"/>
            </a:solidFill>
            <a:prstDash val="solid"/>
          </a:ln>
        </p:spPr>
      </p:sp>
      <p:sp>
        <p:nvSpPr>
          <p:cNvPr id="46" name="Shape 37"/>
          <p:cNvSpPr/>
          <p:nvPr/>
        </p:nvSpPr>
        <p:spPr>
          <a:xfrm>
            <a:off x="4526280" y="5362956"/>
            <a:ext cx="512064" cy="512064"/>
          </a:xfrm>
          <a:prstGeom prst="ellipse">
            <a:avLst/>
          </a:prstGeom>
          <a:solidFill>
            <a:srgbClr val="4C7A5E"/>
          </a:solidFill>
          <a:ln/>
        </p:spPr>
      </p:sp>
      <p:pic>
        <p:nvPicPr>
          <p:cNvPr id="47" name="Image 7" descr="/home/claude/work/icons/network.png"/>
          <p:cNvPicPr>
            <a:picLocks noChangeAspect="1"/>
          </p:cNvPicPr>
          <p:nvPr/>
        </p:nvPicPr>
        <p:blipFill>
          <a:blip r:embed="rId10"/>
          <a:stretch>
            <a:fillRect/>
          </a:stretch>
        </p:blipFill>
        <p:spPr>
          <a:xfrm>
            <a:off x="4597969" y="5434645"/>
            <a:ext cx="368686" cy="368686"/>
          </a:xfrm>
          <a:prstGeom prst="rect">
            <a:avLst/>
          </a:prstGeom>
        </p:spPr>
      </p:pic>
      <p:sp>
        <p:nvSpPr>
          <p:cNvPr id="48" name="Text 38"/>
          <p:cNvSpPr/>
          <p:nvPr/>
        </p:nvSpPr>
        <p:spPr>
          <a:xfrm>
            <a:off x="5120640" y="5276088"/>
            <a:ext cx="2423160" cy="3657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Vobiz.ai PSTN</a:t>
            </a:r>
            <a:endParaRPr lang="en-US" sz="1150" dirty="0"/>
          </a:p>
        </p:txBody>
      </p:sp>
      <p:sp>
        <p:nvSpPr>
          <p:cNvPr id="49" name="Text 39"/>
          <p:cNvSpPr/>
          <p:nvPr/>
        </p:nvSpPr>
        <p:spPr>
          <a:xfrm>
            <a:off x="5120640" y="5641848"/>
            <a:ext cx="2423160" cy="502920"/>
          </a:xfrm>
          <a:prstGeom prst="rect">
            <a:avLst/>
          </a:prstGeom>
          <a:noFill/>
          <a:ln/>
        </p:spPr>
        <p:txBody>
          <a:bodyPr wrap="square" lIns="0" tIns="0" rIns="0" bIns="0" rtlCol="0" anchor="ctr"/>
          <a:lstStyle/>
          <a:p>
            <a:pPr marL="0" indent="0">
              <a:lnSpc>
                <a:spcPct val="105000"/>
              </a:lnSpc>
              <a:buNone/>
            </a:pPr>
            <a:r>
              <a:rPr lang="en-US" sz="900" dirty="0">
                <a:solidFill>
                  <a:srgbClr val="B9C9BF"/>
                </a:solidFill>
                <a:latin typeface="Calibri" pitchFamily="34" charset="0"/>
                <a:ea typeface="Calibri" pitchFamily="34" charset="-122"/>
                <a:cs typeface="Calibri" pitchFamily="34" charset="-120"/>
              </a:rPr>
              <a:t>POST /calls/outbound — dials the farmer</a:t>
            </a:r>
            <a:endParaRPr lang="en-US" sz="900" dirty="0"/>
          </a:p>
        </p:txBody>
      </p:sp>
      <p:sp>
        <p:nvSpPr>
          <p:cNvPr id="50" name="Shape 40"/>
          <p:cNvSpPr/>
          <p:nvPr/>
        </p:nvSpPr>
        <p:spPr>
          <a:xfrm>
            <a:off x="7955280" y="5184648"/>
            <a:ext cx="2880360" cy="868680"/>
          </a:xfrm>
          <a:prstGeom prst="roundRect">
            <a:avLst>
              <a:gd name="adj" fmla="val 8421"/>
            </a:avLst>
          </a:prstGeom>
          <a:solidFill>
            <a:srgbClr val="13322A"/>
          </a:solidFill>
          <a:ln w="12700">
            <a:solidFill>
              <a:srgbClr val="D9A441"/>
            </a:solidFill>
            <a:prstDash val="solid"/>
          </a:ln>
        </p:spPr>
      </p:sp>
      <p:sp>
        <p:nvSpPr>
          <p:cNvPr id="51" name="Shape 41"/>
          <p:cNvSpPr/>
          <p:nvPr/>
        </p:nvSpPr>
        <p:spPr>
          <a:xfrm>
            <a:off x="8092440" y="5362956"/>
            <a:ext cx="512064" cy="512064"/>
          </a:xfrm>
          <a:prstGeom prst="ellipse">
            <a:avLst/>
          </a:prstGeom>
          <a:solidFill>
            <a:srgbClr val="4C7A5E"/>
          </a:solidFill>
          <a:ln/>
        </p:spPr>
      </p:sp>
      <p:pic>
        <p:nvPicPr>
          <p:cNvPr id="52" name="Image 8" descr="/home/claude/work/icons/phone.png"/>
          <p:cNvPicPr>
            <a:picLocks noChangeAspect="1"/>
          </p:cNvPicPr>
          <p:nvPr/>
        </p:nvPicPr>
        <p:blipFill>
          <a:blip r:embed="rId11"/>
          <a:stretch>
            <a:fillRect/>
          </a:stretch>
        </p:blipFill>
        <p:spPr>
          <a:xfrm>
            <a:off x="8164129" y="5434645"/>
            <a:ext cx="368686" cy="368686"/>
          </a:xfrm>
          <a:prstGeom prst="rect">
            <a:avLst/>
          </a:prstGeom>
        </p:spPr>
      </p:pic>
      <p:sp>
        <p:nvSpPr>
          <p:cNvPr id="53" name="Text 42"/>
          <p:cNvSpPr/>
          <p:nvPr/>
        </p:nvSpPr>
        <p:spPr>
          <a:xfrm>
            <a:off x="8686800" y="5276088"/>
            <a:ext cx="2011680" cy="3657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Farmer’s Mobile Phone</a:t>
            </a:r>
            <a:endParaRPr lang="en-US" sz="1150" dirty="0"/>
          </a:p>
        </p:txBody>
      </p:sp>
      <p:sp>
        <p:nvSpPr>
          <p:cNvPr id="54" name="Text 43"/>
          <p:cNvSpPr/>
          <p:nvPr/>
        </p:nvSpPr>
        <p:spPr>
          <a:xfrm>
            <a:off x="8686800" y="5641848"/>
            <a:ext cx="2011680" cy="502920"/>
          </a:xfrm>
          <a:prstGeom prst="rect">
            <a:avLst/>
          </a:prstGeom>
          <a:noFill/>
          <a:ln/>
        </p:spPr>
        <p:txBody>
          <a:bodyPr wrap="square" lIns="0" tIns="0" rIns="0" bIns="0" rtlCol="0" anchor="ctr"/>
          <a:lstStyle/>
          <a:p>
            <a:pPr marL="0" indent="0">
              <a:lnSpc>
                <a:spcPct val="105000"/>
              </a:lnSpc>
              <a:buNone/>
            </a:pPr>
            <a:r>
              <a:rPr lang="en-US" sz="900" dirty="0">
                <a:solidFill>
                  <a:srgbClr val="B9C9BF"/>
                </a:solidFill>
                <a:latin typeface="Calibri" pitchFamily="34" charset="0"/>
                <a:ea typeface="Calibri" pitchFamily="34" charset="-122"/>
                <a:cs typeface="Calibri" pitchFamily="34" charset="-120"/>
              </a:rPr>
              <a:t>Rings in 3s with a localized greeting</a:t>
            </a:r>
            <a:endParaRPr lang="en-US" sz="900" dirty="0"/>
          </a:p>
        </p:txBody>
      </p:sp>
      <p:pic>
        <p:nvPicPr>
          <p:cNvPr id="55" name="Image 9" descr="/home/claude/work/icons/arrow_down.png"/>
          <p:cNvPicPr>
            <a:picLocks noChangeAspect="1"/>
          </p:cNvPicPr>
          <p:nvPr/>
        </p:nvPicPr>
        <p:blipFill>
          <a:blip r:embed="rId12"/>
          <a:stretch>
            <a:fillRect/>
          </a:stretch>
        </p:blipFill>
        <p:spPr>
          <a:xfrm>
            <a:off x="3017520" y="2962656"/>
            <a:ext cx="256032" cy="256032"/>
          </a:xfrm>
          <a:prstGeom prst="rect">
            <a:avLst/>
          </a:prstGeom>
        </p:spPr>
      </p:pic>
      <p:pic>
        <p:nvPicPr>
          <p:cNvPr id="56" name="Image 10" descr="/home/claude/work/icons/arrow_down.png"/>
          <p:cNvPicPr>
            <a:picLocks noChangeAspect="1"/>
          </p:cNvPicPr>
          <p:nvPr/>
        </p:nvPicPr>
        <p:blipFill>
          <a:blip r:embed="rId12"/>
          <a:stretch>
            <a:fillRect/>
          </a:stretch>
        </p:blipFill>
        <p:spPr>
          <a:xfrm>
            <a:off x="8549640" y="2962656"/>
            <a:ext cx="256032" cy="256032"/>
          </a:xfrm>
          <a:prstGeom prst="rect">
            <a:avLst/>
          </a:prstGeom>
        </p:spPr>
      </p:pic>
      <p:pic>
        <p:nvPicPr>
          <p:cNvPr id="57" name="Image 11" descr="/home/claude/work/icons/arrow_down.png"/>
          <p:cNvPicPr>
            <a:picLocks noChangeAspect="1"/>
          </p:cNvPicPr>
          <p:nvPr/>
        </p:nvPicPr>
        <p:blipFill>
          <a:blip r:embed="rId12"/>
          <a:stretch>
            <a:fillRect/>
          </a:stretch>
        </p:blipFill>
        <p:spPr>
          <a:xfrm>
            <a:off x="1965960" y="4608576"/>
            <a:ext cx="256032" cy="256032"/>
          </a:xfrm>
          <a:prstGeom prst="rect">
            <a:avLst/>
          </a:prstGeom>
        </p:spPr>
      </p:pic>
      <p:pic>
        <p:nvPicPr>
          <p:cNvPr id="58" name="Image 12" descr="/home/claude/work/icons/arrow_down.png"/>
          <p:cNvPicPr>
            <a:picLocks noChangeAspect="1"/>
          </p:cNvPicPr>
          <p:nvPr/>
        </p:nvPicPr>
        <p:blipFill>
          <a:blip r:embed="rId12"/>
          <a:stretch>
            <a:fillRect/>
          </a:stretch>
        </p:blipFill>
        <p:spPr>
          <a:xfrm>
            <a:off x="4800600" y="4608576"/>
            <a:ext cx="256032" cy="256032"/>
          </a:xfrm>
          <a:prstGeom prst="rect">
            <a:avLst/>
          </a:prstGeom>
        </p:spPr>
      </p:pic>
      <p:pic>
        <p:nvPicPr>
          <p:cNvPr id="59" name="Image 13" descr="/home/claude/work/icons/arrow_down.png"/>
          <p:cNvPicPr>
            <a:picLocks noChangeAspect="1"/>
          </p:cNvPicPr>
          <p:nvPr/>
        </p:nvPicPr>
        <p:blipFill>
          <a:blip r:embed="rId12"/>
          <a:stretch>
            <a:fillRect/>
          </a:stretch>
        </p:blipFill>
        <p:spPr>
          <a:xfrm>
            <a:off x="7543800" y="4608576"/>
            <a:ext cx="256032" cy="256032"/>
          </a:xfrm>
          <a:prstGeom prst="rect">
            <a:avLst/>
          </a:prstGeom>
        </p:spPr>
      </p:pic>
      <p:pic>
        <p:nvPicPr>
          <p:cNvPr id="60" name="Image 14" descr="/home/claude/work/icons/arrow_down.png"/>
          <p:cNvPicPr>
            <a:picLocks noChangeAspect="1"/>
          </p:cNvPicPr>
          <p:nvPr/>
        </p:nvPicPr>
        <p:blipFill>
          <a:blip r:embed="rId12"/>
          <a:stretch>
            <a:fillRect/>
          </a:stretch>
        </p:blipFill>
        <p:spPr>
          <a:xfrm>
            <a:off x="9921240" y="4608576"/>
            <a:ext cx="256032" cy="256032"/>
          </a:xfrm>
          <a:prstGeom prst="rect">
            <a:avLst/>
          </a:prstGeom>
        </p:spPr>
      </p:pic>
      <p:sp>
        <p:nvSpPr>
          <p:cNvPr id="61" name="Text 44"/>
          <p:cNvSpPr/>
          <p:nvPr/>
        </p:nvSpPr>
        <p:spPr>
          <a:xfrm>
            <a:off x="640080" y="6419088"/>
            <a:ext cx="10881360" cy="274320"/>
          </a:xfrm>
          <a:prstGeom prst="rect">
            <a:avLst/>
          </a:prstGeom>
          <a:noFill/>
          <a:ln/>
        </p:spPr>
        <p:txBody>
          <a:bodyPr wrap="square" rtlCol="0" anchor="ctr"/>
          <a:lstStyle/>
          <a:p>
            <a:pPr marL="0" indent="0">
              <a:buNone/>
            </a:pPr>
            <a:r>
              <a:rPr lang="en-US" sz="1000" i="1" dirty="0">
                <a:solidFill>
                  <a:srgbClr val="9FB3A7"/>
                </a:solidFill>
                <a:latin typeface="Calibri" pitchFamily="34" charset="0"/>
                <a:ea typeface="Calibri" pitchFamily="34" charset="-122"/>
                <a:cs typeface="Calibri" pitchFamily="34" charset="-120"/>
              </a:rPr>
              <a:t>"Vanakkam Ramesh! Naan Stellar Agri AI…" — the farmer’s call opens with a fully localized greeting.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CORE INNOVATIONS</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What sets Stellar Agri AI apart</a:t>
            </a:r>
            <a:endParaRPr lang="en-US" sz="2800" dirty="0"/>
          </a:p>
        </p:txBody>
      </p:sp>
      <p:sp>
        <p:nvSpPr>
          <p:cNvPr id="4" name="Shape 2"/>
          <p:cNvSpPr/>
          <p:nvPr/>
        </p:nvSpPr>
        <p:spPr>
          <a:xfrm>
            <a:off x="548640" y="2148840"/>
            <a:ext cx="5349240" cy="1783080"/>
          </a:xfrm>
          <a:prstGeom prst="roundRect">
            <a:avLst>
              <a:gd name="adj" fmla="val 4615"/>
            </a:avLst>
          </a:prstGeom>
          <a:solidFill>
            <a:srgbClr val="FFFFFF"/>
          </a:solidFill>
          <a:ln w="12700">
            <a:solidFill>
              <a:srgbClr val="E1DFD3"/>
            </a:solidFill>
            <a:prstDash val="solid"/>
          </a:ln>
        </p:spPr>
      </p:sp>
      <p:sp>
        <p:nvSpPr>
          <p:cNvPr id="5" name="Shape 3"/>
          <p:cNvSpPr/>
          <p:nvPr/>
        </p:nvSpPr>
        <p:spPr>
          <a:xfrm>
            <a:off x="822960" y="2651760"/>
            <a:ext cx="777240" cy="777240"/>
          </a:xfrm>
          <a:prstGeom prst="ellipse">
            <a:avLst/>
          </a:prstGeom>
          <a:solidFill>
            <a:srgbClr val="13322A"/>
          </a:solidFill>
          <a:ln/>
        </p:spPr>
      </p:sp>
      <p:pic>
        <p:nvPicPr>
          <p:cNvPr id="6" name="Image 0" descr="/home/claude/work/icons/bolt.png"/>
          <p:cNvPicPr>
            <a:picLocks noChangeAspect="1"/>
          </p:cNvPicPr>
          <p:nvPr/>
        </p:nvPicPr>
        <p:blipFill>
          <a:blip r:embed="rId3"/>
          <a:stretch>
            <a:fillRect/>
          </a:stretch>
        </p:blipFill>
        <p:spPr>
          <a:xfrm>
            <a:off x="931774" y="2760574"/>
            <a:ext cx="559613" cy="559613"/>
          </a:xfrm>
          <a:prstGeom prst="rect">
            <a:avLst/>
          </a:prstGeom>
        </p:spPr>
      </p:pic>
      <p:sp>
        <p:nvSpPr>
          <p:cNvPr id="7" name="Text 4"/>
          <p:cNvSpPr/>
          <p:nvPr/>
        </p:nvSpPr>
        <p:spPr>
          <a:xfrm>
            <a:off x="1783080" y="2350008"/>
            <a:ext cx="3886200" cy="457200"/>
          </a:xfrm>
          <a:prstGeom prst="rect">
            <a:avLst/>
          </a:prstGeom>
          <a:noFill/>
          <a:ln/>
        </p:spPr>
        <p:txBody>
          <a:bodyPr wrap="square" lIns="0" tIns="0" rIns="0" bIns="0" rtlCol="0" anchor="ctr"/>
          <a:lstStyle/>
          <a:p>
            <a:pPr marL="0" indent="0">
              <a:buNone/>
            </a:pPr>
            <a:r>
              <a:rPr lang="en-US" sz="1450" b="1" dirty="0">
                <a:solidFill>
                  <a:srgbClr val="18231F"/>
                </a:solidFill>
                <a:latin typeface="Cambria" pitchFamily="34" charset="0"/>
                <a:ea typeface="Cambria" pitchFamily="34" charset="-122"/>
                <a:cs typeface="Cambria" pitchFamily="34" charset="-120"/>
              </a:rPr>
              <a:t>Dynamic On-the-Fly Prompt Injection</a:t>
            </a:r>
            <a:endParaRPr lang="en-US" sz="1450" dirty="0"/>
          </a:p>
        </p:txBody>
      </p:sp>
      <p:sp>
        <p:nvSpPr>
          <p:cNvPr id="8" name="Text 5"/>
          <p:cNvSpPr/>
          <p:nvPr/>
        </p:nvSpPr>
        <p:spPr>
          <a:xfrm>
            <a:off x="1783080" y="2807208"/>
            <a:ext cx="3886200" cy="1005840"/>
          </a:xfrm>
          <a:prstGeom prst="rect">
            <a:avLst/>
          </a:prstGeom>
          <a:noFill/>
          <a:ln/>
        </p:spPr>
        <p:txBody>
          <a:bodyPr wrap="square" lIns="0" tIns="0" rIns="0" bIns="0" rtlCol="0" anchor="ctr"/>
          <a:lstStyle/>
          <a:p>
            <a:pPr marL="0" indent="0">
              <a:lnSpc>
                <a:spcPct val="115000"/>
              </a:lnSpc>
              <a:buNone/>
            </a:pPr>
            <a:r>
              <a:rPr lang="en-US" sz="1080" dirty="0">
                <a:solidFill>
                  <a:srgbClr val="55645C"/>
                </a:solidFill>
                <a:latin typeface="Calibri" pitchFamily="34" charset="0"/>
                <a:ea typeface="Calibri" pitchFamily="34" charset="-122"/>
                <a:cs typeface="Calibri" pitchFamily="34" charset="-120"/>
              </a:rPr>
              <a:t>The agent dynamically updates its language, acoustic model, weather data, and mandi prices before dialing the call.</a:t>
            </a:r>
            <a:endParaRPr lang="en-US" sz="1080" dirty="0"/>
          </a:p>
        </p:txBody>
      </p:sp>
      <p:sp>
        <p:nvSpPr>
          <p:cNvPr id="9" name="Shape 6"/>
          <p:cNvSpPr/>
          <p:nvPr/>
        </p:nvSpPr>
        <p:spPr>
          <a:xfrm>
            <a:off x="6172200" y="2148840"/>
            <a:ext cx="5349240" cy="1783080"/>
          </a:xfrm>
          <a:prstGeom prst="roundRect">
            <a:avLst>
              <a:gd name="adj" fmla="val 4615"/>
            </a:avLst>
          </a:prstGeom>
          <a:solidFill>
            <a:srgbClr val="FFFFFF"/>
          </a:solidFill>
          <a:ln w="12700">
            <a:solidFill>
              <a:srgbClr val="E1DFD3"/>
            </a:solidFill>
            <a:prstDash val="solid"/>
          </a:ln>
        </p:spPr>
      </p:sp>
      <p:sp>
        <p:nvSpPr>
          <p:cNvPr id="10" name="Shape 7"/>
          <p:cNvSpPr/>
          <p:nvPr/>
        </p:nvSpPr>
        <p:spPr>
          <a:xfrm>
            <a:off x="6446520" y="2651760"/>
            <a:ext cx="777240" cy="777240"/>
          </a:xfrm>
          <a:prstGeom prst="ellipse">
            <a:avLst/>
          </a:prstGeom>
          <a:solidFill>
            <a:srgbClr val="13322A"/>
          </a:solidFill>
          <a:ln/>
        </p:spPr>
      </p:sp>
      <p:pic>
        <p:nvPicPr>
          <p:cNvPr id="11" name="Image 1" descr="/home/claude/work/icons/coins.png"/>
          <p:cNvPicPr>
            <a:picLocks noChangeAspect="1"/>
          </p:cNvPicPr>
          <p:nvPr/>
        </p:nvPicPr>
        <p:blipFill>
          <a:blip r:embed="rId4"/>
          <a:stretch>
            <a:fillRect/>
          </a:stretch>
        </p:blipFill>
        <p:spPr>
          <a:xfrm>
            <a:off x="6555334" y="2760574"/>
            <a:ext cx="559613" cy="559613"/>
          </a:xfrm>
          <a:prstGeom prst="rect">
            <a:avLst/>
          </a:prstGeom>
        </p:spPr>
      </p:pic>
      <p:sp>
        <p:nvSpPr>
          <p:cNvPr id="12" name="Text 8"/>
          <p:cNvSpPr/>
          <p:nvPr/>
        </p:nvSpPr>
        <p:spPr>
          <a:xfrm>
            <a:off x="7406640" y="2350008"/>
            <a:ext cx="3886200" cy="457200"/>
          </a:xfrm>
          <a:prstGeom prst="rect">
            <a:avLst/>
          </a:prstGeom>
          <a:noFill/>
          <a:ln/>
        </p:spPr>
        <p:txBody>
          <a:bodyPr wrap="square" lIns="0" tIns="0" rIns="0" bIns="0" rtlCol="0" anchor="ctr"/>
          <a:lstStyle/>
          <a:p>
            <a:pPr marL="0" indent="0">
              <a:buNone/>
            </a:pPr>
            <a:r>
              <a:rPr lang="en-US" sz="1450" b="1" dirty="0">
                <a:solidFill>
                  <a:srgbClr val="18231F"/>
                </a:solidFill>
                <a:latin typeface="Cambria" pitchFamily="34" charset="0"/>
                <a:ea typeface="Cambria" pitchFamily="34" charset="-122"/>
                <a:cs typeface="Cambria" pitchFamily="34" charset="-120"/>
              </a:rPr>
              <a:t>Real-Time Mandi Bhav</a:t>
            </a:r>
            <a:endParaRPr lang="en-US" sz="1450" dirty="0"/>
          </a:p>
        </p:txBody>
      </p:sp>
      <p:sp>
        <p:nvSpPr>
          <p:cNvPr id="13" name="Text 9"/>
          <p:cNvSpPr/>
          <p:nvPr/>
        </p:nvSpPr>
        <p:spPr>
          <a:xfrm>
            <a:off x="7406640" y="2807208"/>
            <a:ext cx="3886200" cy="1005840"/>
          </a:xfrm>
          <a:prstGeom prst="rect">
            <a:avLst/>
          </a:prstGeom>
          <a:noFill/>
          <a:ln/>
        </p:spPr>
        <p:txBody>
          <a:bodyPr wrap="square" lIns="0" tIns="0" rIns="0" bIns="0" rtlCol="0" anchor="ctr"/>
          <a:lstStyle/>
          <a:p>
            <a:pPr marL="0" indent="0">
              <a:lnSpc>
                <a:spcPct val="115000"/>
              </a:lnSpc>
              <a:buNone/>
            </a:pPr>
            <a:r>
              <a:rPr lang="en-US" sz="1080" dirty="0">
                <a:solidFill>
                  <a:srgbClr val="55645C"/>
                </a:solidFill>
                <a:latin typeface="Calibri" pitchFamily="34" charset="0"/>
                <a:ea typeface="Calibri" pitchFamily="34" charset="-122"/>
                <a:cs typeface="Calibri" pitchFamily="34" charset="-120"/>
              </a:rPr>
              <a:t>The voice agent quotes exact APMC modal benchmark rates and advises whether today is an optimal time to sell.</a:t>
            </a:r>
            <a:endParaRPr lang="en-US" sz="1080" dirty="0"/>
          </a:p>
        </p:txBody>
      </p:sp>
      <p:sp>
        <p:nvSpPr>
          <p:cNvPr id="14" name="Shape 10"/>
          <p:cNvSpPr/>
          <p:nvPr/>
        </p:nvSpPr>
        <p:spPr>
          <a:xfrm>
            <a:off x="548640" y="4206240"/>
            <a:ext cx="5349240" cy="1783080"/>
          </a:xfrm>
          <a:prstGeom prst="roundRect">
            <a:avLst>
              <a:gd name="adj" fmla="val 4615"/>
            </a:avLst>
          </a:prstGeom>
          <a:solidFill>
            <a:srgbClr val="FFFFFF"/>
          </a:solidFill>
          <a:ln w="12700">
            <a:solidFill>
              <a:srgbClr val="E1DFD3"/>
            </a:solidFill>
            <a:prstDash val="solid"/>
          </a:ln>
        </p:spPr>
      </p:sp>
      <p:sp>
        <p:nvSpPr>
          <p:cNvPr id="15" name="Shape 11"/>
          <p:cNvSpPr/>
          <p:nvPr/>
        </p:nvSpPr>
        <p:spPr>
          <a:xfrm>
            <a:off x="822960" y="4709160"/>
            <a:ext cx="777240" cy="777240"/>
          </a:xfrm>
          <a:prstGeom prst="ellipse">
            <a:avLst/>
          </a:prstGeom>
          <a:solidFill>
            <a:srgbClr val="13322A"/>
          </a:solidFill>
          <a:ln/>
        </p:spPr>
      </p:sp>
      <p:pic>
        <p:nvPicPr>
          <p:cNvPr id="16" name="Image 2" descr="/home/claude/work/icons/cloud_rain.png"/>
          <p:cNvPicPr>
            <a:picLocks noChangeAspect="1"/>
          </p:cNvPicPr>
          <p:nvPr/>
        </p:nvPicPr>
        <p:blipFill>
          <a:blip r:embed="rId5"/>
          <a:stretch>
            <a:fillRect/>
          </a:stretch>
        </p:blipFill>
        <p:spPr>
          <a:xfrm>
            <a:off x="931774" y="4817974"/>
            <a:ext cx="559613" cy="559613"/>
          </a:xfrm>
          <a:prstGeom prst="rect">
            <a:avLst/>
          </a:prstGeom>
        </p:spPr>
      </p:pic>
      <p:sp>
        <p:nvSpPr>
          <p:cNvPr id="17" name="Text 12"/>
          <p:cNvSpPr/>
          <p:nvPr/>
        </p:nvSpPr>
        <p:spPr>
          <a:xfrm>
            <a:off x="1783080" y="4407408"/>
            <a:ext cx="3886200" cy="457200"/>
          </a:xfrm>
          <a:prstGeom prst="rect">
            <a:avLst/>
          </a:prstGeom>
          <a:noFill/>
          <a:ln/>
        </p:spPr>
        <p:txBody>
          <a:bodyPr wrap="square" lIns="0" tIns="0" rIns="0" bIns="0" rtlCol="0" anchor="ctr"/>
          <a:lstStyle/>
          <a:p>
            <a:pPr marL="0" indent="0">
              <a:buNone/>
            </a:pPr>
            <a:r>
              <a:rPr lang="en-US" sz="1450" b="1" dirty="0">
                <a:solidFill>
                  <a:srgbClr val="18231F"/>
                </a:solidFill>
                <a:latin typeface="Cambria" pitchFamily="34" charset="0"/>
                <a:ea typeface="Cambria" pitchFamily="34" charset="-122"/>
                <a:cs typeface="Cambria" pitchFamily="34" charset="-120"/>
              </a:rPr>
              <a:t>Micro-Climate Telemetry</a:t>
            </a:r>
            <a:endParaRPr lang="en-US" sz="1450" dirty="0"/>
          </a:p>
        </p:txBody>
      </p:sp>
      <p:sp>
        <p:nvSpPr>
          <p:cNvPr id="18" name="Text 13"/>
          <p:cNvSpPr/>
          <p:nvPr/>
        </p:nvSpPr>
        <p:spPr>
          <a:xfrm>
            <a:off x="1783080" y="4864608"/>
            <a:ext cx="3886200" cy="1005840"/>
          </a:xfrm>
          <a:prstGeom prst="rect">
            <a:avLst/>
          </a:prstGeom>
          <a:noFill/>
          <a:ln/>
        </p:spPr>
        <p:txBody>
          <a:bodyPr wrap="square" lIns="0" tIns="0" rIns="0" bIns="0" rtlCol="0" anchor="ctr"/>
          <a:lstStyle/>
          <a:p>
            <a:pPr marL="0" indent="0">
              <a:lnSpc>
                <a:spcPct val="115000"/>
              </a:lnSpc>
              <a:buNone/>
            </a:pPr>
            <a:r>
              <a:rPr lang="en-US" sz="1080" dirty="0">
                <a:solidFill>
                  <a:srgbClr val="55645C"/>
                </a:solidFill>
                <a:latin typeface="Calibri" pitchFamily="34" charset="0"/>
                <a:ea typeface="Calibri" pitchFamily="34" charset="-122"/>
                <a:cs typeface="Calibri" pitchFamily="34" charset="-120"/>
              </a:rPr>
              <a:t>Calculates fungal infection risks from humidity and rainfall to recommend delayed or immediate irrigation.</a:t>
            </a:r>
            <a:endParaRPr lang="en-US" sz="1080" dirty="0"/>
          </a:p>
        </p:txBody>
      </p:sp>
      <p:sp>
        <p:nvSpPr>
          <p:cNvPr id="19" name="Shape 14"/>
          <p:cNvSpPr/>
          <p:nvPr/>
        </p:nvSpPr>
        <p:spPr>
          <a:xfrm>
            <a:off x="6172200" y="4206240"/>
            <a:ext cx="5349240" cy="1783080"/>
          </a:xfrm>
          <a:prstGeom prst="roundRect">
            <a:avLst>
              <a:gd name="adj" fmla="val 4615"/>
            </a:avLst>
          </a:prstGeom>
          <a:solidFill>
            <a:srgbClr val="FFFFFF"/>
          </a:solidFill>
          <a:ln w="12700">
            <a:solidFill>
              <a:srgbClr val="E1DFD3"/>
            </a:solidFill>
            <a:prstDash val="solid"/>
          </a:ln>
        </p:spPr>
      </p:sp>
      <p:sp>
        <p:nvSpPr>
          <p:cNvPr id="20" name="Shape 15"/>
          <p:cNvSpPr/>
          <p:nvPr/>
        </p:nvSpPr>
        <p:spPr>
          <a:xfrm>
            <a:off x="6446520" y="4709160"/>
            <a:ext cx="777240" cy="777240"/>
          </a:xfrm>
          <a:prstGeom prst="ellipse">
            <a:avLst/>
          </a:prstGeom>
          <a:solidFill>
            <a:srgbClr val="13322A"/>
          </a:solidFill>
          <a:ln/>
        </p:spPr>
      </p:sp>
      <p:pic>
        <p:nvPicPr>
          <p:cNvPr id="21" name="Image 3" descr="/home/claude/work/icons/gauge.png"/>
          <p:cNvPicPr>
            <a:picLocks noChangeAspect="1"/>
          </p:cNvPicPr>
          <p:nvPr/>
        </p:nvPicPr>
        <p:blipFill>
          <a:blip r:embed="rId6"/>
          <a:stretch>
            <a:fillRect/>
          </a:stretch>
        </p:blipFill>
        <p:spPr>
          <a:xfrm>
            <a:off x="6555334" y="4817974"/>
            <a:ext cx="559613" cy="559613"/>
          </a:xfrm>
          <a:prstGeom prst="rect">
            <a:avLst/>
          </a:prstGeom>
        </p:spPr>
      </p:pic>
      <p:sp>
        <p:nvSpPr>
          <p:cNvPr id="22" name="Text 16"/>
          <p:cNvSpPr/>
          <p:nvPr/>
        </p:nvSpPr>
        <p:spPr>
          <a:xfrm>
            <a:off x="7406640" y="4407408"/>
            <a:ext cx="3886200" cy="457200"/>
          </a:xfrm>
          <a:prstGeom prst="rect">
            <a:avLst/>
          </a:prstGeom>
          <a:noFill/>
          <a:ln/>
        </p:spPr>
        <p:txBody>
          <a:bodyPr wrap="square" lIns="0" tIns="0" rIns="0" bIns="0" rtlCol="0" anchor="ctr"/>
          <a:lstStyle/>
          <a:p>
            <a:pPr marL="0" indent="0">
              <a:buNone/>
            </a:pPr>
            <a:r>
              <a:rPr lang="en-US" sz="1450" b="1" dirty="0">
                <a:solidFill>
                  <a:srgbClr val="18231F"/>
                </a:solidFill>
                <a:latin typeface="Cambria" pitchFamily="34" charset="0"/>
                <a:ea typeface="Cambria" pitchFamily="34" charset="-122"/>
                <a:cs typeface="Cambria" pitchFamily="34" charset="-120"/>
              </a:rPr>
              <a:t>Admin Operations &amp; Redial Center</a:t>
            </a:r>
            <a:endParaRPr lang="en-US" sz="1450" dirty="0"/>
          </a:p>
        </p:txBody>
      </p:sp>
      <p:sp>
        <p:nvSpPr>
          <p:cNvPr id="23" name="Text 17"/>
          <p:cNvSpPr/>
          <p:nvPr/>
        </p:nvSpPr>
        <p:spPr>
          <a:xfrm>
            <a:off x="7406640" y="4864608"/>
            <a:ext cx="3886200" cy="1005840"/>
          </a:xfrm>
          <a:prstGeom prst="rect">
            <a:avLst/>
          </a:prstGeom>
          <a:noFill/>
          <a:ln/>
        </p:spPr>
        <p:txBody>
          <a:bodyPr wrap="square" lIns="0" tIns="0" rIns="0" bIns="0" rtlCol="0" anchor="ctr"/>
          <a:lstStyle/>
          <a:p>
            <a:pPr marL="0" indent="0">
              <a:lnSpc>
                <a:spcPct val="115000"/>
              </a:lnSpc>
              <a:buNone/>
            </a:pPr>
            <a:r>
              <a:rPr lang="en-US" sz="1080" dirty="0">
                <a:solidFill>
                  <a:srgbClr val="55645C"/>
                </a:solidFill>
                <a:latin typeface="Calibri" pitchFamily="34" charset="0"/>
                <a:ea typeface="Calibri" pitchFamily="34" charset="-122"/>
                <a:cs typeface="Calibri" pitchFamily="34" charset="-120"/>
              </a:rPr>
              <a:t>A dedicated authenticated portal with live call audio recordings, transcripts, and one-click redial automation.</a:t>
            </a:r>
            <a:endParaRPr lang="en-US" sz="1080" dirty="0"/>
          </a:p>
        </p:txBody>
      </p:sp>
      <p:sp>
        <p:nvSpPr>
          <p:cNvPr id="24" name="Text 18"/>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25" name="Text 19"/>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322A"/>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BUSINESS IMPACT</a:t>
            </a:r>
            <a:endParaRPr lang="en-US" sz="1200" dirty="0"/>
          </a:p>
        </p:txBody>
      </p:sp>
      <p:sp>
        <p:nvSpPr>
          <p:cNvPr id="3" name="Text 1"/>
          <p:cNvSpPr/>
          <p:nvPr/>
        </p:nvSpPr>
        <p:spPr>
          <a:xfrm>
            <a:off x="548640" y="704088"/>
            <a:ext cx="1106424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Empowering rural agriculture at scale</a:t>
            </a:r>
            <a:endParaRPr lang="en-US" sz="2800" dirty="0"/>
          </a:p>
        </p:txBody>
      </p:sp>
      <p:sp>
        <p:nvSpPr>
          <p:cNvPr id="4" name="Shape 2"/>
          <p:cNvSpPr/>
          <p:nvPr/>
        </p:nvSpPr>
        <p:spPr>
          <a:xfrm>
            <a:off x="548640" y="2286000"/>
            <a:ext cx="2606040" cy="3017520"/>
          </a:xfrm>
          <a:prstGeom prst="roundRect">
            <a:avLst>
              <a:gd name="adj" fmla="val 3158"/>
            </a:avLst>
          </a:prstGeom>
          <a:solidFill>
            <a:srgbClr val="1E4738"/>
          </a:solidFill>
          <a:ln w="12700">
            <a:solidFill>
              <a:srgbClr val="2F5445"/>
            </a:solidFill>
            <a:prstDash val="solid"/>
          </a:ln>
        </p:spPr>
      </p:sp>
      <p:sp>
        <p:nvSpPr>
          <p:cNvPr id="5" name="Shape 3"/>
          <p:cNvSpPr/>
          <p:nvPr/>
        </p:nvSpPr>
        <p:spPr>
          <a:xfrm>
            <a:off x="1531620" y="2560320"/>
            <a:ext cx="640080" cy="640080"/>
          </a:xfrm>
          <a:prstGeom prst="ellipse">
            <a:avLst/>
          </a:prstGeom>
          <a:solidFill>
            <a:srgbClr val="D9A441"/>
          </a:solidFill>
          <a:ln/>
        </p:spPr>
      </p:sp>
      <p:pic>
        <p:nvPicPr>
          <p:cNvPr id="6" name="Image 0" descr="/home/claude/work/icons/mobile.png"/>
          <p:cNvPicPr>
            <a:picLocks noChangeAspect="1"/>
          </p:cNvPicPr>
          <p:nvPr/>
        </p:nvPicPr>
        <p:blipFill>
          <a:blip r:embed="rId3"/>
          <a:stretch>
            <a:fillRect/>
          </a:stretch>
        </p:blipFill>
        <p:spPr>
          <a:xfrm>
            <a:off x="1621231" y="2649931"/>
            <a:ext cx="460858" cy="460858"/>
          </a:xfrm>
          <a:prstGeom prst="rect">
            <a:avLst/>
          </a:prstGeom>
        </p:spPr>
      </p:pic>
      <p:sp>
        <p:nvSpPr>
          <p:cNvPr id="7" name="Text 4"/>
          <p:cNvSpPr/>
          <p:nvPr/>
        </p:nvSpPr>
        <p:spPr>
          <a:xfrm>
            <a:off x="685800" y="3383280"/>
            <a:ext cx="23317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Zero</a:t>
            </a:r>
            <a:endParaRPr lang="en-US" sz="2200" dirty="0"/>
          </a:p>
        </p:txBody>
      </p:sp>
      <p:sp>
        <p:nvSpPr>
          <p:cNvPr id="8" name="Text 5"/>
          <p:cNvSpPr/>
          <p:nvPr/>
        </p:nvSpPr>
        <p:spPr>
          <a:xfrm>
            <a:off x="685800" y="3931920"/>
            <a:ext cx="2331720" cy="411480"/>
          </a:xfrm>
          <a:prstGeom prst="rect">
            <a:avLst/>
          </a:prstGeom>
          <a:noFill/>
          <a:ln/>
        </p:spPr>
        <p:txBody>
          <a:bodyPr wrap="square" lIns="0" tIns="0" rIns="0" bIns="0" rtlCol="0" anchor="ctr"/>
          <a:lstStyle/>
          <a:p>
            <a:pPr marL="0" indent="0" algn="ctr">
              <a:buNone/>
            </a:pPr>
            <a:r>
              <a:rPr lang="en-US" sz="1200" b="1" dirty="0">
                <a:solidFill>
                  <a:srgbClr val="F3DFAF"/>
                </a:solidFill>
                <a:latin typeface="Calibri" pitchFamily="34" charset="0"/>
                <a:ea typeface="Calibri" pitchFamily="34" charset="-122"/>
                <a:cs typeface="Calibri" pitchFamily="34" charset="-120"/>
              </a:rPr>
              <a:t>App Installation</a:t>
            </a:r>
            <a:endParaRPr lang="en-US" sz="1200" dirty="0"/>
          </a:p>
        </p:txBody>
      </p:sp>
      <p:sp>
        <p:nvSpPr>
          <p:cNvPr id="9" name="Text 6"/>
          <p:cNvSpPr/>
          <p:nvPr/>
        </p:nvSpPr>
        <p:spPr>
          <a:xfrm>
            <a:off x="731520" y="4343400"/>
            <a:ext cx="2240280" cy="868680"/>
          </a:xfrm>
          <a:prstGeom prst="rect">
            <a:avLst/>
          </a:prstGeom>
          <a:noFill/>
          <a:ln/>
        </p:spPr>
        <p:txBody>
          <a:bodyPr wrap="square" lIns="0" tIns="0" rIns="0" bIns="0" rtlCol="0" anchor="ctr"/>
          <a:lstStyle/>
          <a:p>
            <a:pPr marL="0" indent="0" algn="ctr">
              <a:lnSpc>
                <a:spcPct val="115000"/>
              </a:lnSpc>
              <a:buNone/>
            </a:pPr>
            <a:r>
              <a:rPr lang="en-US" sz="950" dirty="0">
                <a:solidFill>
                  <a:srgbClr val="B9C9BF"/>
                </a:solidFill>
                <a:latin typeface="Calibri" pitchFamily="34" charset="0"/>
                <a:ea typeface="Calibri" pitchFamily="34" charset="-122"/>
                <a:cs typeface="Calibri" pitchFamily="34" charset="-120"/>
              </a:rPr>
              <a:t>Works on any feature phone or smartphone across India</a:t>
            </a:r>
            <a:endParaRPr lang="en-US" sz="950" dirty="0"/>
          </a:p>
        </p:txBody>
      </p:sp>
      <p:sp>
        <p:nvSpPr>
          <p:cNvPr id="10" name="Shape 7"/>
          <p:cNvSpPr/>
          <p:nvPr/>
        </p:nvSpPr>
        <p:spPr>
          <a:xfrm>
            <a:off x="3383280" y="2286000"/>
            <a:ext cx="2606040" cy="3017520"/>
          </a:xfrm>
          <a:prstGeom prst="roundRect">
            <a:avLst>
              <a:gd name="adj" fmla="val 3158"/>
            </a:avLst>
          </a:prstGeom>
          <a:solidFill>
            <a:srgbClr val="1E4738"/>
          </a:solidFill>
          <a:ln w="12700">
            <a:solidFill>
              <a:srgbClr val="2F5445"/>
            </a:solidFill>
            <a:prstDash val="solid"/>
          </a:ln>
        </p:spPr>
      </p:sp>
      <p:sp>
        <p:nvSpPr>
          <p:cNvPr id="11" name="Shape 8"/>
          <p:cNvSpPr/>
          <p:nvPr/>
        </p:nvSpPr>
        <p:spPr>
          <a:xfrm>
            <a:off x="4366260" y="2560320"/>
            <a:ext cx="640080" cy="640080"/>
          </a:xfrm>
          <a:prstGeom prst="ellipse">
            <a:avLst/>
          </a:prstGeom>
          <a:solidFill>
            <a:srgbClr val="D9A441"/>
          </a:solidFill>
          <a:ln/>
        </p:spPr>
      </p:sp>
      <p:pic>
        <p:nvPicPr>
          <p:cNvPr id="12" name="Image 1" descr="/home/claude/work/icons/bolt.png"/>
          <p:cNvPicPr>
            <a:picLocks noChangeAspect="1"/>
          </p:cNvPicPr>
          <p:nvPr/>
        </p:nvPicPr>
        <p:blipFill>
          <a:blip r:embed="rId4"/>
          <a:stretch>
            <a:fillRect/>
          </a:stretch>
        </p:blipFill>
        <p:spPr>
          <a:xfrm>
            <a:off x="4455871" y="2649931"/>
            <a:ext cx="460858" cy="460858"/>
          </a:xfrm>
          <a:prstGeom prst="rect">
            <a:avLst/>
          </a:prstGeom>
        </p:spPr>
      </p:pic>
      <p:sp>
        <p:nvSpPr>
          <p:cNvPr id="13" name="Text 9"/>
          <p:cNvSpPr/>
          <p:nvPr/>
        </p:nvSpPr>
        <p:spPr>
          <a:xfrm>
            <a:off x="3520440" y="3383280"/>
            <a:ext cx="23317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&lt; 5 sec</a:t>
            </a:r>
            <a:endParaRPr lang="en-US" sz="2200" dirty="0"/>
          </a:p>
        </p:txBody>
      </p:sp>
      <p:sp>
        <p:nvSpPr>
          <p:cNvPr id="14" name="Text 10"/>
          <p:cNvSpPr/>
          <p:nvPr/>
        </p:nvSpPr>
        <p:spPr>
          <a:xfrm>
            <a:off x="3520440" y="3931920"/>
            <a:ext cx="2331720" cy="411480"/>
          </a:xfrm>
          <a:prstGeom prst="rect">
            <a:avLst/>
          </a:prstGeom>
          <a:noFill/>
          <a:ln/>
        </p:spPr>
        <p:txBody>
          <a:bodyPr wrap="square" lIns="0" tIns="0" rIns="0" bIns="0" rtlCol="0" anchor="ctr"/>
          <a:lstStyle/>
          <a:p>
            <a:pPr marL="0" indent="0" algn="ctr">
              <a:buNone/>
            </a:pPr>
            <a:r>
              <a:rPr lang="en-US" sz="1200" b="1" dirty="0">
                <a:solidFill>
                  <a:srgbClr val="F3DFAF"/>
                </a:solidFill>
                <a:latin typeface="Calibri" pitchFamily="34" charset="0"/>
                <a:ea typeface="Calibri" pitchFamily="34" charset="-122"/>
                <a:cs typeface="Calibri" pitchFamily="34" charset="-120"/>
              </a:rPr>
              <a:t>Instant Advisory</a:t>
            </a:r>
            <a:endParaRPr lang="en-US" sz="1200" dirty="0"/>
          </a:p>
        </p:txBody>
      </p:sp>
      <p:sp>
        <p:nvSpPr>
          <p:cNvPr id="15" name="Text 11"/>
          <p:cNvSpPr/>
          <p:nvPr/>
        </p:nvSpPr>
        <p:spPr>
          <a:xfrm>
            <a:off x="3566160" y="4343400"/>
            <a:ext cx="2240280" cy="868680"/>
          </a:xfrm>
          <a:prstGeom prst="rect">
            <a:avLst/>
          </a:prstGeom>
          <a:noFill/>
          <a:ln/>
        </p:spPr>
        <p:txBody>
          <a:bodyPr wrap="square" lIns="0" tIns="0" rIns="0" bIns="0" rtlCol="0" anchor="ctr"/>
          <a:lstStyle/>
          <a:p>
            <a:pPr marL="0" indent="0" algn="ctr">
              <a:lnSpc>
                <a:spcPct val="115000"/>
              </a:lnSpc>
              <a:buNone/>
            </a:pPr>
            <a:r>
              <a:rPr lang="en-US" sz="950" dirty="0">
                <a:solidFill>
                  <a:srgbClr val="B9C9BF"/>
                </a:solidFill>
                <a:latin typeface="Calibri" pitchFamily="34" charset="0"/>
                <a:ea typeface="Calibri" pitchFamily="34" charset="-122"/>
                <a:cs typeface="Calibri" pitchFamily="34" charset="-120"/>
              </a:rPr>
              <a:t>Response time from enquiry to phone ring</a:t>
            </a:r>
            <a:endParaRPr lang="en-US" sz="950" dirty="0"/>
          </a:p>
        </p:txBody>
      </p:sp>
      <p:sp>
        <p:nvSpPr>
          <p:cNvPr id="16" name="Shape 12"/>
          <p:cNvSpPr/>
          <p:nvPr/>
        </p:nvSpPr>
        <p:spPr>
          <a:xfrm>
            <a:off x="6217920" y="2286000"/>
            <a:ext cx="2606040" cy="3017520"/>
          </a:xfrm>
          <a:prstGeom prst="roundRect">
            <a:avLst>
              <a:gd name="adj" fmla="val 3158"/>
            </a:avLst>
          </a:prstGeom>
          <a:solidFill>
            <a:srgbClr val="1E4738"/>
          </a:solidFill>
          <a:ln w="12700">
            <a:solidFill>
              <a:srgbClr val="2F5445"/>
            </a:solidFill>
            <a:prstDash val="solid"/>
          </a:ln>
        </p:spPr>
      </p:sp>
      <p:sp>
        <p:nvSpPr>
          <p:cNvPr id="17" name="Shape 13"/>
          <p:cNvSpPr/>
          <p:nvPr/>
        </p:nvSpPr>
        <p:spPr>
          <a:xfrm>
            <a:off x="7200900" y="2560320"/>
            <a:ext cx="640080" cy="640080"/>
          </a:xfrm>
          <a:prstGeom prst="ellipse">
            <a:avLst/>
          </a:prstGeom>
          <a:solidFill>
            <a:srgbClr val="D9A441"/>
          </a:solidFill>
          <a:ln/>
        </p:spPr>
      </p:sp>
      <p:pic>
        <p:nvPicPr>
          <p:cNvPr id="18" name="Image 2" descr="/home/claude/work/icons/coins.png"/>
          <p:cNvPicPr>
            <a:picLocks noChangeAspect="1"/>
          </p:cNvPicPr>
          <p:nvPr/>
        </p:nvPicPr>
        <p:blipFill>
          <a:blip r:embed="rId5"/>
          <a:stretch>
            <a:fillRect/>
          </a:stretch>
        </p:blipFill>
        <p:spPr>
          <a:xfrm>
            <a:off x="7290511" y="2649931"/>
            <a:ext cx="460858" cy="460858"/>
          </a:xfrm>
          <a:prstGeom prst="rect">
            <a:avLst/>
          </a:prstGeom>
        </p:spPr>
      </p:pic>
      <p:sp>
        <p:nvSpPr>
          <p:cNvPr id="19" name="Text 14"/>
          <p:cNvSpPr/>
          <p:nvPr/>
        </p:nvSpPr>
        <p:spPr>
          <a:xfrm>
            <a:off x="6355080" y="3383280"/>
            <a:ext cx="23317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Upliftment</a:t>
            </a:r>
            <a:endParaRPr lang="en-US" sz="2200" dirty="0"/>
          </a:p>
        </p:txBody>
      </p:sp>
      <p:sp>
        <p:nvSpPr>
          <p:cNvPr id="20" name="Text 15"/>
          <p:cNvSpPr/>
          <p:nvPr/>
        </p:nvSpPr>
        <p:spPr>
          <a:xfrm>
            <a:off x="6355080" y="3931920"/>
            <a:ext cx="2331720" cy="411480"/>
          </a:xfrm>
          <a:prstGeom prst="rect">
            <a:avLst/>
          </a:prstGeom>
          <a:noFill/>
          <a:ln/>
        </p:spPr>
        <p:txBody>
          <a:bodyPr wrap="square" lIns="0" tIns="0" rIns="0" bIns="0" rtlCol="0" anchor="ctr"/>
          <a:lstStyle/>
          <a:p>
            <a:pPr marL="0" indent="0" algn="ctr">
              <a:buNone/>
            </a:pPr>
            <a:r>
              <a:rPr lang="en-US" sz="1200" b="1" dirty="0">
                <a:solidFill>
                  <a:srgbClr val="F3DFAF"/>
                </a:solidFill>
                <a:latin typeface="Calibri" pitchFamily="34" charset="0"/>
                <a:ea typeface="Calibri" pitchFamily="34" charset="-122"/>
                <a:cs typeface="Calibri" pitchFamily="34" charset="-120"/>
              </a:rPr>
              <a:t>Economic Impact</a:t>
            </a:r>
            <a:endParaRPr lang="en-US" sz="1200" dirty="0"/>
          </a:p>
        </p:txBody>
      </p:sp>
      <p:sp>
        <p:nvSpPr>
          <p:cNvPr id="21" name="Text 16"/>
          <p:cNvSpPr/>
          <p:nvPr/>
        </p:nvSpPr>
        <p:spPr>
          <a:xfrm>
            <a:off x="6400800" y="4343400"/>
            <a:ext cx="2240280" cy="868680"/>
          </a:xfrm>
          <a:prstGeom prst="rect">
            <a:avLst/>
          </a:prstGeom>
          <a:noFill/>
          <a:ln/>
        </p:spPr>
        <p:txBody>
          <a:bodyPr wrap="square" lIns="0" tIns="0" rIns="0" bIns="0" rtlCol="0" anchor="ctr"/>
          <a:lstStyle/>
          <a:p>
            <a:pPr marL="0" indent="0" algn="ctr">
              <a:lnSpc>
                <a:spcPct val="115000"/>
              </a:lnSpc>
              <a:buNone/>
            </a:pPr>
            <a:r>
              <a:rPr lang="en-US" sz="950" dirty="0">
                <a:solidFill>
                  <a:srgbClr val="B9C9BF"/>
                </a:solidFill>
                <a:latin typeface="Calibri" pitchFamily="34" charset="0"/>
                <a:ea typeface="Calibri" pitchFamily="34" charset="-122"/>
                <a:cs typeface="Calibri" pitchFamily="34" charset="-120"/>
              </a:rPr>
              <a:t>Prevents distress selling via top APMC mandi rates</a:t>
            </a:r>
            <a:endParaRPr lang="en-US" sz="950" dirty="0"/>
          </a:p>
        </p:txBody>
      </p:sp>
      <p:sp>
        <p:nvSpPr>
          <p:cNvPr id="22" name="Shape 17"/>
          <p:cNvSpPr/>
          <p:nvPr/>
        </p:nvSpPr>
        <p:spPr>
          <a:xfrm>
            <a:off x="9052560" y="2286000"/>
            <a:ext cx="2606040" cy="3017520"/>
          </a:xfrm>
          <a:prstGeom prst="roundRect">
            <a:avLst>
              <a:gd name="adj" fmla="val 3158"/>
            </a:avLst>
          </a:prstGeom>
          <a:solidFill>
            <a:srgbClr val="1E4738"/>
          </a:solidFill>
          <a:ln w="12700">
            <a:solidFill>
              <a:srgbClr val="2F5445"/>
            </a:solidFill>
            <a:prstDash val="solid"/>
          </a:ln>
        </p:spPr>
      </p:sp>
      <p:sp>
        <p:nvSpPr>
          <p:cNvPr id="23" name="Shape 18"/>
          <p:cNvSpPr/>
          <p:nvPr/>
        </p:nvSpPr>
        <p:spPr>
          <a:xfrm>
            <a:off x="10035540" y="2560320"/>
            <a:ext cx="640080" cy="640080"/>
          </a:xfrm>
          <a:prstGeom prst="ellipse">
            <a:avLst/>
          </a:prstGeom>
          <a:solidFill>
            <a:srgbClr val="D9A441"/>
          </a:solidFill>
          <a:ln/>
        </p:spPr>
      </p:sp>
      <p:pic>
        <p:nvPicPr>
          <p:cNvPr id="24" name="Image 3" descr="/home/claude/work/icons/users.png"/>
          <p:cNvPicPr>
            <a:picLocks noChangeAspect="1"/>
          </p:cNvPicPr>
          <p:nvPr/>
        </p:nvPicPr>
        <p:blipFill>
          <a:blip r:embed="rId6"/>
          <a:stretch>
            <a:fillRect/>
          </a:stretch>
        </p:blipFill>
        <p:spPr>
          <a:xfrm>
            <a:off x="10125151" y="2649931"/>
            <a:ext cx="460858" cy="460858"/>
          </a:xfrm>
          <a:prstGeom prst="rect">
            <a:avLst/>
          </a:prstGeom>
        </p:spPr>
      </p:pic>
      <p:sp>
        <p:nvSpPr>
          <p:cNvPr id="25" name="Text 19"/>
          <p:cNvSpPr/>
          <p:nvPr/>
        </p:nvSpPr>
        <p:spPr>
          <a:xfrm>
            <a:off x="9189720" y="3383280"/>
            <a:ext cx="23317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B2B / Govt</a:t>
            </a:r>
            <a:endParaRPr lang="en-US" sz="2200" dirty="0"/>
          </a:p>
        </p:txBody>
      </p:sp>
      <p:sp>
        <p:nvSpPr>
          <p:cNvPr id="26" name="Text 20"/>
          <p:cNvSpPr/>
          <p:nvPr/>
        </p:nvSpPr>
        <p:spPr>
          <a:xfrm>
            <a:off x="9189720" y="3931920"/>
            <a:ext cx="2331720" cy="411480"/>
          </a:xfrm>
          <a:prstGeom prst="rect">
            <a:avLst/>
          </a:prstGeom>
          <a:noFill/>
          <a:ln/>
        </p:spPr>
        <p:txBody>
          <a:bodyPr wrap="square" lIns="0" tIns="0" rIns="0" bIns="0" rtlCol="0" anchor="ctr"/>
          <a:lstStyle/>
          <a:p>
            <a:pPr marL="0" indent="0" algn="ctr">
              <a:buNone/>
            </a:pPr>
            <a:r>
              <a:rPr lang="en-US" sz="1200" b="1" dirty="0">
                <a:solidFill>
                  <a:srgbClr val="F3DFAF"/>
                </a:solidFill>
                <a:latin typeface="Calibri" pitchFamily="34" charset="0"/>
                <a:ea typeface="Calibri" pitchFamily="34" charset="-122"/>
                <a:cs typeface="Calibri" pitchFamily="34" charset="-120"/>
              </a:rPr>
              <a:t>Scale Ready</a:t>
            </a:r>
            <a:endParaRPr lang="en-US" sz="1200" dirty="0"/>
          </a:p>
        </p:txBody>
      </p:sp>
      <p:sp>
        <p:nvSpPr>
          <p:cNvPr id="27" name="Text 21"/>
          <p:cNvSpPr/>
          <p:nvPr/>
        </p:nvSpPr>
        <p:spPr>
          <a:xfrm>
            <a:off x="9235440" y="4343400"/>
            <a:ext cx="2240280" cy="868680"/>
          </a:xfrm>
          <a:prstGeom prst="rect">
            <a:avLst/>
          </a:prstGeom>
          <a:noFill/>
          <a:ln/>
        </p:spPr>
        <p:txBody>
          <a:bodyPr wrap="square" lIns="0" tIns="0" rIns="0" bIns="0" rtlCol="0" anchor="ctr"/>
          <a:lstStyle/>
          <a:p>
            <a:pPr marL="0" indent="0" algn="ctr">
              <a:lnSpc>
                <a:spcPct val="115000"/>
              </a:lnSpc>
              <a:buNone/>
            </a:pPr>
            <a:r>
              <a:rPr lang="en-US" sz="950" dirty="0">
                <a:solidFill>
                  <a:srgbClr val="B9C9BF"/>
                </a:solidFill>
                <a:latin typeface="Calibri" pitchFamily="34" charset="0"/>
                <a:ea typeface="Calibri" pitchFamily="34" charset="-122"/>
                <a:cs typeface="Calibri" pitchFamily="34" charset="-120"/>
              </a:rPr>
              <a:t>Kisan Call Centers, FPOs, seed &amp; fertilizer distributors</a:t>
            </a:r>
            <a:endParaRPr lang="en-US" sz="950" dirty="0"/>
          </a:p>
        </p:txBody>
      </p:sp>
      <p:sp>
        <p:nvSpPr>
          <p:cNvPr id="28" name="Text 22"/>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B9C9BF"/>
                </a:solidFill>
                <a:latin typeface="Calibri" pitchFamily="34" charset="0"/>
                <a:ea typeface="Calibri" pitchFamily="34" charset="-122"/>
                <a:cs typeface="Calibri" pitchFamily="34" charset="-120"/>
              </a:rPr>
              <a:t>STELLAR AGRI AI</a:t>
            </a:r>
            <a:endParaRPr lang="en-US" sz="900" dirty="0"/>
          </a:p>
        </p:txBody>
      </p:sp>
      <p:sp>
        <p:nvSpPr>
          <p:cNvPr id="29" name="Text 23"/>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B9C9B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TECHNOLOGY STACK</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Tech stack &amp; live demo details</a:t>
            </a:r>
            <a:endParaRPr lang="en-US" sz="2800" dirty="0"/>
          </a:p>
        </p:txBody>
      </p:sp>
      <p:sp>
        <p:nvSpPr>
          <p:cNvPr id="4" name="Shape 2"/>
          <p:cNvSpPr/>
          <p:nvPr/>
        </p:nvSpPr>
        <p:spPr>
          <a:xfrm>
            <a:off x="548640" y="1828800"/>
            <a:ext cx="3566160" cy="2286000"/>
          </a:xfrm>
          <a:prstGeom prst="roundRect">
            <a:avLst>
              <a:gd name="adj" fmla="val 3600"/>
            </a:avLst>
          </a:prstGeom>
          <a:solidFill>
            <a:srgbClr val="FFFFFF"/>
          </a:solidFill>
          <a:ln w="12700">
            <a:solidFill>
              <a:srgbClr val="E1DFD3"/>
            </a:solidFill>
            <a:prstDash val="solid"/>
          </a:ln>
        </p:spPr>
      </p:sp>
      <p:sp>
        <p:nvSpPr>
          <p:cNvPr id="5" name="Shape 3"/>
          <p:cNvSpPr/>
          <p:nvPr/>
        </p:nvSpPr>
        <p:spPr>
          <a:xfrm>
            <a:off x="804672" y="2084832"/>
            <a:ext cx="594360" cy="594360"/>
          </a:xfrm>
          <a:prstGeom prst="ellipse">
            <a:avLst/>
          </a:prstGeom>
          <a:solidFill>
            <a:srgbClr val="13322A"/>
          </a:solidFill>
          <a:ln/>
        </p:spPr>
      </p:sp>
      <p:pic>
        <p:nvPicPr>
          <p:cNvPr id="6" name="Image 0" descr="/home/claude/work/icons/phone.png"/>
          <p:cNvPicPr>
            <a:picLocks noChangeAspect="1"/>
          </p:cNvPicPr>
          <p:nvPr/>
        </p:nvPicPr>
        <p:blipFill>
          <a:blip r:embed="rId3"/>
          <a:stretch>
            <a:fillRect/>
          </a:stretch>
        </p:blipFill>
        <p:spPr>
          <a:xfrm>
            <a:off x="887882" y="2168042"/>
            <a:ext cx="427939" cy="427939"/>
          </a:xfrm>
          <a:prstGeom prst="rect">
            <a:avLst/>
          </a:prstGeom>
        </p:spPr>
      </p:pic>
      <p:sp>
        <p:nvSpPr>
          <p:cNvPr id="7" name="Text 4"/>
          <p:cNvSpPr/>
          <p:nvPr/>
        </p:nvSpPr>
        <p:spPr>
          <a:xfrm>
            <a:off x="1508760" y="2103120"/>
            <a:ext cx="2377440" cy="548640"/>
          </a:xfrm>
          <a:prstGeom prst="rect">
            <a:avLst/>
          </a:prstGeom>
          <a:noFill/>
          <a:ln/>
        </p:spPr>
        <p:txBody>
          <a:bodyPr wrap="square" lIns="0" tIns="0" rIns="0" bIns="0" rtlCol="0" anchor="ctr"/>
          <a:lstStyle/>
          <a:p>
            <a:pPr marL="0" indent="0">
              <a:buNone/>
            </a:pPr>
            <a:r>
              <a:rPr lang="en-US" sz="1350" b="1" dirty="0">
                <a:solidFill>
                  <a:srgbClr val="18231F"/>
                </a:solidFill>
                <a:latin typeface="Cambria" pitchFamily="34" charset="0"/>
                <a:ea typeface="Cambria" pitchFamily="34" charset="-122"/>
                <a:cs typeface="Cambria" pitchFamily="34" charset="-120"/>
              </a:rPr>
              <a:t>Telephony &amp; Voice AI</a:t>
            </a:r>
            <a:endParaRPr lang="en-US" sz="1350" dirty="0"/>
          </a:p>
        </p:txBody>
      </p:sp>
      <p:sp>
        <p:nvSpPr>
          <p:cNvPr id="8" name="Text 5"/>
          <p:cNvSpPr/>
          <p:nvPr/>
        </p:nvSpPr>
        <p:spPr>
          <a:xfrm>
            <a:off x="804672" y="2834640"/>
            <a:ext cx="3063240" cy="1188720"/>
          </a:xfrm>
          <a:prstGeom prst="rect">
            <a:avLst/>
          </a:prstGeom>
          <a:noFill/>
          <a:ln/>
        </p:spPr>
        <p:txBody>
          <a:bodyPr wrap="square" lIns="0" tIns="0" rIns="0" bIns="0" rtlCol="0" anchor="ctr"/>
          <a:lstStyle/>
          <a:p>
            <a:pPr marL="0" indent="0">
              <a:lnSpc>
                <a:spcPct val="135000"/>
              </a:lnSpc>
              <a:buNone/>
            </a:pPr>
            <a:r>
              <a:rPr lang="en-US" sz="1050" dirty="0">
                <a:solidFill>
                  <a:srgbClr val="55645C"/>
                </a:solidFill>
                <a:latin typeface="Calibri" pitchFamily="34" charset="0"/>
                <a:ea typeface="Calibri" pitchFamily="34" charset="-122"/>
                <a:cs typeface="Calibri" pitchFamily="34" charset="-120"/>
              </a:rPr>
              <a:t>Vobiz.ai PSTN Hotline</a:t>
            </a:r>
            <a:endParaRPr lang="en-US" sz="1050" dirty="0"/>
          </a:p>
          <a:p>
            <a:pPr marL="0" indent="0">
              <a:lnSpc>
                <a:spcPct val="135000"/>
              </a:lnSpc>
              <a:buNone/>
            </a:pPr>
            <a:r>
              <a:rPr lang="en-US" sz="1050" dirty="0">
                <a:solidFill>
                  <a:srgbClr val="55645C"/>
                </a:solidFill>
                <a:latin typeface="Calibri" pitchFamily="34" charset="0"/>
                <a:ea typeface="Calibri" pitchFamily="34" charset="-122"/>
                <a:cs typeface="Calibri" pitchFamily="34" charset="-120"/>
              </a:rPr>
              <a:t>SnapServe.ai Agent Platform</a:t>
            </a:r>
            <a:endParaRPr lang="en-US" sz="1050" dirty="0"/>
          </a:p>
          <a:p>
            <a:pPr marL="0" indent="0">
              <a:lnSpc>
                <a:spcPct val="135000"/>
              </a:lnSpc>
              <a:buNone/>
            </a:pPr>
            <a:r>
              <a:rPr lang="en-US" sz="1050" dirty="0">
                <a:solidFill>
                  <a:srgbClr val="55645C"/>
                </a:solidFill>
                <a:latin typeface="Calibri" pitchFamily="34" charset="0"/>
                <a:ea typeface="Calibri" pitchFamily="34" charset="-122"/>
                <a:cs typeface="Calibri" pitchFamily="34" charset="-120"/>
              </a:rPr>
              <a:t>Sarvam AI Indic STT/TTS</a:t>
            </a:r>
            <a:endParaRPr lang="en-US" sz="1050" dirty="0"/>
          </a:p>
        </p:txBody>
      </p:sp>
      <p:sp>
        <p:nvSpPr>
          <p:cNvPr id="9" name="Shape 6"/>
          <p:cNvSpPr/>
          <p:nvPr/>
        </p:nvSpPr>
        <p:spPr>
          <a:xfrm>
            <a:off x="4297680" y="1828800"/>
            <a:ext cx="3566160" cy="2286000"/>
          </a:xfrm>
          <a:prstGeom prst="roundRect">
            <a:avLst>
              <a:gd name="adj" fmla="val 3600"/>
            </a:avLst>
          </a:prstGeom>
          <a:solidFill>
            <a:srgbClr val="FFFFFF"/>
          </a:solidFill>
          <a:ln w="12700">
            <a:solidFill>
              <a:srgbClr val="E1DFD3"/>
            </a:solidFill>
            <a:prstDash val="solid"/>
          </a:ln>
        </p:spPr>
      </p:sp>
      <p:sp>
        <p:nvSpPr>
          <p:cNvPr id="10" name="Shape 7"/>
          <p:cNvSpPr/>
          <p:nvPr/>
        </p:nvSpPr>
        <p:spPr>
          <a:xfrm>
            <a:off x="4553712" y="2084832"/>
            <a:ext cx="594360" cy="594360"/>
          </a:xfrm>
          <a:prstGeom prst="ellipse">
            <a:avLst/>
          </a:prstGeom>
          <a:solidFill>
            <a:srgbClr val="13322A"/>
          </a:solidFill>
          <a:ln/>
        </p:spPr>
      </p:sp>
      <p:pic>
        <p:nvPicPr>
          <p:cNvPr id="11" name="Image 1" descr="/home/claude/work/icons/server.png"/>
          <p:cNvPicPr>
            <a:picLocks noChangeAspect="1"/>
          </p:cNvPicPr>
          <p:nvPr/>
        </p:nvPicPr>
        <p:blipFill>
          <a:blip r:embed="rId4"/>
          <a:stretch>
            <a:fillRect/>
          </a:stretch>
        </p:blipFill>
        <p:spPr>
          <a:xfrm>
            <a:off x="4636922" y="2168042"/>
            <a:ext cx="427939" cy="427939"/>
          </a:xfrm>
          <a:prstGeom prst="rect">
            <a:avLst/>
          </a:prstGeom>
        </p:spPr>
      </p:pic>
      <p:sp>
        <p:nvSpPr>
          <p:cNvPr id="12" name="Text 8"/>
          <p:cNvSpPr/>
          <p:nvPr/>
        </p:nvSpPr>
        <p:spPr>
          <a:xfrm>
            <a:off x="5257800" y="2103120"/>
            <a:ext cx="2377440" cy="548640"/>
          </a:xfrm>
          <a:prstGeom prst="rect">
            <a:avLst/>
          </a:prstGeom>
          <a:noFill/>
          <a:ln/>
        </p:spPr>
        <p:txBody>
          <a:bodyPr wrap="square" lIns="0" tIns="0" rIns="0" bIns="0" rtlCol="0" anchor="ctr"/>
          <a:lstStyle/>
          <a:p>
            <a:pPr marL="0" indent="0">
              <a:buNone/>
            </a:pPr>
            <a:r>
              <a:rPr lang="en-US" sz="1350" b="1" dirty="0">
                <a:solidFill>
                  <a:srgbClr val="18231F"/>
                </a:solidFill>
                <a:latin typeface="Cambria" pitchFamily="34" charset="0"/>
                <a:ea typeface="Cambria" pitchFamily="34" charset="-122"/>
                <a:cs typeface="Cambria" pitchFamily="34" charset="-120"/>
              </a:rPr>
              <a:t>Backend &amp; AI Engine</a:t>
            </a:r>
            <a:endParaRPr lang="en-US" sz="1350" dirty="0"/>
          </a:p>
        </p:txBody>
      </p:sp>
      <p:sp>
        <p:nvSpPr>
          <p:cNvPr id="13" name="Text 9"/>
          <p:cNvSpPr/>
          <p:nvPr/>
        </p:nvSpPr>
        <p:spPr>
          <a:xfrm>
            <a:off x="4553712" y="2834640"/>
            <a:ext cx="3063240" cy="1188720"/>
          </a:xfrm>
          <a:prstGeom prst="rect">
            <a:avLst/>
          </a:prstGeom>
          <a:noFill/>
          <a:ln/>
        </p:spPr>
        <p:txBody>
          <a:bodyPr wrap="square" lIns="0" tIns="0" rIns="0" bIns="0" rtlCol="0" anchor="ctr"/>
          <a:lstStyle/>
          <a:p>
            <a:pPr marL="0" indent="0">
              <a:lnSpc>
                <a:spcPct val="135000"/>
              </a:lnSpc>
              <a:buNone/>
            </a:pPr>
            <a:r>
              <a:rPr lang="en-US" sz="1050" dirty="0">
                <a:solidFill>
                  <a:srgbClr val="55645C"/>
                </a:solidFill>
                <a:latin typeface="Calibri" pitchFamily="34" charset="0"/>
                <a:ea typeface="Calibri" pitchFamily="34" charset="-122"/>
                <a:cs typeface="Calibri" pitchFamily="34" charset="-120"/>
              </a:rPr>
              <a:t>FastAPI · Python 3.11</a:t>
            </a:r>
            <a:endParaRPr lang="en-US" sz="1050" dirty="0"/>
          </a:p>
          <a:p>
            <a:pPr marL="0" indent="0">
              <a:lnSpc>
                <a:spcPct val="135000"/>
              </a:lnSpc>
              <a:buNone/>
            </a:pPr>
            <a:r>
              <a:rPr lang="en-US" sz="1050" dirty="0">
                <a:solidFill>
                  <a:srgbClr val="55645C"/>
                </a:solidFill>
                <a:latin typeface="Calibri" pitchFamily="34" charset="0"/>
                <a:ea typeface="Calibri" pitchFamily="34" charset="-122"/>
                <a:cs typeface="Calibri" pitchFamily="34" charset="-120"/>
              </a:rPr>
              <a:t>LiteLLM / Groq (Llama 3.3 70B)</a:t>
            </a:r>
            <a:endParaRPr lang="en-US" sz="1050" dirty="0"/>
          </a:p>
          <a:p>
            <a:pPr marL="0" indent="0">
              <a:lnSpc>
                <a:spcPct val="135000"/>
              </a:lnSpc>
              <a:buNone/>
            </a:pPr>
            <a:r>
              <a:rPr lang="en-US" sz="1050" dirty="0">
                <a:solidFill>
                  <a:srgbClr val="55645C"/>
                </a:solidFill>
                <a:latin typeface="Calibri" pitchFamily="34" charset="0"/>
                <a:ea typeface="Calibri" pitchFamily="34" charset="-122"/>
                <a:cs typeface="Calibri" pitchFamily="34" charset="-120"/>
              </a:rPr>
              <a:t>Mistral AI · WeatherAPI</a:t>
            </a:r>
            <a:endParaRPr lang="en-US" sz="1050" dirty="0"/>
          </a:p>
        </p:txBody>
      </p:sp>
      <p:sp>
        <p:nvSpPr>
          <p:cNvPr id="14" name="Shape 10"/>
          <p:cNvSpPr/>
          <p:nvPr/>
        </p:nvSpPr>
        <p:spPr>
          <a:xfrm>
            <a:off x="8046720" y="1828800"/>
            <a:ext cx="3566160" cy="2286000"/>
          </a:xfrm>
          <a:prstGeom prst="roundRect">
            <a:avLst>
              <a:gd name="adj" fmla="val 3600"/>
            </a:avLst>
          </a:prstGeom>
          <a:solidFill>
            <a:srgbClr val="FFFFFF"/>
          </a:solidFill>
          <a:ln w="12700">
            <a:solidFill>
              <a:srgbClr val="E1DFD3"/>
            </a:solidFill>
            <a:prstDash val="solid"/>
          </a:ln>
        </p:spPr>
      </p:sp>
      <p:sp>
        <p:nvSpPr>
          <p:cNvPr id="15" name="Shape 11"/>
          <p:cNvSpPr/>
          <p:nvPr/>
        </p:nvSpPr>
        <p:spPr>
          <a:xfrm>
            <a:off x="8302752" y="2084832"/>
            <a:ext cx="594360" cy="594360"/>
          </a:xfrm>
          <a:prstGeom prst="ellipse">
            <a:avLst/>
          </a:prstGeom>
          <a:solidFill>
            <a:srgbClr val="13322A"/>
          </a:solidFill>
          <a:ln/>
        </p:spPr>
      </p:sp>
      <p:pic>
        <p:nvPicPr>
          <p:cNvPr id="16" name="Image 2" descr="/home/claude/work/icons/react_logo.png"/>
          <p:cNvPicPr>
            <a:picLocks noChangeAspect="1"/>
          </p:cNvPicPr>
          <p:nvPr/>
        </p:nvPicPr>
        <p:blipFill>
          <a:blip r:embed="rId5"/>
          <a:stretch>
            <a:fillRect/>
          </a:stretch>
        </p:blipFill>
        <p:spPr>
          <a:xfrm>
            <a:off x="8385962" y="2168042"/>
            <a:ext cx="427939" cy="427939"/>
          </a:xfrm>
          <a:prstGeom prst="rect">
            <a:avLst/>
          </a:prstGeom>
        </p:spPr>
      </p:pic>
      <p:sp>
        <p:nvSpPr>
          <p:cNvPr id="17" name="Text 12"/>
          <p:cNvSpPr/>
          <p:nvPr/>
        </p:nvSpPr>
        <p:spPr>
          <a:xfrm>
            <a:off x="9006840" y="2103120"/>
            <a:ext cx="2377440" cy="548640"/>
          </a:xfrm>
          <a:prstGeom prst="rect">
            <a:avLst/>
          </a:prstGeom>
          <a:noFill/>
          <a:ln/>
        </p:spPr>
        <p:txBody>
          <a:bodyPr wrap="square" lIns="0" tIns="0" rIns="0" bIns="0" rtlCol="0" anchor="ctr"/>
          <a:lstStyle/>
          <a:p>
            <a:pPr marL="0" indent="0">
              <a:buNone/>
            </a:pPr>
            <a:r>
              <a:rPr lang="en-US" sz="1350" b="1" dirty="0">
                <a:solidFill>
                  <a:srgbClr val="18231F"/>
                </a:solidFill>
                <a:latin typeface="Cambria" pitchFamily="34" charset="0"/>
                <a:ea typeface="Cambria" pitchFamily="34" charset="-122"/>
                <a:cs typeface="Cambria" pitchFamily="34" charset="-120"/>
              </a:rPr>
              <a:t>Frontend &amp; Deployment</a:t>
            </a:r>
            <a:endParaRPr lang="en-US" sz="1350" dirty="0"/>
          </a:p>
        </p:txBody>
      </p:sp>
      <p:sp>
        <p:nvSpPr>
          <p:cNvPr id="18" name="Text 13"/>
          <p:cNvSpPr/>
          <p:nvPr/>
        </p:nvSpPr>
        <p:spPr>
          <a:xfrm>
            <a:off x="8302752" y="2834640"/>
            <a:ext cx="3063240" cy="1188720"/>
          </a:xfrm>
          <a:prstGeom prst="rect">
            <a:avLst/>
          </a:prstGeom>
          <a:noFill/>
          <a:ln/>
        </p:spPr>
        <p:txBody>
          <a:bodyPr wrap="square" lIns="0" tIns="0" rIns="0" bIns="0" rtlCol="0" anchor="ctr"/>
          <a:lstStyle/>
          <a:p>
            <a:pPr marL="0" indent="0">
              <a:lnSpc>
                <a:spcPct val="135000"/>
              </a:lnSpc>
              <a:buNone/>
            </a:pPr>
            <a:r>
              <a:rPr lang="en-US" sz="1050" dirty="0">
                <a:solidFill>
                  <a:srgbClr val="55645C"/>
                </a:solidFill>
                <a:latin typeface="Calibri" pitchFamily="34" charset="0"/>
                <a:ea typeface="Calibri" pitchFamily="34" charset="-122"/>
                <a:cs typeface="Calibri" pitchFamily="34" charset="-120"/>
              </a:rPr>
              <a:t>Responsive Glassmorphic UI</a:t>
            </a:r>
            <a:endParaRPr lang="en-US" sz="1050" dirty="0"/>
          </a:p>
          <a:p>
            <a:pPr marL="0" indent="0">
              <a:lnSpc>
                <a:spcPct val="135000"/>
              </a:lnSpc>
              <a:buNone/>
            </a:pPr>
            <a:r>
              <a:rPr lang="en-US" sz="1050" dirty="0">
                <a:solidFill>
                  <a:srgbClr val="55645C"/>
                </a:solidFill>
                <a:latin typeface="Calibri" pitchFamily="34" charset="0"/>
                <a:ea typeface="Calibri" pitchFamily="34" charset="-122"/>
                <a:cs typeface="Calibri" pitchFamily="34" charset="-120"/>
              </a:rPr>
              <a:t>Vanilla CSS</a:t>
            </a:r>
            <a:endParaRPr lang="en-US" sz="1050" dirty="0"/>
          </a:p>
          <a:p>
            <a:pPr marL="0" indent="0">
              <a:lnSpc>
                <a:spcPct val="135000"/>
              </a:lnSpc>
              <a:buNone/>
            </a:pPr>
            <a:r>
              <a:rPr lang="en-US" sz="1050" dirty="0">
                <a:solidFill>
                  <a:srgbClr val="55645C"/>
                </a:solidFill>
                <a:latin typeface="Calibri" pitchFamily="34" charset="0"/>
                <a:ea typeface="Calibri" pitchFamily="34" charset="-122"/>
                <a:cs typeface="Calibri" pitchFamily="34" charset="-120"/>
              </a:rPr>
              <a:t>Render Cloud Infrastructure</a:t>
            </a:r>
            <a:endParaRPr lang="en-US" sz="1050" dirty="0"/>
          </a:p>
        </p:txBody>
      </p:sp>
      <p:sp>
        <p:nvSpPr>
          <p:cNvPr id="19" name="Shape 14"/>
          <p:cNvSpPr/>
          <p:nvPr/>
        </p:nvSpPr>
        <p:spPr>
          <a:xfrm>
            <a:off x="548640" y="4343400"/>
            <a:ext cx="11064240" cy="1600200"/>
          </a:xfrm>
          <a:prstGeom prst="roundRect">
            <a:avLst>
              <a:gd name="adj" fmla="val 5143"/>
            </a:avLst>
          </a:prstGeom>
          <a:solidFill>
            <a:srgbClr val="13322A"/>
          </a:solidFill>
          <a:ln/>
        </p:spPr>
        <p:txBody>
          <a:bodyPr/>
          <a:lstStyle/>
          <a:p>
            <a:endParaRPr lang="en-IN" dirty="0"/>
          </a:p>
        </p:txBody>
      </p:sp>
      <p:sp>
        <p:nvSpPr>
          <p:cNvPr id="20" name="Shape 15"/>
          <p:cNvSpPr/>
          <p:nvPr/>
        </p:nvSpPr>
        <p:spPr>
          <a:xfrm>
            <a:off x="822960" y="4663440"/>
            <a:ext cx="566928" cy="566928"/>
          </a:xfrm>
          <a:prstGeom prst="ellipse">
            <a:avLst/>
          </a:prstGeom>
          <a:solidFill>
            <a:srgbClr val="D9A441"/>
          </a:solidFill>
          <a:ln/>
        </p:spPr>
      </p:sp>
      <p:pic>
        <p:nvPicPr>
          <p:cNvPr id="21" name="Image 3" descr="/home/claude/work/icons/globe.png"/>
          <p:cNvPicPr>
            <a:picLocks noChangeAspect="1"/>
          </p:cNvPicPr>
          <p:nvPr/>
        </p:nvPicPr>
        <p:blipFill>
          <a:blip r:embed="rId6"/>
          <a:stretch>
            <a:fillRect/>
          </a:stretch>
        </p:blipFill>
        <p:spPr>
          <a:xfrm>
            <a:off x="902330" y="4742810"/>
            <a:ext cx="408188" cy="408188"/>
          </a:xfrm>
          <a:prstGeom prst="rect">
            <a:avLst/>
          </a:prstGeom>
        </p:spPr>
      </p:pic>
      <p:sp>
        <p:nvSpPr>
          <p:cNvPr id="22" name="Text 16"/>
          <p:cNvSpPr/>
          <p:nvPr/>
        </p:nvSpPr>
        <p:spPr>
          <a:xfrm>
            <a:off x="1536192" y="4636008"/>
            <a:ext cx="2697480" cy="256032"/>
          </a:xfrm>
          <a:prstGeom prst="rect">
            <a:avLst/>
          </a:prstGeom>
          <a:noFill/>
          <a:ln/>
        </p:spPr>
        <p:txBody>
          <a:bodyPr wrap="square" rtlCol="0" anchor="ctr"/>
          <a:lstStyle/>
          <a:p>
            <a:pPr marL="0" indent="0">
              <a:buNone/>
            </a:pPr>
            <a:r>
              <a:rPr lang="en-US" sz="950" b="1" kern="0" spc="100" dirty="0">
                <a:solidFill>
                  <a:srgbClr val="B9C9BF"/>
                </a:solidFill>
                <a:latin typeface="Calibri" pitchFamily="34" charset="0"/>
                <a:ea typeface="Calibri" pitchFamily="34" charset="-122"/>
                <a:cs typeface="Calibri" pitchFamily="34" charset="-120"/>
              </a:rPr>
              <a:t>LIVE WEB</a:t>
            </a:r>
            <a:endParaRPr lang="en-US" sz="950" dirty="0"/>
          </a:p>
        </p:txBody>
      </p:sp>
      <p:sp>
        <p:nvSpPr>
          <p:cNvPr id="23" name="Text 17"/>
          <p:cNvSpPr/>
          <p:nvPr/>
        </p:nvSpPr>
        <p:spPr>
          <a:xfrm>
            <a:off x="1536192" y="4892040"/>
            <a:ext cx="269748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stellaragri.site</a:t>
            </a:r>
            <a:endParaRPr lang="en-US" sz="1400" dirty="0"/>
          </a:p>
        </p:txBody>
      </p:sp>
      <p:sp>
        <p:nvSpPr>
          <p:cNvPr id="24" name="Shape 18"/>
          <p:cNvSpPr/>
          <p:nvPr/>
        </p:nvSpPr>
        <p:spPr>
          <a:xfrm>
            <a:off x="4480560" y="4663440"/>
            <a:ext cx="566928" cy="566928"/>
          </a:xfrm>
          <a:prstGeom prst="ellipse">
            <a:avLst/>
          </a:prstGeom>
          <a:solidFill>
            <a:srgbClr val="D9A441"/>
          </a:solidFill>
          <a:ln/>
        </p:spPr>
      </p:sp>
      <p:pic>
        <p:nvPicPr>
          <p:cNvPr id="25" name="Image 4" descr="/home/claude/work/icons/gauge.png"/>
          <p:cNvPicPr>
            <a:picLocks noChangeAspect="1"/>
          </p:cNvPicPr>
          <p:nvPr/>
        </p:nvPicPr>
        <p:blipFill>
          <a:blip r:embed="rId7"/>
          <a:stretch>
            <a:fillRect/>
          </a:stretch>
        </p:blipFill>
        <p:spPr>
          <a:xfrm>
            <a:off x="4559930" y="4742810"/>
            <a:ext cx="408188" cy="408188"/>
          </a:xfrm>
          <a:prstGeom prst="rect">
            <a:avLst/>
          </a:prstGeom>
        </p:spPr>
      </p:pic>
      <p:sp>
        <p:nvSpPr>
          <p:cNvPr id="26" name="Text 19"/>
          <p:cNvSpPr/>
          <p:nvPr/>
        </p:nvSpPr>
        <p:spPr>
          <a:xfrm>
            <a:off x="5193792" y="4636008"/>
            <a:ext cx="2697480" cy="256032"/>
          </a:xfrm>
          <a:prstGeom prst="rect">
            <a:avLst/>
          </a:prstGeom>
          <a:noFill/>
          <a:ln/>
        </p:spPr>
        <p:txBody>
          <a:bodyPr wrap="square" rtlCol="0" anchor="ctr"/>
          <a:lstStyle/>
          <a:p>
            <a:pPr marL="0" indent="0">
              <a:buNone/>
            </a:pPr>
            <a:r>
              <a:rPr lang="en-US" sz="950" b="1" kern="0" spc="100" dirty="0">
                <a:solidFill>
                  <a:srgbClr val="B9C9BF"/>
                </a:solidFill>
                <a:latin typeface="Calibri" pitchFamily="34" charset="0"/>
                <a:ea typeface="Calibri" pitchFamily="34" charset="-122"/>
                <a:cs typeface="Calibri" pitchFamily="34" charset="-120"/>
              </a:rPr>
              <a:t>LIVE ADMIN</a:t>
            </a:r>
            <a:endParaRPr lang="en-US" sz="950" dirty="0"/>
          </a:p>
        </p:txBody>
      </p:sp>
      <p:sp>
        <p:nvSpPr>
          <p:cNvPr id="27" name="Text 20"/>
          <p:cNvSpPr/>
          <p:nvPr/>
        </p:nvSpPr>
        <p:spPr>
          <a:xfrm>
            <a:off x="5193792" y="4892040"/>
            <a:ext cx="269748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stellaragri.site/admin</a:t>
            </a:r>
            <a:endParaRPr lang="en-US" sz="1400" dirty="0"/>
          </a:p>
        </p:txBody>
      </p:sp>
      <p:sp>
        <p:nvSpPr>
          <p:cNvPr id="28" name="Shape 21"/>
          <p:cNvSpPr/>
          <p:nvPr/>
        </p:nvSpPr>
        <p:spPr>
          <a:xfrm>
            <a:off x="8138160" y="4663440"/>
            <a:ext cx="566928" cy="566928"/>
          </a:xfrm>
          <a:prstGeom prst="ellipse">
            <a:avLst/>
          </a:prstGeom>
          <a:solidFill>
            <a:srgbClr val="D9A441"/>
          </a:solidFill>
          <a:ln/>
        </p:spPr>
      </p:sp>
      <p:pic>
        <p:nvPicPr>
          <p:cNvPr id="29" name="Image 5" descr="/home/claude/work/icons/phone.png"/>
          <p:cNvPicPr>
            <a:picLocks noChangeAspect="1"/>
          </p:cNvPicPr>
          <p:nvPr/>
        </p:nvPicPr>
        <p:blipFill>
          <a:blip r:embed="rId3"/>
          <a:stretch>
            <a:fillRect/>
          </a:stretch>
        </p:blipFill>
        <p:spPr>
          <a:xfrm>
            <a:off x="8217530" y="4742810"/>
            <a:ext cx="408188" cy="408188"/>
          </a:xfrm>
          <a:prstGeom prst="rect">
            <a:avLst/>
          </a:prstGeom>
        </p:spPr>
      </p:pic>
      <p:sp>
        <p:nvSpPr>
          <p:cNvPr id="30" name="Text 22"/>
          <p:cNvSpPr/>
          <p:nvPr/>
        </p:nvSpPr>
        <p:spPr>
          <a:xfrm>
            <a:off x="8851392" y="4636008"/>
            <a:ext cx="2697480" cy="256032"/>
          </a:xfrm>
          <a:prstGeom prst="rect">
            <a:avLst/>
          </a:prstGeom>
          <a:noFill/>
          <a:ln/>
        </p:spPr>
        <p:txBody>
          <a:bodyPr wrap="square" rtlCol="0" anchor="ctr"/>
          <a:lstStyle/>
          <a:p>
            <a:pPr marL="0" indent="0">
              <a:buNone/>
            </a:pPr>
            <a:r>
              <a:rPr lang="en-US" sz="950" b="1" kern="0" spc="100" dirty="0">
                <a:solidFill>
                  <a:srgbClr val="B9C9BF"/>
                </a:solidFill>
                <a:latin typeface="Calibri" pitchFamily="34" charset="0"/>
                <a:ea typeface="Calibri" pitchFamily="34" charset="-122"/>
                <a:cs typeface="Calibri" pitchFamily="34" charset="-120"/>
              </a:rPr>
              <a:t>LIVE HOTLINE</a:t>
            </a:r>
            <a:endParaRPr lang="en-US" sz="950" dirty="0"/>
          </a:p>
        </p:txBody>
      </p:sp>
      <p:sp>
        <p:nvSpPr>
          <p:cNvPr id="31" name="Text 23"/>
          <p:cNvSpPr/>
          <p:nvPr/>
        </p:nvSpPr>
        <p:spPr>
          <a:xfrm>
            <a:off x="8851392" y="4892040"/>
            <a:ext cx="269748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+91 80715 81407</a:t>
            </a:r>
            <a:endParaRPr lang="en-US" sz="1400" dirty="0"/>
          </a:p>
        </p:txBody>
      </p:sp>
      <p:sp>
        <p:nvSpPr>
          <p:cNvPr id="33" name="Text 25"/>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34" name="Text 26"/>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Existing problems in agriculture</a:t>
            </a:r>
            <a:endParaRPr lang="en-US" sz="2800" dirty="0"/>
          </a:p>
        </p:txBody>
      </p:sp>
      <p:sp>
        <p:nvSpPr>
          <p:cNvPr id="4" name="Text 2"/>
          <p:cNvSpPr/>
          <p:nvPr/>
        </p:nvSpPr>
        <p:spPr>
          <a:xfrm>
            <a:off x="548640" y="1371600"/>
            <a:ext cx="10058400" cy="365760"/>
          </a:xfrm>
          <a:prstGeom prst="rect">
            <a:avLst/>
          </a:prstGeom>
          <a:noFill/>
          <a:ln/>
        </p:spPr>
        <p:txBody>
          <a:bodyPr wrap="square" rtlCol="0" anchor="ctr"/>
          <a:lstStyle/>
          <a:p>
            <a:pPr marL="0" indent="0">
              <a:buNone/>
            </a:pPr>
            <a:r>
              <a:rPr lang="en-US" sz="1300" i="1" dirty="0">
                <a:solidFill>
                  <a:srgbClr val="55645C"/>
                </a:solidFill>
                <a:latin typeface="Calibri" pitchFamily="34" charset="0"/>
                <a:ea typeface="Calibri" pitchFamily="34" charset="-122"/>
                <a:cs typeface="Calibri" pitchFamily="34" charset="-120"/>
              </a:rPr>
              <a:t>Farmers face several challenges while making farming decisions.</a:t>
            </a:r>
            <a:endParaRPr lang="en-US" sz="1300" dirty="0"/>
          </a:p>
        </p:txBody>
      </p:sp>
      <p:sp>
        <p:nvSpPr>
          <p:cNvPr id="5" name="Shape 3"/>
          <p:cNvSpPr/>
          <p:nvPr/>
        </p:nvSpPr>
        <p:spPr>
          <a:xfrm>
            <a:off x="548640" y="1783080"/>
            <a:ext cx="5394960" cy="3429000"/>
          </a:xfrm>
          <a:prstGeom prst="roundRect">
            <a:avLst>
              <a:gd name="adj" fmla="val 2400"/>
            </a:avLst>
          </a:prstGeom>
          <a:solidFill>
            <a:srgbClr val="FFFFFF"/>
          </a:solidFill>
          <a:ln w="12700">
            <a:solidFill>
              <a:srgbClr val="E1DFD3"/>
            </a:solidFill>
            <a:prstDash val="solid"/>
          </a:ln>
        </p:spPr>
      </p:sp>
      <p:sp>
        <p:nvSpPr>
          <p:cNvPr id="6" name="Text 4"/>
          <p:cNvSpPr/>
          <p:nvPr/>
        </p:nvSpPr>
        <p:spPr>
          <a:xfrm>
            <a:off x="868680" y="1984248"/>
            <a:ext cx="4754880" cy="292608"/>
          </a:xfrm>
          <a:prstGeom prst="rect">
            <a:avLst/>
          </a:prstGeom>
          <a:noFill/>
          <a:ln/>
        </p:spPr>
        <p:txBody>
          <a:bodyPr wrap="square" rtlCol="0" anchor="ctr"/>
          <a:lstStyle/>
          <a:p>
            <a:pPr marL="0" indent="0">
              <a:buNone/>
            </a:pPr>
            <a:r>
              <a:rPr lang="en-US" sz="1200" b="1" kern="0" spc="150" dirty="0">
                <a:solidFill>
                  <a:srgbClr val="4C7A5E"/>
                </a:solidFill>
                <a:latin typeface="Calibri" pitchFamily="34" charset="0"/>
                <a:ea typeface="Calibri" pitchFamily="34" charset="-122"/>
                <a:cs typeface="Calibri" pitchFamily="34" charset="-120"/>
              </a:rPr>
              <a:t>PROBLEMS</a:t>
            </a:r>
            <a:endParaRPr lang="en-US" sz="1200" dirty="0"/>
          </a:p>
        </p:txBody>
      </p:sp>
      <p:sp>
        <p:nvSpPr>
          <p:cNvPr id="7" name="Shape 5"/>
          <p:cNvSpPr/>
          <p:nvPr/>
        </p:nvSpPr>
        <p:spPr>
          <a:xfrm>
            <a:off x="868680" y="2468880"/>
            <a:ext cx="82296" cy="82296"/>
          </a:xfrm>
          <a:prstGeom prst="ellipse">
            <a:avLst/>
          </a:prstGeom>
          <a:solidFill>
            <a:srgbClr val="D9A441"/>
          </a:solidFill>
          <a:ln/>
        </p:spPr>
      </p:sp>
      <p:sp>
        <p:nvSpPr>
          <p:cNvPr id="8" name="Text 6"/>
          <p:cNvSpPr/>
          <p:nvPr/>
        </p:nvSpPr>
        <p:spPr>
          <a:xfrm>
            <a:off x="1097280" y="2331720"/>
            <a:ext cx="45262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Lack of expert agricultural guidance</a:t>
            </a:r>
            <a:endParaRPr lang="en-US" sz="1250" dirty="0"/>
          </a:p>
        </p:txBody>
      </p:sp>
      <p:sp>
        <p:nvSpPr>
          <p:cNvPr id="9" name="Shape 7"/>
          <p:cNvSpPr/>
          <p:nvPr/>
        </p:nvSpPr>
        <p:spPr>
          <a:xfrm>
            <a:off x="868680" y="2834640"/>
            <a:ext cx="82296" cy="82296"/>
          </a:xfrm>
          <a:prstGeom prst="ellipse">
            <a:avLst/>
          </a:prstGeom>
          <a:solidFill>
            <a:srgbClr val="D9A441"/>
          </a:solidFill>
          <a:ln/>
        </p:spPr>
      </p:sp>
      <p:sp>
        <p:nvSpPr>
          <p:cNvPr id="10" name="Text 8"/>
          <p:cNvSpPr/>
          <p:nvPr/>
        </p:nvSpPr>
        <p:spPr>
          <a:xfrm>
            <a:off x="1097280" y="2697480"/>
            <a:ext cx="45262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Incorrect crop selection</a:t>
            </a:r>
            <a:endParaRPr lang="en-US" sz="1250" dirty="0"/>
          </a:p>
        </p:txBody>
      </p:sp>
      <p:sp>
        <p:nvSpPr>
          <p:cNvPr id="11" name="Shape 9"/>
          <p:cNvSpPr/>
          <p:nvPr/>
        </p:nvSpPr>
        <p:spPr>
          <a:xfrm>
            <a:off x="868680" y="3200400"/>
            <a:ext cx="82296" cy="82296"/>
          </a:xfrm>
          <a:prstGeom prst="ellipse">
            <a:avLst/>
          </a:prstGeom>
          <a:solidFill>
            <a:srgbClr val="D9A441"/>
          </a:solidFill>
          <a:ln/>
        </p:spPr>
      </p:sp>
      <p:sp>
        <p:nvSpPr>
          <p:cNvPr id="12" name="Text 10"/>
          <p:cNvSpPr/>
          <p:nvPr/>
        </p:nvSpPr>
        <p:spPr>
          <a:xfrm>
            <a:off x="1097280" y="3063240"/>
            <a:ext cx="45262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Improper fertilizer usage</a:t>
            </a:r>
            <a:endParaRPr lang="en-US" sz="1250" dirty="0"/>
          </a:p>
        </p:txBody>
      </p:sp>
      <p:sp>
        <p:nvSpPr>
          <p:cNvPr id="13" name="Shape 11"/>
          <p:cNvSpPr/>
          <p:nvPr/>
        </p:nvSpPr>
        <p:spPr>
          <a:xfrm>
            <a:off x="868680" y="3566160"/>
            <a:ext cx="82296" cy="82296"/>
          </a:xfrm>
          <a:prstGeom prst="ellipse">
            <a:avLst/>
          </a:prstGeom>
          <a:solidFill>
            <a:srgbClr val="D9A441"/>
          </a:solidFill>
          <a:ln/>
        </p:spPr>
      </p:sp>
      <p:sp>
        <p:nvSpPr>
          <p:cNvPr id="14" name="Text 12"/>
          <p:cNvSpPr/>
          <p:nvPr/>
        </p:nvSpPr>
        <p:spPr>
          <a:xfrm>
            <a:off x="1097280" y="3429000"/>
            <a:ext cx="45262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Late disease identification</a:t>
            </a:r>
            <a:endParaRPr lang="en-US" sz="1250" dirty="0"/>
          </a:p>
        </p:txBody>
      </p:sp>
      <p:sp>
        <p:nvSpPr>
          <p:cNvPr id="15" name="Shape 13"/>
          <p:cNvSpPr/>
          <p:nvPr/>
        </p:nvSpPr>
        <p:spPr>
          <a:xfrm>
            <a:off x="868680" y="3931920"/>
            <a:ext cx="82296" cy="82296"/>
          </a:xfrm>
          <a:prstGeom prst="ellipse">
            <a:avLst/>
          </a:prstGeom>
          <a:solidFill>
            <a:srgbClr val="D9A441"/>
          </a:solidFill>
          <a:ln/>
        </p:spPr>
      </p:sp>
      <p:sp>
        <p:nvSpPr>
          <p:cNvPr id="16" name="Text 14"/>
          <p:cNvSpPr/>
          <p:nvPr/>
        </p:nvSpPr>
        <p:spPr>
          <a:xfrm>
            <a:off x="1097280" y="3794760"/>
            <a:ext cx="45262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Pest attacks causing crop loss</a:t>
            </a:r>
            <a:endParaRPr lang="en-US" sz="1250" dirty="0"/>
          </a:p>
        </p:txBody>
      </p:sp>
      <p:sp>
        <p:nvSpPr>
          <p:cNvPr id="17" name="Shape 15"/>
          <p:cNvSpPr/>
          <p:nvPr/>
        </p:nvSpPr>
        <p:spPr>
          <a:xfrm>
            <a:off x="868680" y="4297680"/>
            <a:ext cx="82296" cy="82296"/>
          </a:xfrm>
          <a:prstGeom prst="ellipse">
            <a:avLst/>
          </a:prstGeom>
          <a:solidFill>
            <a:srgbClr val="D9A441"/>
          </a:solidFill>
          <a:ln/>
        </p:spPr>
      </p:sp>
      <p:sp>
        <p:nvSpPr>
          <p:cNvPr id="18" name="Text 16"/>
          <p:cNvSpPr/>
          <p:nvPr/>
        </p:nvSpPr>
        <p:spPr>
          <a:xfrm>
            <a:off x="1097280" y="4160520"/>
            <a:ext cx="45262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Weather uncertainty</a:t>
            </a:r>
            <a:endParaRPr lang="en-US" sz="1250" dirty="0"/>
          </a:p>
        </p:txBody>
      </p:sp>
      <p:sp>
        <p:nvSpPr>
          <p:cNvPr id="19" name="Shape 17"/>
          <p:cNvSpPr/>
          <p:nvPr/>
        </p:nvSpPr>
        <p:spPr>
          <a:xfrm>
            <a:off x="868680" y="4663440"/>
            <a:ext cx="82296" cy="82296"/>
          </a:xfrm>
          <a:prstGeom prst="ellipse">
            <a:avLst/>
          </a:prstGeom>
          <a:solidFill>
            <a:srgbClr val="D9A441"/>
          </a:solidFill>
          <a:ln/>
        </p:spPr>
      </p:sp>
      <p:sp>
        <p:nvSpPr>
          <p:cNvPr id="20" name="Text 18"/>
          <p:cNvSpPr/>
          <p:nvPr/>
        </p:nvSpPr>
        <p:spPr>
          <a:xfrm>
            <a:off x="1097280" y="4526280"/>
            <a:ext cx="45262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Market price fluctuations</a:t>
            </a:r>
            <a:endParaRPr lang="en-US" sz="1250" dirty="0"/>
          </a:p>
        </p:txBody>
      </p:sp>
      <p:sp>
        <p:nvSpPr>
          <p:cNvPr id="21" name="Shape 19"/>
          <p:cNvSpPr/>
          <p:nvPr/>
        </p:nvSpPr>
        <p:spPr>
          <a:xfrm>
            <a:off x="6172200" y="1783080"/>
            <a:ext cx="5394960" cy="3429000"/>
          </a:xfrm>
          <a:prstGeom prst="roundRect">
            <a:avLst>
              <a:gd name="adj" fmla="val 2400"/>
            </a:avLst>
          </a:prstGeom>
          <a:solidFill>
            <a:srgbClr val="FFFFFF"/>
          </a:solidFill>
          <a:ln w="12700">
            <a:solidFill>
              <a:srgbClr val="E1DFD3"/>
            </a:solidFill>
            <a:prstDash val="solid"/>
          </a:ln>
        </p:spPr>
      </p:sp>
      <p:sp>
        <p:nvSpPr>
          <p:cNvPr id="22" name="Text 20"/>
          <p:cNvSpPr/>
          <p:nvPr/>
        </p:nvSpPr>
        <p:spPr>
          <a:xfrm>
            <a:off x="6492240" y="1984248"/>
            <a:ext cx="4754880" cy="292608"/>
          </a:xfrm>
          <a:prstGeom prst="rect">
            <a:avLst/>
          </a:prstGeom>
          <a:noFill/>
          <a:ln/>
        </p:spPr>
        <p:txBody>
          <a:bodyPr wrap="square" rtlCol="0" anchor="ctr"/>
          <a:lstStyle/>
          <a:p>
            <a:pPr marL="0" indent="0">
              <a:buNone/>
            </a:pPr>
            <a:r>
              <a:rPr lang="en-US" sz="1200" b="1" kern="0" spc="150" dirty="0">
                <a:solidFill>
                  <a:srgbClr val="4C7A5E"/>
                </a:solidFill>
                <a:latin typeface="Calibri" pitchFamily="34" charset="0"/>
                <a:ea typeface="Calibri" pitchFamily="34" charset="-122"/>
                <a:cs typeface="Calibri" pitchFamily="34" charset="-120"/>
              </a:rPr>
              <a:t>CHALLENGES</a:t>
            </a:r>
            <a:endParaRPr lang="en-US" sz="1200" dirty="0"/>
          </a:p>
        </p:txBody>
      </p:sp>
      <p:sp>
        <p:nvSpPr>
          <p:cNvPr id="23" name="Shape 21"/>
          <p:cNvSpPr/>
          <p:nvPr/>
        </p:nvSpPr>
        <p:spPr>
          <a:xfrm>
            <a:off x="6492240" y="2468880"/>
            <a:ext cx="82296" cy="82296"/>
          </a:xfrm>
          <a:prstGeom prst="ellipse">
            <a:avLst/>
          </a:prstGeom>
          <a:solidFill>
            <a:srgbClr val="D9A441"/>
          </a:solidFill>
          <a:ln/>
        </p:spPr>
      </p:sp>
      <p:sp>
        <p:nvSpPr>
          <p:cNvPr id="24" name="Text 22"/>
          <p:cNvSpPr/>
          <p:nvPr/>
        </p:nvSpPr>
        <p:spPr>
          <a:xfrm>
            <a:off x="6720840" y="2331720"/>
            <a:ext cx="45262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Information scattered across multiple sources</a:t>
            </a:r>
            <a:endParaRPr lang="en-US" sz="1250" dirty="0"/>
          </a:p>
        </p:txBody>
      </p:sp>
      <p:sp>
        <p:nvSpPr>
          <p:cNvPr id="25" name="Shape 23"/>
          <p:cNvSpPr/>
          <p:nvPr/>
        </p:nvSpPr>
        <p:spPr>
          <a:xfrm>
            <a:off x="6492240" y="2834640"/>
            <a:ext cx="82296" cy="82296"/>
          </a:xfrm>
          <a:prstGeom prst="ellipse">
            <a:avLst/>
          </a:prstGeom>
          <a:solidFill>
            <a:srgbClr val="D9A441"/>
          </a:solidFill>
          <a:ln/>
        </p:spPr>
      </p:sp>
      <p:sp>
        <p:nvSpPr>
          <p:cNvPr id="26" name="Text 24"/>
          <p:cNvSpPr/>
          <p:nvPr/>
        </p:nvSpPr>
        <p:spPr>
          <a:xfrm>
            <a:off x="6720840" y="2697480"/>
            <a:ext cx="45262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Farmers depend on local experience</a:t>
            </a:r>
            <a:endParaRPr lang="en-US" sz="1250" dirty="0"/>
          </a:p>
        </p:txBody>
      </p:sp>
      <p:sp>
        <p:nvSpPr>
          <p:cNvPr id="27" name="Shape 25"/>
          <p:cNvSpPr/>
          <p:nvPr/>
        </p:nvSpPr>
        <p:spPr>
          <a:xfrm>
            <a:off x="6492240" y="3200400"/>
            <a:ext cx="82296" cy="82296"/>
          </a:xfrm>
          <a:prstGeom prst="ellipse">
            <a:avLst/>
          </a:prstGeom>
          <a:solidFill>
            <a:srgbClr val="D9A441"/>
          </a:solidFill>
          <a:ln/>
        </p:spPr>
      </p:sp>
      <p:sp>
        <p:nvSpPr>
          <p:cNvPr id="28" name="Text 26"/>
          <p:cNvSpPr/>
          <p:nvPr/>
        </p:nvSpPr>
        <p:spPr>
          <a:xfrm>
            <a:off x="6720840" y="3063240"/>
            <a:ext cx="45262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Agricultural experts are not always available</a:t>
            </a:r>
            <a:endParaRPr lang="en-US" sz="1250" dirty="0"/>
          </a:p>
        </p:txBody>
      </p:sp>
      <p:sp>
        <p:nvSpPr>
          <p:cNvPr id="29" name="Shape 27"/>
          <p:cNvSpPr/>
          <p:nvPr/>
        </p:nvSpPr>
        <p:spPr>
          <a:xfrm>
            <a:off x="6492240" y="3566160"/>
            <a:ext cx="82296" cy="82296"/>
          </a:xfrm>
          <a:prstGeom prst="ellipse">
            <a:avLst/>
          </a:prstGeom>
          <a:solidFill>
            <a:srgbClr val="D9A441"/>
          </a:solidFill>
          <a:ln/>
        </p:spPr>
      </p:sp>
      <p:sp>
        <p:nvSpPr>
          <p:cNvPr id="30" name="Text 28"/>
          <p:cNvSpPr/>
          <p:nvPr/>
        </p:nvSpPr>
        <p:spPr>
          <a:xfrm>
            <a:off x="6720840" y="3429000"/>
            <a:ext cx="45262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Existing chatbots provide generic answers</a:t>
            </a:r>
            <a:endParaRPr lang="en-US" sz="1250" dirty="0"/>
          </a:p>
        </p:txBody>
      </p:sp>
      <p:sp>
        <p:nvSpPr>
          <p:cNvPr id="31" name="Shape 29"/>
          <p:cNvSpPr/>
          <p:nvPr/>
        </p:nvSpPr>
        <p:spPr>
          <a:xfrm>
            <a:off x="6492240" y="3931920"/>
            <a:ext cx="82296" cy="82296"/>
          </a:xfrm>
          <a:prstGeom prst="ellipse">
            <a:avLst/>
          </a:prstGeom>
          <a:solidFill>
            <a:srgbClr val="D9A441"/>
          </a:solidFill>
          <a:ln/>
        </p:spPr>
      </p:sp>
      <p:sp>
        <p:nvSpPr>
          <p:cNvPr id="32" name="Text 30"/>
          <p:cNvSpPr/>
          <p:nvPr/>
        </p:nvSpPr>
        <p:spPr>
          <a:xfrm>
            <a:off x="6720840" y="3794760"/>
            <a:ext cx="45262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Internet information is often unreliable</a:t>
            </a:r>
            <a:endParaRPr lang="en-US" sz="1250" dirty="0"/>
          </a:p>
        </p:txBody>
      </p:sp>
      <p:sp>
        <p:nvSpPr>
          <p:cNvPr id="33" name="Shape 31"/>
          <p:cNvSpPr/>
          <p:nvPr/>
        </p:nvSpPr>
        <p:spPr>
          <a:xfrm>
            <a:off x="548640" y="5394960"/>
            <a:ext cx="11064240" cy="777240"/>
          </a:xfrm>
          <a:prstGeom prst="roundRect">
            <a:avLst>
              <a:gd name="adj" fmla="val 10588"/>
            </a:avLst>
          </a:prstGeom>
          <a:solidFill>
            <a:srgbClr val="13322A"/>
          </a:solidFill>
          <a:ln/>
        </p:spPr>
      </p:sp>
      <p:pic>
        <p:nvPicPr>
          <p:cNvPr id="34" name="Image 0" descr="/home/claude/work/icons/quote.png"/>
          <p:cNvPicPr>
            <a:picLocks noChangeAspect="1"/>
          </p:cNvPicPr>
          <p:nvPr/>
        </p:nvPicPr>
        <p:blipFill>
          <a:blip r:embed="rId3"/>
          <a:stretch>
            <a:fillRect/>
          </a:stretch>
        </p:blipFill>
        <p:spPr>
          <a:xfrm>
            <a:off x="822960" y="5632704"/>
            <a:ext cx="292608" cy="292608"/>
          </a:xfrm>
          <a:prstGeom prst="rect">
            <a:avLst/>
          </a:prstGeom>
        </p:spPr>
      </p:pic>
      <p:sp>
        <p:nvSpPr>
          <p:cNvPr id="35" name="Text 32"/>
          <p:cNvSpPr/>
          <p:nvPr/>
        </p:nvSpPr>
        <p:spPr>
          <a:xfrm>
            <a:off x="1325880" y="5394960"/>
            <a:ext cx="9966960" cy="777240"/>
          </a:xfrm>
          <a:prstGeom prst="rect">
            <a:avLst/>
          </a:prstGeom>
          <a:noFill/>
          <a:ln/>
        </p:spPr>
        <p:txBody>
          <a:bodyPr wrap="square" lIns="0" tIns="0" rIns="0" bIns="0" rtlCol="0" anchor="ctr"/>
          <a:lstStyle/>
          <a:p>
            <a:pPr marL="0" indent="0">
              <a:buNone/>
            </a:pPr>
            <a:r>
              <a:rPr lang="en-US" sz="1400" b="1" i="1" dirty="0">
                <a:solidFill>
                  <a:srgbClr val="F3DFAF"/>
                </a:solidFill>
                <a:latin typeface="Cambria" pitchFamily="34" charset="0"/>
                <a:ea typeface="Cambria" pitchFamily="34" charset="-122"/>
                <a:cs typeface="Cambria" pitchFamily="34" charset="-120"/>
              </a:rPr>
              <a:t>Farmers need a reliable AI assistant that provides personalized, accurate, and context-aware recommendations.</a:t>
            </a:r>
            <a:endParaRPr lang="en-US" sz="1400" dirty="0"/>
          </a:p>
        </p:txBody>
      </p:sp>
      <p:sp>
        <p:nvSpPr>
          <p:cNvPr id="36" name="Text 33"/>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37" name="Text 34"/>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GOALS</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Project objectives</a:t>
            </a:r>
            <a:endParaRPr lang="en-US" sz="2800" dirty="0"/>
          </a:p>
        </p:txBody>
      </p:sp>
      <p:sp>
        <p:nvSpPr>
          <p:cNvPr id="4" name="Text 2"/>
          <p:cNvSpPr/>
          <p:nvPr/>
        </p:nvSpPr>
        <p:spPr>
          <a:xfrm>
            <a:off x="548640" y="1371600"/>
            <a:ext cx="10515600" cy="365760"/>
          </a:xfrm>
          <a:prstGeom prst="rect">
            <a:avLst/>
          </a:prstGeom>
          <a:noFill/>
          <a:ln/>
        </p:spPr>
        <p:txBody>
          <a:bodyPr wrap="square" rtlCol="0" anchor="ctr"/>
          <a:lstStyle/>
          <a:p>
            <a:pPr marL="0" indent="0">
              <a:buNone/>
            </a:pPr>
            <a:r>
              <a:rPr lang="en-US" sz="1300" i="1" dirty="0">
                <a:solidFill>
                  <a:srgbClr val="55645C"/>
                </a:solidFill>
                <a:latin typeface="Calibri" pitchFamily="34" charset="0"/>
                <a:ea typeface="Calibri" pitchFamily="34" charset="-122"/>
                <a:cs typeface="Calibri" pitchFamily="34" charset="-120"/>
              </a:rPr>
              <a:t>Providing intelligent agricultural recommendations using AI and Retrieval-Augmented Generation (RAG).</a:t>
            </a:r>
            <a:endParaRPr lang="en-US" sz="1300" dirty="0"/>
          </a:p>
        </p:txBody>
      </p:sp>
      <p:sp>
        <p:nvSpPr>
          <p:cNvPr id="5" name="Shape 3"/>
          <p:cNvSpPr/>
          <p:nvPr/>
        </p:nvSpPr>
        <p:spPr>
          <a:xfrm>
            <a:off x="548640" y="1965960"/>
            <a:ext cx="3566160" cy="1371600"/>
          </a:xfrm>
          <a:prstGeom prst="roundRect">
            <a:avLst>
              <a:gd name="adj" fmla="val 6000"/>
            </a:avLst>
          </a:prstGeom>
          <a:solidFill>
            <a:srgbClr val="FFFFFF"/>
          </a:solidFill>
          <a:ln w="12700">
            <a:solidFill>
              <a:srgbClr val="E1DFD3"/>
            </a:solidFill>
            <a:prstDash val="solid"/>
          </a:ln>
        </p:spPr>
      </p:sp>
      <p:sp>
        <p:nvSpPr>
          <p:cNvPr id="6" name="Shape 4"/>
          <p:cNvSpPr/>
          <p:nvPr/>
        </p:nvSpPr>
        <p:spPr>
          <a:xfrm>
            <a:off x="804672" y="2322576"/>
            <a:ext cx="658368" cy="658368"/>
          </a:xfrm>
          <a:prstGeom prst="ellipse">
            <a:avLst/>
          </a:prstGeom>
          <a:solidFill>
            <a:srgbClr val="13322A"/>
          </a:solidFill>
          <a:ln/>
        </p:spPr>
      </p:sp>
      <p:pic>
        <p:nvPicPr>
          <p:cNvPr id="7" name="Image 0" descr="/home/claude/work/icons/seedling.png"/>
          <p:cNvPicPr>
            <a:picLocks noChangeAspect="1"/>
          </p:cNvPicPr>
          <p:nvPr/>
        </p:nvPicPr>
        <p:blipFill>
          <a:blip r:embed="rId3"/>
          <a:stretch>
            <a:fillRect/>
          </a:stretch>
        </p:blipFill>
        <p:spPr>
          <a:xfrm>
            <a:off x="896844" y="2414748"/>
            <a:ext cx="474025" cy="474025"/>
          </a:xfrm>
          <a:prstGeom prst="rect">
            <a:avLst/>
          </a:prstGeom>
        </p:spPr>
      </p:pic>
      <p:sp>
        <p:nvSpPr>
          <p:cNvPr id="8" name="Text 5"/>
          <p:cNvSpPr/>
          <p:nvPr/>
        </p:nvSpPr>
        <p:spPr>
          <a:xfrm>
            <a:off x="1600200" y="1965960"/>
            <a:ext cx="2286000" cy="1371600"/>
          </a:xfrm>
          <a:prstGeom prst="rect">
            <a:avLst/>
          </a:prstGeom>
          <a:noFill/>
          <a:ln/>
        </p:spPr>
        <p:txBody>
          <a:bodyPr wrap="square" lIns="0" tIns="0" rIns="0" bIns="0" rtlCol="0" anchor="ctr"/>
          <a:lstStyle/>
          <a:p>
            <a:pPr marL="0" indent="0">
              <a:lnSpc>
                <a:spcPct val="105000"/>
              </a:lnSpc>
              <a:buNone/>
            </a:pPr>
            <a:r>
              <a:rPr lang="en-US" sz="1400" b="1" dirty="0">
                <a:solidFill>
                  <a:srgbClr val="18231F"/>
                </a:solidFill>
                <a:latin typeface="Cambria" pitchFamily="34" charset="0"/>
                <a:ea typeface="Cambria" pitchFamily="34" charset="-122"/>
                <a:cs typeface="Cambria" pitchFamily="34" charset="-120"/>
              </a:rPr>
              <a:t>Crop Recommendation</a:t>
            </a:r>
            <a:endParaRPr lang="en-US" sz="1400" dirty="0"/>
          </a:p>
        </p:txBody>
      </p:sp>
      <p:sp>
        <p:nvSpPr>
          <p:cNvPr id="9" name="Shape 6"/>
          <p:cNvSpPr/>
          <p:nvPr/>
        </p:nvSpPr>
        <p:spPr>
          <a:xfrm>
            <a:off x="4297680" y="1965960"/>
            <a:ext cx="3566160" cy="1371600"/>
          </a:xfrm>
          <a:prstGeom prst="roundRect">
            <a:avLst>
              <a:gd name="adj" fmla="val 6000"/>
            </a:avLst>
          </a:prstGeom>
          <a:solidFill>
            <a:srgbClr val="FFFFFF"/>
          </a:solidFill>
          <a:ln w="12700">
            <a:solidFill>
              <a:srgbClr val="E1DFD3"/>
            </a:solidFill>
            <a:prstDash val="solid"/>
          </a:ln>
        </p:spPr>
      </p:sp>
      <p:sp>
        <p:nvSpPr>
          <p:cNvPr id="10" name="Shape 7"/>
          <p:cNvSpPr/>
          <p:nvPr/>
        </p:nvSpPr>
        <p:spPr>
          <a:xfrm>
            <a:off x="4553712" y="2322576"/>
            <a:ext cx="658368" cy="658368"/>
          </a:xfrm>
          <a:prstGeom prst="ellipse">
            <a:avLst/>
          </a:prstGeom>
          <a:solidFill>
            <a:srgbClr val="4C7A5E"/>
          </a:solidFill>
          <a:ln/>
        </p:spPr>
      </p:sp>
      <p:pic>
        <p:nvPicPr>
          <p:cNvPr id="11" name="Image 1" descr="/home/claude/work/icons/flask_vial.png"/>
          <p:cNvPicPr>
            <a:picLocks noChangeAspect="1"/>
          </p:cNvPicPr>
          <p:nvPr/>
        </p:nvPicPr>
        <p:blipFill>
          <a:blip r:embed="rId4"/>
          <a:stretch>
            <a:fillRect/>
          </a:stretch>
        </p:blipFill>
        <p:spPr>
          <a:xfrm>
            <a:off x="4645884" y="2414748"/>
            <a:ext cx="474025" cy="474025"/>
          </a:xfrm>
          <a:prstGeom prst="rect">
            <a:avLst/>
          </a:prstGeom>
        </p:spPr>
      </p:pic>
      <p:sp>
        <p:nvSpPr>
          <p:cNvPr id="12" name="Text 8"/>
          <p:cNvSpPr/>
          <p:nvPr/>
        </p:nvSpPr>
        <p:spPr>
          <a:xfrm>
            <a:off x="5349240" y="1965960"/>
            <a:ext cx="2286000" cy="1371600"/>
          </a:xfrm>
          <a:prstGeom prst="rect">
            <a:avLst/>
          </a:prstGeom>
          <a:noFill/>
          <a:ln/>
        </p:spPr>
        <p:txBody>
          <a:bodyPr wrap="square" lIns="0" tIns="0" rIns="0" bIns="0" rtlCol="0" anchor="ctr"/>
          <a:lstStyle/>
          <a:p>
            <a:pPr marL="0" indent="0">
              <a:lnSpc>
                <a:spcPct val="105000"/>
              </a:lnSpc>
              <a:buNone/>
            </a:pPr>
            <a:r>
              <a:rPr lang="en-US" sz="1400" b="1" dirty="0">
                <a:solidFill>
                  <a:srgbClr val="18231F"/>
                </a:solidFill>
                <a:latin typeface="Cambria" pitchFamily="34" charset="0"/>
                <a:ea typeface="Cambria" pitchFamily="34" charset="-122"/>
                <a:cs typeface="Cambria" pitchFamily="34" charset="-120"/>
              </a:rPr>
              <a:t>Fertilizer Recommendation</a:t>
            </a:r>
            <a:endParaRPr lang="en-US" sz="1400" dirty="0"/>
          </a:p>
        </p:txBody>
      </p:sp>
      <p:sp>
        <p:nvSpPr>
          <p:cNvPr id="13" name="Shape 9"/>
          <p:cNvSpPr/>
          <p:nvPr/>
        </p:nvSpPr>
        <p:spPr>
          <a:xfrm>
            <a:off x="8046720" y="1965960"/>
            <a:ext cx="3566160" cy="1371600"/>
          </a:xfrm>
          <a:prstGeom prst="roundRect">
            <a:avLst>
              <a:gd name="adj" fmla="val 6000"/>
            </a:avLst>
          </a:prstGeom>
          <a:solidFill>
            <a:srgbClr val="FFFFFF"/>
          </a:solidFill>
          <a:ln w="12700">
            <a:solidFill>
              <a:srgbClr val="E1DFD3"/>
            </a:solidFill>
            <a:prstDash val="solid"/>
          </a:ln>
        </p:spPr>
      </p:sp>
      <p:sp>
        <p:nvSpPr>
          <p:cNvPr id="14" name="Shape 10"/>
          <p:cNvSpPr/>
          <p:nvPr/>
        </p:nvSpPr>
        <p:spPr>
          <a:xfrm>
            <a:off x="8302752" y="2322576"/>
            <a:ext cx="658368" cy="658368"/>
          </a:xfrm>
          <a:prstGeom prst="ellipse">
            <a:avLst/>
          </a:prstGeom>
          <a:solidFill>
            <a:srgbClr val="13322A"/>
          </a:solidFill>
          <a:ln/>
        </p:spPr>
      </p:sp>
      <p:pic>
        <p:nvPicPr>
          <p:cNvPr id="15" name="Image 2" descr="/home/claude/work/icons/stethoscope.png"/>
          <p:cNvPicPr>
            <a:picLocks noChangeAspect="1"/>
          </p:cNvPicPr>
          <p:nvPr/>
        </p:nvPicPr>
        <p:blipFill>
          <a:blip r:embed="rId5"/>
          <a:stretch>
            <a:fillRect/>
          </a:stretch>
        </p:blipFill>
        <p:spPr>
          <a:xfrm>
            <a:off x="8394924" y="2414748"/>
            <a:ext cx="474025" cy="474025"/>
          </a:xfrm>
          <a:prstGeom prst="rect">
            <a:avLst/>
          </a:prstGeom>
        </p:spPr>
      </p:pic>
      <p:sp>
        <p:nvSpPr>
          <p:cNvPr id="16" name="Text 11"/>
          <p:cNvSpPr/>
          <p:nvPr/>
        </p:nvSpPr>
        <p:spPr>
          <a:xfrm>
            <a:off x="9098280" y="1965960"/>
            <a:ext cx="2286000" cy="1371600"/>
          </a:xfrm>
          <a:prstGeom prst="rect">
            <a:avLst/>
          </a:prstGeom>
          <a:noFill/>
          <a:ln/>
        </p:spPr>
        <p:txBody>
          <a:bodyPr wrap="square" lIns="0" tIns="0" rIns="0" bIns="0" rtlCol="0" anchor="ctr"/>
          <a:lstStyle/>
          <a:p>
            <a:pPr marL="0" indent="0">
              <a:lnSpc>
                <a:spcPct val="105000"/>
              </a:lnSpc>
              <a:buNone/>
            </a:pPr>
            <a:r>
              <a:rPr lang="en-US" sz="1400" b="1" dirty="0">
                <a:solidFill>
                  <a:srgbClr val="18231F"/>
                </a:solidFill>
                <a:latin typeface="Cambria" pitchFamily="34" charset="0"/>
                <a:ea typeface="Cambria" pitchFamily="34" charset="-122"/>
                <a:cs typeface="Cambria" pitchFamily="34" charset="-120"/>
              </a:rPr>
              <a:t>Disease Diagnosis</a:t>
            </a:r>
            <a:endParaRPr lang="en-US" sz="1400" dirty="0"/>
          </a:p>
        </p:txBody>
      </p:sp>
      <p:sp>
        <p:nvSpPr>
          <p:cNvPr id="17" name="Shape 12"/>
          <p:cNvSpPr/>
          <p:nvPr/>
        </p:nvSpPr>
        <p:spPr>
          <a:xfrm>
            <a:off x="548640" y="3520440"/>
            <a:ext cx="3566160" cy="1371600"/>
          </a:xfrm>
          <a:prstGeom prst="roundRect">
            <a:avLst>
              <a:gd name="adj" fmla="val 6000"/>
            </a:avLst>
          </a:prstGeom>
          <a:solidFill>
            <a:srgbClr val="FFFFFF"/>
          </a:solidFill>
          <a:ln w="12700">
            <a:solidFill>
              <a:srgbClr val="E1DFD3"/>
            </a:solidFill>
            <a:prstDash val="solid"/>
          </a:ln>
        </p:spPr>
      </p:sp>
      <p:sp>
        <p:nvSpPr>
          <p:cNvPr id="18" name="Shape 13"/>
          <p:cNvSpPr/>
          <p:nvPr/>
        </p:nvSpPr>
        <p:spPr>
          <a:xfrm>
            <a:off x="804672" y="3877056"/>
            <a:ext cx="658368" cy="658368"/>
          </a:xfrm>
          <a:prstGeom prst="ellipse">
            <a:avLst/>
          </a:prstGeom>
          <a:solidFill>
            <a:srgbClr val="13322A"/>
          </a:solidFill>
          <a:ln/>
        </p:spPr>
      </p:sp>
      <p:pic>
        <p:nvPicPr>
          <p:cNvPr id="19" name="Image 3" descr="/home/claude/work/icons/bug.png"/>
          <p:cNvPicPr>
            <a:picLocks noChangeAspect="1"/>
          </p:cNvPicPr>
          <p:nvPr/>
        </p:nvPicPr>
        <p:blipFill>
          <a:blip r:embed="rId6"/>
          <a:stretch>
            <a:fillRect/>
          </a:stretch>
        </p:blipFill>
        <p:spPr>
          <a:xfrm>
            <a:off x="896844" y="3969228"/>
            <a:ext cx="474025" cy="474025"/>
          </a:xfrm>
          <a:prstGeom prst="rect">
            <a:avLst/>
          </a:prstGeom>
        </p:spPr>
      </p:pic>
      <p:sp>
        <p:nvSpPr>
          <p:cNvPr id="20" name="Text 14"/>
          <p:cNvSpPr/>
          <p:nvPr/>
        </p:nvSpPr>
        <p:spPr>
          <a:xfrm>
            <a:off x="1600200" y="3520440"/>
            <a:ext cx="2286000" cy="1371600"/>
          </a:xfrm>
          <a:prstGeom prst="rect">
            <a:avLst/>
          </a:prstGeom>
          <a:noFill/>
          <a:ln/>
        </p:spPr>
        <p:txBody>
          <a:bodyPr wrap="square" lIns="0" tIns="0" rIns="0" bIns="0" rtlCol="0" anchor="ctr"/>
          <a:lstStyle/>
          <a:p>
            <a:pPr marL="0" indent="0">
              <a:lnSpc>
                <a:spcPct val="105000"/>
              </a:lnSpc>
              <a:buNone/>
            </a:pPr>
            <a:r>
              <a:rPr lang="en-US" sz="1400" b="1" dirty="0">
                <a:solidFill>
                  <a:srgbClr val="18231F"/>
                </a:solidFill>
                <a:latin typeface="Cambria" pitchFamily="34" charset="0"/>
                <a:ea typeface="Cambria" pitchFamily="34" charset="-122"/>
                <a:cs typeface="Cambria" pitchFamily="34" charset="-120"/>
              </a:rPr>
              <a:t>Pest Identification</a:t>
            </a:r>
            <a:endParaRPr lang="en-US" sz="1400" dirty="0"/>
          </a:p>
        </p:txBody>
      </p:sp>
      <p:sp>
        <p:nvSpPr>
          <p:cNvPr id="21" name="Shape 15"/>
          <p:cNvSpPr/>
          <p:nvPr/>
        </p:nvSpPr>
        <p:spPr>
          <a:xfrm>
            <a:off x="4297680" y="3520440"/>
            <a:ext cx="3566160" cy="1371600"/>
          </a:xfrm>
          <a:prstGeom prst="roundRect">
            <a:avLst>
              <a:gd name="adj" fmla="val 6000"/>
            </a:avLst>
          </a:prstGeom>
          <a:solidFill>
            <a:srgbClr val="FFFFFF"/>
          </a:solidFill>
          <a:ln w="12700">
            <a:solidFill>
              <a:srgbClr val="E1DFD3"/>
            </a:solidFill>
            <a:prstDash val="solid"/>
          </a:ln>
        </p:spPr>
      </p:sp>
      <p:sp>
        <p:nvSpPr>
          <p:cNvPr id="22" name="Shape 16"/>
          <p:cNvSpPr/>
          <p:nvPr/>
        </p:nvSpPr>
        <p:spPr>
          <a:xfrm>
            <a:off x="4553712" y="3877056"/>
            <a:ext cx="658368" cy="658368"/>
          </a:xfrm>
          <a:prstGeom prst="ellipse">
            <a:avLst/>
          </a:prstGeom>
          <a:solidFill>
            <a:srgbClr val="4C7A5E"/>
          </a:solidFill>
          <a:ln/>
        </p:spPr>
      </p:sp>
      <p:pic>
        <p:nvPicPr>
          <p:cNvPr id="23" name="Image 4" descr="/home/claude/work/icons/droplet.png"/>
          <p:cNvPicPr>
            <a:picLocks noChangeAspect="1"/>
          </p:cNvPicPr>
          <p:nvPr/>
        </p:nvPicPr>
        <p:blipFill>
          <a:blip r:embed="rId7"/>
          <a:stretch>
            <a:fillRect/>
          </a:stretch>
        </p:blipFill>
        <p:spPr>
          <a:xfrm>
            <a:off x="4645884" y="3969228"/>
            <a:ext cx="474025" cy="474025"/>
          </a:xfrm>
          <a:prstGeom prst="rect">
            <a:avLst/>
          </a:prstGeom>
        </p:spPr>
      </p:pic>
      <p:sp>
        <p:nvSpPr>
          <p:cNvPr id="24" name="Text 17"/>
          <p:cNvSpPr/>
          <p:nvPr/>
        </p:nvSpPr>
        <p:spPr>
          <a:xfrm>
            <a:off x="5349240" y="3520440"/>
            <a:ext cx="2286000" cy="1371600"/>
          </a:xfrm>
          <a:prstGeom prst="rect">
            <a:avLst/>
          </a:prstGeom>
          <a:noFill/>
          <a:ln/>
        </p:spPr>
        <p:txBody>
          <a:bodyPr wrap="square" lIns="0" tIns="0" rIns="0" bIns="0" rtlCol="0" anchor="ctr"/>
          <a:lstStyle/>
          <a:p>
            <a:pPr marL="0" indent="0">
              <a:lnSpc>
                <a:spcPct val="105000"/>
              </a:lnSpc>
              <a:buNone/>
            </a:pPr>
            <a:r>
              <a:rPr lang="en-US" sz="1400" b="1" dirty="0">
                <a:solidFill>
                  <a:srgbClr val="18231F"/>
                </a:solidFill>
                <a:latin typeface="Cambria" pitchFamily="34" charset="0"/>
                <a:ea typeface="Cambria" pitchFamily="34" charset="-122"/>
                <a:cs typeface="Cambria" pitchFamily="34" charset="-120"/>
              </a:rPr>
              <a:t>Irrigation Guidance</a:t>
            </a:r>
            <a:endParaRPr lang="en-US" sz="1400" dirty="0"/>
          </a:p>
        </p:txBody>
      </p:sp>
      <p:sp>
        <p:nvSpPr>
          <p:cNvPr id="25" name="Shape 18"/>
          <p:cNvSpPr/>
          <p:nvPr/>
        </p:nvSpPr>
        <p:spPr>
          <a:xfrm>
            <a:off x="8046720" y="3520440"/>
            <a:ext cx="3566160" cy="1371600"/>
          </a:xfrm>
          <a:prstGeom prst="roundRect">
            <a:avLst>
              <a:gd name="adj" fmla="val 6000"/>
            </a:avLst>
          </a:prstGeom>
          <a:solidFill>
            <a:srgbClr val="FFFFFF"/>
          </a:solidFill>
          <a:ln w="12700">
            <a:solidFill>
              <a:srgbClr val="E1DFD3"/>
            </a:solidFill>
            <a:prstDash val="solid"/>
          </a:ln>
        </p:spPr>
      </p:sp>
      <p:sp>
        <p:nvSpPr>
          <p:cNvPr id="26" name="Shape 19"/>
          <p:cNvSpPr/>
          <p:nvPr/>
        </p:nvSpPr>
        <p:spPr>
          <a:xfrm>
            <a:off x="8302752" y="3877056"/>
            <a:ext cx="658368" cy="658368"/>
          </a:xfrm>
          <a:prstGeom prst="ellipse">
            <a:avLst/>
          </a:prstGeom>
          <a:solidFill>
            <a:srgbClr val="13322A"/>
          </a:solidFill>
          <a:ln/>
        </p:spPr>
      </p:sp>
      <p:pic>
        <p:nvPicPr>
          <p:cNvPr id="27" name="Image 5" descr="/home/claude/work/icons/clipboard.png"/>
          <p:cNvPicPr>
            <a:picLocks noChangeAspect="1"/>
          </p:cNvPicPr>
          <p:nvPr/>
        </p:nvPicPr>
        <p:blipFill>
          <a:blip r:embed="rId8"/>
          <a:stretch>
            <a:fillRect/>
          </a:stretch>
        </p:blipFill>
        <p:spPr>
          <a:xfrm>
            <a:off x="8394924" y="3969228"/>
            <a:ext cx="474025" cy="474025"/>
          </a:xfrm>
          <a:prstGeom prst="rect">
            <a:avLst/>
          </a:prstGeom>
        </p:spPr>
      </p:pic>
      <p:sp>
        <p:nvSpPr>
          <p:cNvPr id="28" name="Text 20"/>
          <p:cNvSpPr/>
          <p:nvPr/>
        </p:nvSpPr>
        <p:spPr>
          <a:xfrm>
            <a:off x="9098280" y="3520440"/>
            <a:ext cx="2286000" cy="1371600"/>
          </a:xfrm>
          <a:prstGeom prst="rect">
            <a:avLst/>
          </a:prstGeom>
          <a:noFill/>
          <a:ln/>
        </p:spPr>
        <p:txBody>
          <a:bodyPr wrap="square" lIns="0" tIns="0" rIns="0" bIns="0" rtlCol="0" anchor="ctr"/>
          <a:lstStyle/>
          <a:p>
            <a:pPr marL="0" indent="0">
              <a:lnSpc>
                <a:spcPct val="105000"/>
              </a:lnSpc>
              <a:buNone/>
            </a:pPr>
            <a:r>
              <a:rPr lang="en-US" sz="1400" b="1" dirty="0">
                <a:solidFill>
                  <a:srgbClr val="18231F"/>
                </a:solidFill>
                <a:latin typeface="Cambria" pitchFamily="34" charset="0"/>
                <a:ea typeface="Cambria" pitchFamily="34" charset="-122"/>
                <a:cs typeface="Cambria" pitchFamily="34" charset="-120"/>
              </a:rPr>
              <a:t>Crop Management Advice</a:t>
            </a:r>
            <a:endParaRPr lang="en-US" sz="1400" dirty="0"/>
          </a:p>
        </p:txBody>
      </p:sp>
      <p:sp>
        <p:nvSpPr>
          <p:cNvPr id="29" name="Shape 21"/>
          <p:cNvSpPr/>
          <p:nvPr/>
        </p:nvSpPr>
        <p:spPr>
          <a:xfrm>
            <a:off x="548640" y="5074920"/>
            <a:ext cx="3566160" cy="1371600"/>
          </a:xfrm>
          <a:prstGeom prst="roundRect">
            <a:avLst>
              <a:gd name="adj" fmla="val 6000"/>
            </a:avLst>
          </a:prstGeom>
          <a:solidFill>
            <a:srgbClr val="FFFFFF"/>
          </a:solidFill>
          <a:ln w="12700">
            <a:solidFill>
              <a:srgbClr val="E1DFD3"/>
            </a:solidFill>
            <a:prstDash val="solid"/>
          </a:ln>
        </p:spPr>
      </p:sp>
      <p:sp>
        <p:nvSpPr>
          <p:cNvPr id="30" name="Shape 22"/>
          <p:cNvSpPr/>
          <p:nvPr/>
        </p:nvSpPr>
        <p:spPr>
          <a:xfrm>
            <a:off x="804672" y="5431536"/>
            <a:ext cx="658368" cy="658368"/>
          </a:xfrm>
          <a:prstGeom prst="ellipse">
            <a:avLst/>
          </a:prstGeom>
          <a:solidFill>
            <a:srgbClr val="13322A"/>
          </a:solidFill>
          <a:ln/>
        </p:spPr>
      </p:sp>
      <p:pic>
        <p:nvPicPr>
          <p:cNvPr id="31" name="Image 6" descr="/home/claude/work/icons/cloud_sun.png"/>
          <p:cNvPicPr>
            <a:picLocks noChangeAspect="1"/>
          </p:cNvPicPr>
          <p:nvPr/>
        </p:nvPicPr>
        <p:blipFill>
          <a:blip r:embed="rId9"/>
          <a:stretch>
            <a:fillRect/>
          </a:stretch>
        </p:blipFill>
        <p:spPr>
          <a:xfrm>
            <a:off x="896844" y="5523708"/>
            <a:ext cx="474025" cy="474025"/>
          </a:xfrm>
          <a:prstGeom prst="rect">
            <a:avLst/>
          </a:prstGeom>
        </p:spPr>
      </p:pic>
      <p:sp>
        <p:nvSpPr>
          <p:cNvPr id="32" name="Text 23"/>
          <p:cNvSpPr/>
          <p:nvPr/>
        </p:nvSpPr>
        <p:spPr>
          <a:xfrm>
            <a:off x="1600200" y="5074920"/>
            <a:ext cx="2286000" cy="1371600"/>
          </a:xfrm>
          <a:prstGeom prst="rect">
            <a:avLst/>
          </a:prstGeom>
          <a:noFill/>
          <a:ln/>
        </p:spPr>
        <p:txBody>
          <a:bodyPr wrap="square" lIns="0" tIns="0" rIns="0" bIns="0" rtlCol="0" anchor="ctr"/>
          <a:lstStyle/>
          <a:p>
            <a:pPr marL="0" indent="0">
              <a:lnSpc>
                <a:spcPct val="105000"/>
              </a:lnSpc>
              <a:buNone/>
            </a:pPr>
            <a:r>
              <a:rPr lang="en-US" sz="1400" b="1" dirty="0">
                <a:solidFill>
                  <a:srgbClr val="18231F"/>
                </a:solidFill>
                <a:latin typeface="Cambria" pitchFamily="34" charset="0"/>
                <a:ea typeface="Cambria" pitchFamily="34" charset="-122"/>
                <a:cs typeface="Cambria" pitchFamily="34" charset="-120"/>
              </a:rPr>
              <a:t>Weather Analysis</a:t>
            </a:r>
            <a:endParaRPr lang="en-US" sz="1400" dirty="0"/>
          </a:p>
        </p:txBody>
      </p:sp>
      <p:sp>
        <p:nvSpPr>
          <p:cNvPr id="33" name="Shape 24"/>
          <p:cNvSpPr/>
          <p:nvPr/>
        </p:nvSpPr>
        <p:spPr>
          <a:xfrm>
            <a:off x="4297680" y="5074920"/>
            <a:ext cx="3566160" cy="1371600"/>
          </a:xfrm>
          <a:prstGeom prst="roundRect">
            <a:avLst>
              <a:gd name="adj" fmla="val 6000"/>
            </a:avLst>
          </a:prstGeom>
          <a:solidFill>
            <a:srgbClr val="FFFFFF"/>
          </a:solidFill>
          <a:ln w="12700">
            <a:solidFill>
              <a:srgbClr val="E1DFD3"/>
            </a:solidFill>
            <a:prstDash val="solid"/>
          </a:ln>
        </p:spPr>
      </p:sp>
      <p:sp>
        <p:nvSpPr>
          <p:cNvPr id="34" name="Shape 25"/>
          <p:cNvSpPr/>
          <p:nvPr/>
        </p:nvSpPr>
        <p:spPr>
          <a:xfrm>
            <a:off x="4553712" y="5431536"/>
            <a:ext cx="658368" cy="658368"/>
          </a:xfrm>
          <a:prstGeom prst="ellipse">
            <a:avLst/>
          </a:prstGeom>
          <a:solidFill>
            <a:srgbClr val="4C7A5E"/>
          </a:solidFill>
          <a:ln/>
        </p:spPr>
      </p:sp>
      <p:pic>
        <p:nvPicPr>
          <p:cNvPr id="35" name="Image 7" descr="/home/claude/work/icons/coins.png"/>
          <p:cNvPicPr>
            <a:picLocks noChangeAspect="1"/>
          </p:cNvPicPr>
          <p:nvPr/>
        </p:nvPicPr>
        <p:blipFill>
          <a:blip r:embed="rId10"/>
          <a:stretch>
            <a:fillRect/>
          </a:stretch>
        </p:blipFill>
        <p:spPr>
          <a:xfrm>
            <a:off x="4645884" y="5523708"/>
            <a:ext cx="474025" cy="474025"/>
          </a:xfrm>
          <a:prstGeom prst="rect">
            <a:avLst/>
          </a:prstGeom>
        </p:spPr>
      </p:pic>
      <p:sp>
        <p:nvSpPr>
          <p:cNvPr id="36" name="Text 26"/>
          <p:cNvSpPr/>
          <p:nvPr/>
        </p:nvSpPr>
        <p:spPr>
          <a:xfrm>
            <a:off x="5349240" y="5074920"/>
            <a:ext cx="2286000" cy="1371600"/>
          </a:xfrm>
          <a:prstGeom prst="rect">
            <a:avLst/>
          </a:prstGeom>
          <a:noFill/>
          <a:ln/>
        </p:spPr>
        <p:txBody>
          <a:bodyPr wrap="square" lIns="0" tIns="0" rIns="0" bIns="0" rtlCol="0" anchor="ctr"/>
          <a:lstStyle/>
          <a:p>
            <a:pPr marL="0" indent="0">
              <a:lnSpc>
                <a:spcPct val="105000"/>
              </a:lnSpc>
              <a:buNone/>
            </a:pPr>
            <a:r>
              <a:rPr lang="en-US" sz="1400" b="1" dirty="0">
                <a:solidFill>
                  <a:srgbClr val="18231F"/>
                </a:solidFill>
                <a:latin typeface="Cambria" pitchFamily="34" charset="0"/>
                <a:ea typeface="Cambria" pitchFamily="34" charset="-122"/>
                <a:cs typeface="Cambria" pitchFamily="34" charset="-120"/>
              </a:rPr>
              <a:t>Market Insights</a:t>
            </a:r>
            <a:endParaRPr lang="en-US" sz="1400" dirty="0"/>
          </a:p>
        </p:txBody>
      </p:sp>
      <p:sp>
        <p:nvSpPr>
          <p:cNvPr id="37" name="Shape 27"/>
          <p:cNvSpPr/>
          <p:nvPr/>
        </p:nvSpPr>
        <p:spPr>
          <a:xfrm>
            <a:off x="8046720" y="5074920"/>
            <a:ext cx="3566160" cy="1371600"/>
          </a:xfrm>
          <a:prstGeom prst="roundRect">
            <a:avLst>
              <a:gd name="adj" fmla="val 6000"/>
            </a:avLst>
          </a:prstGeom>
          <a:solidFill>
            <a:srgbClr val="FFFFFF"/>
          </a:solidFill>
          <a:ln w="12700">
            <a:solidFill>
              <a:srgbClr val="E1DFD3"/>
            </a:solidFill>
            <a:prstDash val="solid"/>
          </a:ln>
        </p:spPr>
      </p:sp>
      <p:sp>
        <p:nvSpPr>
          <p:cNvPr id="38" name="Shape 28"/>
          <p:cNvSpPr/>
          <p:nvPr/>
        </p:nvSpPr>
        <p:spPr>
          <a:xfrm>
            <a:off x="8302752" y="5431536"/>
            <a:ext cx="658368" cy="658368"/>
          </a:xfrm>
          <a:prstGeom prst="ellipse">
            <a:avLst/>
          </a:prstGeom>
          <a:solidFill>
            <a:srgbClr val="13322A"/>
          </a:solidFill>
          <a:ln/>
        </p:spPr>
      </p:sp>
      <p:pic>
        <p:nvPicPr>
          <p:cNvPr id="39" name="Image 8" descr="/home/claude/work/icons/comments.png"/>
          <p:cNvPicPr>
            <a:picLocks noChangeAspect="1"/>
          </p:cNvPicPr>
          <p:nvPr/>
        </p:nvPicPr>
        <p:blipFill>
          <a:blip r:embed="rId11"/>
          <a:stretch>
            <a:fillRect/>
          </a:stretch>
        </p:blipFill>
        <p:spPr>
          <a:xfrm>
            <a:off x="8394924" y="5523708"/>
            <a:ext cx="474025" cy="474025"/>
          </a:xfrm>
          <a:prstGeom prst="rect">
            <a:avLst/>
          </a:prstGeom>
        </p:spPr>
      </p:pic>
      <p:sp>
        <p:nvSpPr>
          <p:cNvPr id="40" name="Text 29"/>
          <p:cNvSpPr/>
          <p:nvPr/>
        </p:nvSpPr>
        <p:spPr>
          <a:xfrm>
            <a:off x="9098280" y="5074920"/>
            <a:ext cx="2286000" cy="1371600"/>
          </a:xfrm>
          <a:prstGeom prst="rect">
            <a:avLst/>
          </a:prstGeom>
          <a:noFill/>
          <a:ln/>
        </p:spPr>
        <p:txBody>
          <a:bodyPr wrap="square" lIns="0" tIns="0" rIns="0" bIns="0" rtlCol="0" anchor="ctr"/>
          <a:lstStyle/>
          <a:p>
            <a:pPr marL="0" indent="0">
              <a:lnSpc>
                <a:spcPct val="105000"/>
              </a:lnSpc>
              <a:buNone/>
            </a:pPr>
            <a:r>
              <a:rPr lang="en-US" sz="1400" b="1" dirty="0">
                <a:solidFill>
                  <a:srgbClr val="18231F"/>
                </a:solidFill>
                <a:latin typeface="Cambria" pitchFamily="34" charset="0"/>
                <a:ea typeface="Cambria" pitchFamily="34" charset="-122"/>
                <a:cs typeface="Cambria" pitchFamily="34" charset="-120"/>
              </a:rPr>
              <a:t>Conversational AI Assistant</a:t>
            </a:r>
            <a:endParaRPr lang="en-US" sz="1400" dirty="0"/>
          </a:p>
        </p:txBody>
      </p:sp>
      <p:sp>
        <p:nvSpPr>
          <p:cNvPr id="41" name="Text 30"/>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42" name="Text 31"/>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32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OUR APPROACH</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Proposed solution — how it works</a:t>
            </a:r>
            <a:endParaRPr lang="en-US" sz="2800" dirty="0"/>
          </a:p>
        </p:txBody>
      </p:sp>
      <p:sp>
        <p:nvSpPr>
          <p:cNvPr id="4" name="Shape 2"/>
          <p:cNvSpPr/>
          <p:nvPr/>
        </p:nvSpPr>
        <p:spPr>
          <a:xfrm>
            <a:off x="380848" y="2148840"/>
            <a:ext cx="1691640" cy="1051560"/>
          </a:xfrm>
          <a:prstGeom prst="roundRect">
            <a:avLst>
              <a:gd name="adj" fmla="val 6957"/>
            </a:avLst>
          </a:prstGeom>
          <a:solidFill>
            <a:srgbClr val="1E4738"/>
          </a:solidFill>
          <a:ln w="12700">
            <a:solidFill>
              <a:srgbClr val="D9A441"/>
            </a:solidFill>
            <a:prstDash val="solid"/>
          </a:ln>
        </p:spPr>
      </p:sp>
      <p:sp>
        <p:nvSpPr>
          <p:cNvPr id="5" name="Shape 3"/>
          <p:cNvSpPr/>
          <p:nvPr/>
        </p:nvSpPr>
        <p:spPr>
          <a:xfrm>
            <a:off x="952348" y="2295144"/>
            <a:ext cx="548640" cy="548640"/>
          </a:xfrm>
          <a:prstGeom prst="ellipse">
            <a:avLst/>
          </a:prstGeom>
          <a:solidFill>
            <a:srgbClr val="4C7A5E"/>
          </a:solidFill>
          <a:ln/>
        </p:spPr>
      </p:sp>
      <p:pic>
        <p:nvPicPr>
          <p:cNvPr id="6" name="Image 0" descr="/home/claude/work/icons/users.png"/>
          <p:cNvPicPr>
            <a:picLocks noChangeAspect="1"/>
          </p:cNvPicPr>
          <p:nvPr/>
        </p:nvPicPr>
        <p:blipFill>
          <a:blip r:embed="rId3"/>
          <a:stretch>
            <a:fillRect/>
          </a:stretch>
        </p:blipFill>
        <p:spPr>
          <a:xfrm>
            <a:off x="1029157" y="2371954"/>
            <a:ext cx="395021" cy="395021"/>
          </a:xfrm>
          <a:prstGeom prst="rect">
            <a:avLst/>
          </a:prstGeom>
        </p:spPr>
      </p:pic>
      <p:sp>
        <p:nvSpPr>
          <p:cNvPr id="7" name="Text 4"/>
          <p:cNvSpPr/>
          <p:nvPr/>
        </p:nvSpPr>
        <p:spPr>
          <a:xfrm>
            <a:off x="426568" y="2880360"/>
            <a:ext cx="160020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Farmer</a:t>
            </a:r>
            <a:endParaRPr lang="en-US" sz="1050" dirty="0"/>
          </a:p>
        </p:txBody>
      </p:sp>
      <p:pic>
        <p:nvPicPr>
          <p:cNvPr id="8" name="Image 1" descr="/home/claude/work/icons/arrow_right.png"/>
          <p:cNvPicPr>
            <a:picLocks noChangeAspect="1"/>
          </p:cNvPicPr>
          <p:nvPr/>
        </p:nvPicPr>
        <p:blipFill>
          <a:blip r:embed="rId4"/>
          <a:stretch>
            <a:fillRect/>
          </a:stretch>
        </p:blipFill>
        <p:spPr>
          <a:xfrm>
            <a:off x="2090776" y="2574036"/>
            <a:ext cx="219456" cy="219456"/>
          </a:xfrm>
          <a:prstGeom prst="rect">
            <a:avLst/>
          </a:prstGeom>
        </p:spPr>
      </p:pic>
      <p:sp>
        <p:nvSpPr>
          <p:cNvPr id="9" name="Shape 5"/>
          <p:cNvSpPr/>
          <p:nvPr/>
        </p:nvSpPr>
        <p:spPr>
          <a:xfrm>
            <a:off x="2328520" y="2148840"/>
            <a:ext cx="1691640" cy="1051560"/>
          </a:xfrm>
          <a:prstGeom prst="roundRect">
            <a:avLst>
              <a:gd name="adj" fmla="val 6957"/>
            </a:avLst>
          </a:prstGeom>
          <a:solidFill>
            <a:srgbClr val="1E4738"/>
          </a:solidFill>
          <a:ln w="12700">
            <a:solidFill>
              <a:srgbClr val="D9A441"/>
            </a:solidFill>
            <a:prstDash val="solid"/>
          </a:ln>
        </p:spPr>
      </p:sp>
      <p:sp>
        <p:nvSpPr>
          <p:cNvPr id="10" name="Shape 6"/>
          <p:cNvSpPr/>
          <p:nvPr/>
        </p:nvSpPr>
        <p:spPr>
          <a:xfrm>
            <a:off x="2900020" y="2295144"/>
            <a:ext cx="548640" cy="548640"/>
          </a:xfrm>
          <a:prstGeom prst="ellipse">
            <a:avLst/>
          </a:prstGeom>
          <a:solidFill>
            <a:srgbClr val="4C7A5E"/>
          </a:solidFill>
          <a:ln/>
        </p:spPr>
      </p:sp>
      <p:pic>
        <p:nvPicPr>
          <p:cNvPr id="11" name="Image 2" descr="/home/claude/work/icons/react_logo.png"/>
          <p:cNvPicPr>
            <a:picLocks noChangeAspect="1"/>
          </p:cNvPicPr>
          <p:nvPr/>
        </p:nvPicPr>
        <p:blipFill>
          <a:blip r:embed="rId5"/>
          <a:stretch>
            <a:fillRect/>
          </a:stretch>
        </p:blipFill>
        <p:spPr>
          <a:xfrm>
            <a:off x="2976829" y="2371954"/>
            <a:ext cx="395021" cy="395021"/>
          </a:xfrm>
          <a:prstGeom prst="rect">
            <a:avLst/>
          </a:prstGeom>
        </p:spPr>
      </p:pic>
      <p:sp>
        <p:nvSpPr>
          <p:cNvPr id="12" name="Text 7"/>
          <p:cNvSpPr/>
          <p:nvPr/>
        </p:nvSpPr>
        <p:spPr>
          <a:xfrm>
            <a:off x="2374240" y="2880360"/>
            <a:ext cx="160020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Frontend</a:t>
            </a:r>
            <a:endParaRPr lang="en-US" sz="1050" dirty="0"/>
          </a:p>
        </p:txBody>
      </p:sp>
      <p:pic>
        <p:nvPicPr>
          <p:cNvPr id="13" name="Image 3" descr="/home/claude/work/icons/arrow_right.png"/>
          <p:cNvPicPr>
            <a:picLocks noChangeAspect="1"/>
          </p:cNvPicPr>
          <p:nvPr/>
        </p:nvPicPr>
        <p:blipFill>
          <a:blip r:embed="rId4"/>
          <a:stretch>
            <a:fillRect/>
          </a:stretch>
        </p:blipFill>
        <p:spPr>
          <a:xfrm>
            <a:off x="4038448" y="2574036"/>
            <a:ext cx="219456" cy="219456"/>
          </a:xfrm>
          <a:prstGeom prst="rect">
            <a:avLst/>
          </a:prstGeom>
        </p:spPr>
      </p:pic>
      <p:sp>
        <p:nvSpPr>
          <p:cNvPr id="14" name="Shape 8"/>
          <p:cNvSpPr/>
          <p:nvPr/>
        </p:nvSpPr>
        <p:spPr>
          <a:xfrm>
            <a:off x="4276192" y="2148840"/>
            <a:ext cx="1691640" cy="1051560"/>
          </a:xfrm>
          <a:prstGeom prst="roundRect">
            <a:avLst>
              <a:gd name="adj" fmla="val 6957"/>
            </a:avLst>
          </a:prstGeom>
          <a:solidFill>
            <a:srgbClr val="1E4738"/>
          </a:solidFill>
          <a:ln w="12700">
            <a:solidFill>
              <a:srgbClr val="D9A441"/>
            </a:solidFill>
            <a:prstDash val="solid"/>
          </a:ln>
        </p:spPr>
      </p:sp>
      <p:sp>
        <p:nvSpPr>
          <p:cNvPr id="15" name="Shape 9"/>
          <p:cNvSpPr/>
          <p:nvPr/>
        </p:nvSpPr>
        <p:spPr>
          <a:xfrm>
            <a:off x="4847692" y="2295144"/>
            <a:ext cx="548640" cy="548640"/>
          </a:xfrm>
          <a:prstGeom prst="ellipse">
            <a:avLst/>
          </a:prstGeom>
          <a:solidFill>
            <a:srgbClr val="4C7A5E"/>
          </a:solidFill>
          <a:ln/>
        </p:spPr>
      </p:sp>
      <p:pic>
        <p:nvPicPr>
          <p:cNvPr id="16" name="Image 4" descr="/home/claude/work/icons/server.png"/>
          <p:cNvPicPr>
            <a:picLocks noChangeAspect="1"/>
          </p:cNvPicPr>
          <p:nvPr/>
        </p:nvPicPr>
        <p:blipFill>
          <a:blip r:embed="rId6"/>
          <a:stretch>
            <a:fillRect/>
          </a:stretch>
        </p:blipFill>
        <p:spPr>
          <a:xfrm>
            <a:off x="4924501" y="2371954"/>
            <a:ext cx="395021" cy="395021"/>
          </a:xfrm>
          <a:prstGeom prst="rect">
            <a:avLst/>
          </a:prstGeom>
        </p:spPr>
      </p:pic>
      <p:sp>
        <p:nvSpPr>
          <p:cNvPr id="17" name="Text 10"/>
          <p:cNvSpPr/>
          <p:nvPr/>
        </p:nvSpPr>
        <p:spPr>
          <a:xfrm>
            <a:off x="4321912" y="2880360"/>
            <a:ext cx="160020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FastAPI Backend</a:t>
            </a:r>
            <a:endParaRPr lang="en-US" sz="1050" dirty="0"/>
          </a:p>
        </p:txBody>
      </p:sp>
      <p:pic>
        <p:nvPicPr>
          <p:cNvPr id="18" name="Image 5" descr="/home/claude/work/icons/arrow_right.png"/>
          <p:cNvPicPr>
            <a:picLocks noChangeAspect="1"/>
          </p:cNvPicPr>
          <p:nvPr/>
        </p:nvPicPr>
        <p:blipFill>
          <a:blip r:embed="rId4"/>
          <a:stretch>
            <a:fillRect/>
          </a:stretch>
        </p:blipFill>
        <p:spPr>
          <a:xfrm>
            <a:off x="5986120" y="2574036"/>
            <a:ext cx="219456" cy="219456"/>
          </a:xfrm>
          <a:prstGeom prst="rect">
            <a:avLst/>
          </a:prstGeom>
        </p:spPr>
      </p:pic>
      <p:sp>
        <p:nvSpPr>
          <p:cNvPr id="19" name="Shape 11"/>
          <p:cNvSpPr/>
          <p:nvPr/>
        </p:nvSpPr>
        <p:spPr>
          <a:xfrm>
            <a:off x="6223864" y="2148840"/>
            <a:ext cx="1691640" cy="1051560"/>
          </a:xfrm>
          <a:prstGeom prst="roundRect">
            <a:avLst>
              <a:gd name="adj" fmla="val 6957"/>
            </a:avLst>
          </a:prstGeom>
          <a:solidFill>
            <a:srgbClr val="1E4738"/>
          </a:solidFill>
          <a:ln w="12700">
            <a:solidFill>
              <a:srgbClr val="D9A441"/>
            </a:solidFill>
            <a:prstDash val="solid"/>
          </a:ln>
        </p:spPr>
      </p:sp>
      <p:sp>
        <p:nvSpPr>
          <p:cNvPr id="20" name="Shape 12"/>
          <p:cNvSpPr/>
          <p:nvPr/>
        </p:nvSpPr>
        <p:spPr>
          <a:xfrm>
            <a:off x="6795364" y="2295144"/>
            <a:ext cx="548640" cy="548640"/>
          </a:xfrm>
          <a:prstGeom prst="ellipse">
            <a:avLst/>
          </a:prstGeom>
          <a:solidFill>
            <a:srgbClr val="4C7A5E"/>
          </a:solidFill>
          <a:ln/>
        </p:spPr>
      </p:sp>
      <p:pic>
        <p:nvPicPr>
          <p:cNvPr id="21" name="Image 6" descr="/home/claude/work/icons/magnify.png"/>
          <p:cNvPicPr>
            <a:picLocks noChangeAspect="1"/>
          </p:cNvPicPr>
          <p:nvPr/>
        </p:nvPicPr>
        <p:blipFill>
          <a:blip r:embed="rId7"/>
          <a:stretch>
            <a:fillRect/>
          </a:stretch>
        </p:blipFill>
        <p:spPr>
          <a:xfrm>
            <a:off x="6872173" y="2371954"/>
            <a:ext cx="395021" cy="395021"/>
          </a:xfrm>
          <a:prstGeom prst="rect">
            <a:avLst/>
          </a:prstGeom>
        </p:spPr>
      </p:pic>
      <p:sp>
        <p:nvSpPr>
          <p:cNvPr id="22" name="Text 13"/>
          <p:cNvSpPr/>
          <p:nvPr/>
        </p:nvSpPr>
        <p:spPr>
          <a:xfrm>
            <a:off x="6269584" y="2880360"/>
            <a:ext cx="160020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Query Processor</a:t>
            </a:r>
            <a:endParaRPr lang="en-US" sz="1050" dirty="0"/>
          </a:p>
        </p:txBody>
      </p:sp>
      <p:pic>
        <p:nvPicPr>
          <p:cNvPr id="23" name="Image 7" descr="/home/claude/work/icons/arrow_right.png"/>
          <p:cNvPicPr>
            <a:picLocks noChangeAspect="1"/>
          </p:cNvPicPr>
          <p:nvPr/>
        </p:nvPicPr>
        <p:blipFill>
          <a:blip r:embed="rId4"/>
          <a:stretch>
            <a:fillRect/>
          </a:stretch>
        </p:blipFill>
        <p:spPr>
          <a:xfrm>
            <a:off x="7933792" y="2574036"/>
            <a:ext cx="219456" cy="219456"/>
          </a:xfrm>
          <a:prstGeom prst="rect">
            <a:avLst/>
          </a:prstGeom>
        </p:spPr>
      </p:pic>
      <p:sp>
        <p:nvSpPr>
          <p:cNvPr id="24" name="Shape 14"/>
          <p:cNvSpPr/>
          <p:nvPr/>
        </p:nvSpPr>
        <p:spPr>
          <a:xfrm>
            <a:off x="8171536" y="2148840"/>
            <a:ext cx="1691640" cy="1051560"/>
          </a:xfrm>
          <a:prstGeom prst="roundRect">
            <a:avLst>
              <a:gd name="adj" fmla="val 6957"/>
            </a:avLst>
          </a:prstGeom>
          <a:solidFill>
            <a:srgbClr val="1E4738"/>
          </a:solidFill>
          <a:ln w="12700">
            <a:solidFill>
              <a:srgbClr val="D9A441"/>
            </a:solidFill>
            <a:prstDash val="solid"/>
          </a:ln>
        </p:spPr>
      </p:sp>
      <p:sp>
        <p:nvSpPr>
          <p:cNvPr id="25" name="Shape 15"/>
          <p:cNvSpPr/>
          <p:nvPr/>
        </p:nvSpPr>
        <p:spPr>
          <a:xfrm>
            <a:off x="8743036" y="2295144"/>
            <a:ext cx="548640" cy="548640"/>
          </a:xfrm>
          <a:prstGeom prst="ellipse">
            <a:avLst/>
          </a:prstGeom>
          <a:solidFill>
            <a:srgbClr val="4C7A5E"/>
          </a:solidFill>
          <a:ln/>
        </p:spPr>
      </p:sp>
      <p:pic>
        <p:nvPicPr>
          <p:cNvPr id="26" name="Image 8" descr="/home/claude/work/icons/rag.png"/>
          <p:cNvPicPr>
            <a:picLocks noChangeAspect="1"/>
          </p:cNvPicPr>
          <p:nvPr/>
        </p:nvPicPr>
        <p:blipFill>
          <a:blip r:embed="rId8"/>
          <a:stretch>
            <a:fillRect/>
          </a:stretch>
        </p:blipFill>
        <p:spPr>
          <a:xfrm>
            <a:off x="8819845" y="2371954"/>
            <a:ext cx="395021" cy="395021"/>
          </a:xfrm>
          <a:prstGeom prst="rect">
            <a:avLst/>
          </a:prstGeom>
        </p:spPr>
      </p:pic>
      <p:sp>
        <p:nvSpPr>
          <p:cNvPr id="27" name="Text 16"/>
          <p:cNvSpPr/>
          <p:nvPr/>
        </p:nvSpPr>
        <p:spPr>
          <a:xfrm>
            <a:off x="8217256" y="2880360"/>
            <a:ext cx="160020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Knowledge Base</a:t>
            </a:r>
            <a:endParaRPr lang="en-US" sz="1050" dirty="0"/>
          </a:p>
        </p:txBody>
      </p:sp>
      <p:pic>
        <p:nvPicPr>
          <p:cNvPr id="28" name="Image 9" descr="/home/claude/work/icons/arrow_right.png"/>
          <p:cNvPicPr>
            <a:picLocks noChangeAspect="1"/>
          </p:cNvPicPr>
          <p:nvPr/>
        </p:nvPicPr>
        <p:blipFill>
          <a:blip r:embed="rId4"/>
          <a:stretch>
            <a:fillRect/>
          </a:stretch>
        </p:blipFill>
        <p:spPr>
          <a:xfrm>
            <a:off x="9881464" y="2574036"/>
            <a:ext cx="219456" cy="219456"/>
          </a:xfrm>
          <a:prstGeom prst="rect">
            <a:avLst/>
          </a:prstGeom>
        </p:spPr>
      </p:pic>
      <p:sp>
        <p:nvSpPr>
          <p:cNvPr id="29" name="Shape 17"/>
          <p:cNvSpPr/>
          <p:nvPr/>
        </p:nvSpPr>
        <p:spPr>
          <a:xfrm>
            <a:off x="10119208" y="2148840"/>
            <a:ext cx="1691640" cy="1051560"/>
          </a:xfrm>
          <a:prstGeom prst="roundRect">
            <a:avLst>
              <a:gd name="adj" fmla="val 6957"/>
            </a:avLst>
          </a:prstGeom>
          <a:solidFill>
            <a:srgbClr val="1E4738"/>
          </a:solidFill>
          <a:ln w="12700">
            <a:solidFill>
              <a:srgbClr val="D9A441"/>
            </a:solidFill>
            <a:prstDash val="solid"/>
          </a:ln>
        </p:spPr>
      </p:sp>
      <p:sp>
        <p:nvSpPr>
          <p:cNvPr id="30" name="Shape 18"/>
          <p:cNvSpPr/>
          <p:nvPr/>
        </p:nvSpPr>
        <p:spPr>
          <a:xfrm>
            <a:off x="10690708" y="2295144"/>
            <a:ext cx="548640" cy="548640"/>
          </a:xfrm>
          <a:prstGeom prst="ellipse">
            <a:avLst/>
          </a:prstGeom>
          <a:solidFill>
            <a:srgbClr val="4C7A5E"/>
          </a:solidFill>
          <a:ln/>
        </p:spPr>
      </p:sp>
      <p:pic>
        <p:nvPicPr>
          <p:cNvPr id="31" name="Image 10" descr="/home/claude/work/icons/brain.png"/>
          <p:cNvPicPr>
            <a:picLocks noChangeAspect="1"/>
          </p:cNvPicPr>
          <p:nvPr/>
        </p:nvPicPr>
        <p:blipFill>
          <a:blip r:embed="rId9"/>
          <a:stretch>
            <a:fillRect/>
          </a:stretch>
        </p:blipFill>
        <p:spPr>
          <a:xfrm>
            <a:off x="10767517" y="2371954"/>
            <a:ext cx="395021" cy="395021"/>
          </a:xfrm>
          <a:prstGeom prst="rect">
            <a:avLst/>
          </a:prstGeom>
        </p:spPr>
      </p:pic>
      <p:sp>
        <p:nvSpPr>
          <p:cNvPr id="32" name="Text 19"/>
          <p:cNvSpPr/>
          <p:nvPr/>
        </p:nvSpPr>
        <p:spPr>
          <a:xfrm>
            <a:off x="10164928" y="2880360"/>
            <a:ext cx="160020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LLM</a:t>
            </a:r>
            <a:endParaRPr lang="en-US" sz="1050" dirty="0"/>
          </a:p>
        </p:txBody>
      </p:sp>
      <p:sp>
        <p:nvSpPr>
          <p:cNvPr id="33" name="Shape 20"/>
          <p:cNvSpPr/>
          <p:nvPr/>
        </p:nvSpPr>
        <p:spPr>
          <a:xfrm>
            <a:off x="548640" y="3794760"/>
            <a:ext cx="11064240" cy="1920240"/>
          </a:xfrm>
          <a:prstGeom prst="roundRect">
            <a:avLst>
              <a:gd name="adj" fmla="val 4286"/>
            </a:avLst>
          </a:prstGeom>
          <a:solidFill>
            <a:srgbClr val="1E4738"/>
          </a:solidFill>
          <a:ln w="12700">
            <a:solidFill>
              <a:srgbClr val="2F5445"/>
            </a:solidFill>
            <a:prstDash val="solid"/>
          </a:ln>
        </p:spPr>
      </p:sp>
      <p:sp>
        <p:nvSpPr>
          <p:cNvPr id="34" name="Text 21"/>
          <p:cNvSpPr/>
          <p:nvPr/>
        </p:nvSpPr>
        <p:spPr>
          <a:xfrm>
            <a:off x="914400" y="4023360"/>
            <a:ext cx="10332720" cy="1463040"/>
          </a:xfrm>
          <a:prstGeom prst="rect">
            <a:avLst/>
          </a:prstGeom>
          <a:noFill/>
          <a:ln/>
        </p:spPr>
        <p:txBody>
          <a:bodyPr wrap="square" rtlCol="0" anchor="ctr"/>
          <a:lstStyle/>
          <a:p>
            <a:pPr marL="0" indent="0">
              <a:lnSpc>
                <a:spcPct val="135000"/>
              </a:lnSpc>
              <a:buNone/>
            </a:pPr>
            <a:r>
              <a:rPr lang="en-US" sz="1450" dirty="0">
                <a:solidFill>
                  <a:srgbClr val="E4ECE7"/>
                </a:solidFill>
                <a:latin typeface="Calibri" pitchFamily="34" charset="0"/>
                <a:ea typeface="Calibri" pitchFamily="34" charset="-122"/>
                <a:cs typeface="Calibri" pitchFamily="34" charset="-120"/>
              </a:rPr>
              <a:t>The farmer's question enters through the frontend and is sent to the FastAPI backend. A query processor interprets intent, the retriever pulls relevant facts from the knowledge base, and the LLM composes a grounded answer — returned to the farmer as a structured JSON response.</a:t>
            </a:r>
            <a:endParaRPr lang="en-US" sz="1450" dirty="0"/>
          </a:p>
        </p:txBody>
      </p:sp>
      <p:sp>
        <p:nvSpPr>
          <p:cNvPr id="35" name="Text 22"/>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B9C9BF"/>
                </a:solidFill>
                <a:latin typeface="Calibri" pitchFamily="34" charset="0"/>
                <a:ea typeface="Calibri" pitchFamily="34" charset="-122"/>
                <a:cs typeface="Calibri" pitchFamily="34" charset="-120"/>
              </a:rPr>
              <a:t>STELLAR AGRI AI</a:t>
            </a:r>
            <a:endParaRPr lang="en-US" sz="900" dirty="0"/>
          </a:p>
        </p:txBody>
      </p:sp>
      <p:sp>
        <p:nvSpPr>
          <p:cNvPr id="36" name="Text 23"/>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B9C9B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TECH STACK</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Technology stack</a:t>
            </a:r>
            <a:endParaRPr lang="en-US" sz="2800" dirty="0"/>
          </a:p>
        </p:txBody>
      </p:sp>
      <p:sp>
        <p:nvSpPr>
          <p:cNvPr id="4" name="Shape 2"/>
          <p:cNvSpPr/>
          <p:nvPr/>
        </p:nvSpPr>
        <p:spPr>
          <a:xfrm>
            <a:off x="548640" y="1874520"/>
            <a:ext cx="2651760" cy="2468880"/>
          </a:xfrm>
          <a:prstGeom prst="roundRect">
            <a:avLst>
              <a:gd name="adj" fmla="val 3333"/>
            </a:avLst>
          </a:prstGeom>
          <a:solidFill>
            <a:srgbClr val="FFFFFF"/>
          </a:solidFill>
          <a:ln w="12700">
            <a:solidFill>
              <a:srgbClr val="E1DFD3"/>
            </a:solidFill>
            <a:prstDash val="solid"/>
          </a:ln>
        </p:spPr>
      </p:sp>
      <p:sp>
        <p:nvSpPr>
          <p:cNvPr id="5" name="Shape 3"/>
          <p:cNvSpPr/>
          <p:nvPr/>
        </p:nvSpPr>
        <p:spPr>
          <a:xfrm>
            <a:off x="1554480" y="2130552"/>
            <a:ext cx="640080" cy="640080"/>
          </a:xfrm>
          <a:prstGeom prst="ellipse">
            <a:avLst/>
          </a:prstGeom>
          <a:solidFill>
            <a:srgbClr val="13322A"/>
          </a:solidFill>
          <a:ln/>
        </p:spPr>
      </p:sp>
      <p:pic>
        <p:nvPicPr>
          <p:cNvPr id="6" name="Image 0" descr="/home/claude/work/icons/react_logo.png"/>
          <p:cNvPicPr>
            <a:picLocks noChangeAspect="1"/>
          </p:cNvPicPr>
          <p:nvPr/>
        </p:nvPicPr>
        <p:blipFill>
          <a:blip r:embed="rId3"/>
          <a:stretch>
            <a:fillRect/>
          </a:stretch>
        </p:blipFill>
        <p:spPr>
          <a:xfrm>
            <a:off x="1644091" y="2220163"/>
            <a:ext cx="460858" cy="460858"/>
          </a:xfrm>
          <a:prstGeom prst="rect">
            <a:avLst/>
          </a:prstGeom>
        </p:spPr>
      </p:pic>
      <p:sp>
        <p:nvSpPr>
          <p:cNvPr id="7" name="Text 4"/>
          <p:cNvSpPr/>
          <p:nvPr/>
        </p:nvSpPr>
        <p:spPr>
          <a:xfrm>
            <a:off x="685800" y="2880360"/>
            <a:ext cx="2377440" cy="320040"/>
          </a:xfrm>
          <a:prstGeom prst="rect">
            <a:avLst/>
          </a:prstGeom>
          <a:noFill/>
          <a:ln/>
        </p:spPr>
        <p:txBody>
          <a:bodyPr wrap="square" lIns="0" tIns="0" rIns="0" bIns="0" rtlCol="0" anchor="ctr"/>
          <a:lstStyle/>
          <a:p>
            <a:pPr marL="0" indent="0" algn="ctr">
              <a:buNone/>
            </a:pPr>
            <a:r>
              <a:rPr lang="en-US" sz="1450" b="1" dirty="0">
                <a:solidFill>
                  <a:srgbClr val="18231F"/>
                </a:solidFill>
                <a:latin typeface="Cambria" pitchFamily="34" charset="0"/>
                <a:ea typeface="Cambria" pitchFamily="34" charset="-122"/>
                <a:cs typeface="Cambria" pitchFamily="34" charset="-120"/>
              </a:rPr>
              <a:t>Frontend</a:t>
            </a:r>
            <a:endParaRPr lang="en-US" sz="1450" dirty="0"/>
          </a:p>
        </p:txBody>
      </p:sp>
      <p:sp>
        <p:nvSpPr>
          <p:cNvPr id="8" name="Text 5"/>
          <p:cNvSpPr/>
          <p:nvPr/>
        </p:nvSpPr>
        <p:spPr>
          <a:xfrm>
            <a:off x="685800" y="3246120"/>
            <a:ext cx="2377440" cy="1005840"/>
          </a:xfrm>
          <a:prstGeom prst="rect">
            <a:avLst/>
          </a:prstGeom>
          <a:noFill/>
          <a:ln/>
        </p:spPr>
        <p:txBody>
          <a:bodyPr wrap="square" lIns="0" tIns="0" rIns="0" bIns="0" rtlCol="0" anchor="ctr"/>
          <a:lstStyle/>
          <a:p>
            <a:pPr marL="0" indent="0" algn="ctr">
              <a:lnSpc>
                <a:spcPct val="130000"/>
              </a:lnSpc>
              <a:buNone/>
            </a:pPr>
            <a:r>
              <a:rPr lang="en-US" sz="1100" dirty="0">
                <a:solidFill>
                  <a:srgbClr val="55645C"/>
                </a:solidFill>
                <a:latin typeface="Calibri" pitchFamily="34" charset="0"/>
                <a:ea typeface="Calibri" pitchFamily="34" charset="-122"/>
                <a:cs typeface="Calibri" pitchFamily="34" charset="-120"/>
              </a:rPr>
              <a:t>React</a:t>
            </a:r>
            <a:endParaRPr lang="en-US" sz="1100" dirty="0"/>
          </a:p>
          <a:p>
            <a:pPr marL="0" indent="0" algn="ctr">
              <a:lnSpc>
                <a:spcPct val="130000"/>
              </a:lnSpc>
              <a:buNone/>
            </a:pPr>
            <a:r>
              <a:rPr lang="en-US" sz="1100" dirty="0">
                <a:solidFill>
                  <a:srgbClr val="55645C"/>
                </a:solidFill>
                <a:latin typeface="Calibri" pitchFamily="34" charset="0"/>
                <a:ea typeface="Calibri" pitchFamily="34" charset="-122"/>
                <a:cs typeface="Calibri" pitchFamily="34" charset="-120"/>
              </a:rPr>
              <a:t>Tailwind CSS</a:t>
            </a:r>
            <a:endParaRPr lang="en-US" sz="1100" dirty="0"/>
          </a:p>
          <a:p>
            <a:pPr marL="0" indent="0" algn="ctr">
              <a:lnSpc>
                <a:spcPct val="130000"/>
              </a:lnSpc>
              <a:buNone/>
            </a:pPr>
            <a:r>
              <a:rPr lang="en-US" sz="1100" dirty="0">
                <a:solidFill>
                  <a:srgbClr val="55645C"/>
                </a:solidFill>
                <a:latin typeface="Calibri" pitchFamily="34" charset="0"/>
                <a:ea typeface="Calibri" pitchFamily="34" charset="-122"/>
                <a:cs typeface="Calibri" pitchFamily="34" charset="-120"/>
              </a:rPr>
              <a:t>Axios</a:t>
            </a:r>
            <a:endParaRPr lang="en-US" sz="1100" dirty="0"/>
          </a:p>
        </p:txBody>
      </p:sp>
      <p:sp>
        <p:nvSpPr>
          <p:cNvPr id="9" name="Shape 6"/>
          <p:cNvSpPr/>
          <p:nvPr/>
        </p:nvSpPr>
        <p:spPr>
          <a:xfrm>
            <a:off x="3429000" y="1874520"/>
            <a:ext cx="2651760" cy="2468880"/>
          </a:xfrm>
          <a:prstGeom prst="roundRect">
            <a:avLst>
              <a:gd name="adj" fmla="val 3333"/>
            </a:avLst>
          </a:prstGeom>
          <a:solidFill>
            <a:srgbClr val="FFFFFF"/>
          </a:solidFill>
          <a:ln w="12700">
            <a:solidFill>
              <a:srgbClr val="E1DFD3"/>
            </a:solidFill>
            <a:prstDash val="solid"/>
          </a:ln>
        </p:spPr>
      </p:sp>
      <p:sp>
        <p:nvSpPr>
          <p:cNvPr id="10" name="Shape 7"/>
          <p:cNvSpPr/>
          <p:nvPr/>
        </p:nvSpPr>
        <p:spPr>
          <a:xfrm>
            <a:off x="4434840" y="2130552"/>
            <a:ext cx="640080" cy="640080"/>
          </a:xfrm>
          <a:prstGeom prst="ellipse">
            <a:avLst/>
          </a:prstGeom>
          <a:solidFill>
            <a:srgbClr val="13322A"/>
          </a:solidFill>
          <a:ln/>
        </p:spPr>
      </p:sp>
      <p:pic>
        <p:nvPicPr>
          <p:cNvPr id="11" name="Image 1" descr="/home/claude/work/icons/server.png"/>
          <p:cNvPicPr>
            <a:picLocks noChangeAspect="1"/>
          </p:cNvPicPr>
          <p:nvPr/>
        </p:nvPicPr>
        <p:blipFill>
          <a:blip r:embed="rId4"/>
          <a:stretch>
            <a:fillRect/>
          </a:stretch>
        </p:blipFill>
        <p:spPr>
          <a:xfrm>
            <a:off x="4524451" y="2220163"/>
            <a:ext cx="460858" cy="460858"/>
          </a:xfrm>
          <a:prstGeom prst="rect">
            <a:avLst/>
          </a:prstGeom>
        </p:spPr>
      </p:pic>
      <p:sp>
        <p:nvSpPr>
          <p:cNvPr id="12" name="Text 8"/>
          <p:cNvSpPr/>
          <p:nvPr/>
        </p:nvSpPr>
        <p:spPr>
          <a:xfrm>
            <a:off x="3566160" y="2880360"/>
            <a:ext cx="2377440" cy="320040"/>
          </a:xfrm>
          <a:prstGeom prst="rect">
            <a:avLst/>
          </a:prstGeom>
          <a:noFill/>
          <a:ln/>
        </p:spPr>
        <p:txBody>
          <a:bodyPr wrap="square" lIns="0" tIns="0" rIns="0" bIns="0" rtlCol="0" anchor="ctr"/>
          <a:lstStyle/>
          <a:p>
            <a:pPr marL="0" indent="0" algn="ctr">
              <a:buNone/>
            </a:pPr>
            <a:r>
              <a:rPr lang="en-US" sz="1450" b="1" dirty="0">
                <a:solidFill>
                  <a:srgbClr val="18231F"/>
                </a:solidFill>
                <a:latin typeface="Cambria" pitchFamily="34" charset="0"/>
                <a:ea typeface="Cambria" pitchFamily="34" charset="-122"/>
                <a:cs typeface="Cambria" pitchFamily="34" charset="-120"/>
              </a:rPr>
              <a:t>Backend</a:t>
            </a:r>
            <a:endParaRPr lang="en-US" sz="1450" dirty="0"/>
          </a:p>
        </p:txBody>
      </p:sp>
      <p:sp>
        <p:nvSpPr>
          <p:cNvPr id="13" name="Text 9"/>
          <p:cNvSpPr/>
          <p:nvPr/>
        </p:nvSpPr>
        <p:spPr>
          <a:xfrm>
            <a:off x="3566160" y="3246120"/>
            <a:ext cx="2377440" cy="1005840"/>
          </a:xfrm>
          <a:prstGeom prst="rect">
            <a:avLst/>
          </a:prstGeom>
          <a:noFill/>
          <a:ln/>
        </p:spPr>
        <p:txBody>
          <a:bodyPr wrap="square" lIns="0" tIns="0" rIns="0" bIns="0" rtlCol="0" anchor="ctr"/>
          <a:lstStyle/>
          <a:p>
            <a:pPr marL="0" indent="0" algn="ctr">
              <a:lnSpc>
                <a:spcPct val="130000"/>
              </a:lnSpc>
              <a:buNone/>
            </a:pPr>
            <a:r>
              <a:rPr lang="en-US" sz="1100" dirty="0">
                <a:solidFill>
                  <a:srgbClr val="55645C"/>
                </a:solidFill>
                <a:latin typeface="Calibri" pitchFamily="34" charset="0"/>
                <a:ea typeface="Calibri" pitchFamily="34" charset="-122"/>
                <a:cs typeface="Calibri" pitchFamily="34" charset="-120"/>
              </a:rPr>
              <a:t>FastAPI</a:t>
            </a:r>
            <a:endParaRPr lang="en-US" sz="1100" dirty="0"/>
          </a:p>
          <a:p>
            <a:pPr marL="0" indent="0" algn="ctr">
              <a:lnSpc>
                <a:spcPct val="130000"/>
              </a:lnSpc>
              <a:buNone/>
            </a:pPr>
            <a:r>
              <a:rPr lang="en-US" sz="1100" dirty="0">
                <a:solidFill>
                  <a:srgbClr val="55645C"/>
                </a:solidFill>
                <a:latin typeface="Calibri" pitchFamily="34" charset="0"/>
                <a:ea typeface="Calibri" pitchFamily="34" charset="-122"/>
                <a:cs typeface="Calibri" pitchFamily="34" charset="-120"/>
              </a:rPr>
              <a:t>Python</a:t>
            </a:r>
            <a:endParaRPr lang="en-US" sz="1100" dirty="0"/>
          </a:p>
        </p:txBody>
      </p:sp>
      <p:sp>
        <p:nvSpPr>
          <p:cNvPr id="14" name="Shape 10"/>
          <p:cNvSpPr/>
          <p:nvPr/>
        </p:nvSpPr>
        <p:spPr>
          <a:xfrm>
            <a:off x="6309360" y="1874520"/>
            <a:ext cx="2651760" cy="2468880"/>
          </a:xfrm>
          <a:prstGeom prst="roundRect">
            <a:avLst>
              <a:gd name="adj" fmla="val 3333"/>
            </a:avLst>
          </a:prstGeom>
          <a:solidFill>
            <a:srgbClr val="FFFFFF"/>
          </a:solidFill>
          <a:ln w="12700">
            <a:solidFill>
              <a:srgbClr val="E1DFD3"/>
            </a:solidFill>
            <a:prstDash val="solid"/>
          </a:ln>
        </p:spPr>
      </p:sp>
      <p:sp>
        <p:nvSpPr>
          <p:cNvPr id="15" name="Shape 11"/>
          <p:cNvSpPr/>
          <p:nvPr/>
        </p:nvSpPr>
        <p:spPr>
          <a:xfrm>
            <a:off x="7315200" y="2130552"/>
            <a:ext cx="640080" cy="640080"/>
          </a:xfrm>
          <a:prstGeom prst="ellipse">
            <a:avLst/>
          </a:prstGeom>
          <a:solidFill>
            <a:srgbClr val="13322A"/>
          </a:solidFill>
          <a:ln/>
        </p:spPr>
      </p:sp>
      <p:pic>
        <p:nvPicPr>
          <p:cNvPr id="16" name="Image 2" descr="/home/claude/work/icons/brain.png"/>
          <p:cNvPicPr>
            <a:picLocks noChangeAspect="1"/>
          </p:cNvPicPr>
          <p:nvPr/>
        </p:nvPicPr>
        <p:blipFill>
          <a:blip r:embed="rId5"/>
          <a:stretch>
            <a:fillRect/>
          </a:stretch>
        </p:blipFill>
        <p:spPr>
          <a:xfrm>
            <a:off x="7404811" y="2220163"/>
            <a:ext cx="460858" cy="460858"/>
          </a:xfrm>
          <a:prstGeom prst="rect">
            <a:avLst/>
          </a:prstGeom>
        </p:spPr>
      </p:pic>
      <p:sp>
        <p:nvSpPr>
          <p:cNvPr id="17" name="Text 12"/>
          <p:cNvSpPr/>
          <p:nvPr/>
        </p:nvSpPr>
        <p:spPr>
          <a:xfrm>
            <a:off x="6446520" y="2880360"/>
            <a:ext cx="2377440" cy="320040"/>
          </a:xfrm>
          <a:prstGeom prst="rect">
            <a:avLst/>
          </a:prstGeom>
          <a:noFill/>
          <a:ln/>
        </p:spPr>
        <p:txBody>
          <a:bodyPr wrap="square" lIns="0" tIns="0" rIns="0" bIns="0" rtlCol="0" anchor="ctr"/>
          <a:lstStyle/>
          <a:p>
            <a:pPr marL="0" indent="0" algn="ctr">
              <a:buNone/>
            </a:pPr>
            <a:r>
              <a:rPr lang="en-US" sz="1450" b="1" dirty="0">
                <a:solidFill>
                  <a:srgbClr val="18231F"/>
                </a:solidFill>
                <a:latin typeface="Cambria" pitchFamily="34" charset="0"/>
                <a:ea typeface="Cambria" pitchFamily="34" charset="-122"/>
                <a:cs typeface="Cambria" pitchFamily="34" charset="-120"/>
              </a:rPr>
              <a:t>AI</a:t>
            </a:r>
            <a:endParaRPr lang="en-US" sz="1450" dirty="0"/>
          </a:p>
        </p:txBody>
      </p:sp>
      <p:sp>
        <p:nvSpPr>
          <p:cNvPr id="18" name="Text 13"/>
          <p:cNvSpPr/>
          <p:nvPr/>
        </p:nvSpPr>
        <p:spPr>
          <a:xfrm>
            <a:off x="6446520" y="3246120"/>
            <a:ext cx="2377440" cy="1005840"/>
          </a:xfrm>
          <a:prstGeom prst="rect">
            <a:avLst/>
          </a:prstGeom>
          <a:noFill/>
          <a:ln/>
        </p:spPr>
        <p:txBody>
          <a:bodyPr wrap="square" lIns="0" tIns="0" rIns="0" bIns="0" rtlCol="0" anchor="ctr"/>
          <a:lstStyle/>
          <a:p>
            <a:pPr marL="0" indent="0" algn="ctr">
              <a:lnSpc>
                <a:spcPct val="130000"/>
              </a:lnSpc>
              <a:buNone/>
            </a:pPr>
            <a:r>
              <a:rPr lang="en-US" sz="1100" dirty="0">
                <a:solidFill>
                  <a:srgbClr val="55645C"/>
                </a:solidFill>
                <a:latin typeface="Calibri" pitchFamily="34" charset="0"/>
                <a:ea typeface="Calibri" pitchFamily="34" charset="-122"/>
                <a:cs typeface="Calibri" pitchFamily="34" charset="-120"/>
              </a:rPr>
              <a:t>TF-IDF</a:t>
            </a:r>
            <a:endParaRPr lang="en-US" sz="1100" dirty="0"/>
          </a:p>
          <a:p>
            <a:pPr marL="0" indent="0" algn="ctr">
              <a:lnSpc>
                <a:spcPct val="130000"/>
              </a:lnSpc>
              <a:buNone/>
            </a:pPr>
            <a:r>
              <a:rPr lang="en-US" sz="1100" dirty="0">
                <a:solidFill>
                  <a:srgbClr val="55645C"/>
                </a:solidFill>
                <a:latin typeface="Calibri" pitchFamily="34" charset="0"/>
                <a:ea typeface="Calibri" pitchFamily="34" charset="-122"/>
                <a:cs typeface="Calibri" pitchFamily="34" charset="-120"/>
              </a:rPr>
              <a:t>RAG</a:t>
            </a:r>
            <a:endParaRPr lang="en-US" sz="1100" dirty="0"/>
          </a:p>
          <a:p>
            <a:pPr marL="0" indent="0" algn="ctr">
              <a:lnSpc>
                <a:spcPct val="130000"/>
              </a:lnSpc>
              <a:buNone/>
            </a:pPr>
            <a:r>
              <a:rPr lang="en-US" sz="1100" dirty="0">
                <a:solidFill>
                  <a:srgbClr val="55645C"/>
                </a:solidFill>
                <a:latin typeface="Calibri" pitchFamily="34" charset="0"/>
                <a:ea typeface="Calibri" pitchFamily="34" charset="-122"/>
                <a:cs typeface="Calibri" pitchFamily="34" charset="-120"/>
              </a:rPr>
              <a:t>LiteLLM</a:t>
            </a:r>
            <a:endParaRPr lang="en-US" sz="1100" dirty="0"/>
          </a:p>
          <a:p>
            <a:pPr marL="0" indent="0" algn="ctr">
              <a:lnSpc>
                <a:spcPct val="130000"/>
              </a:lnSpc>
              <a:buNone/>
            </a:pPr>
            <a:r>
              <a:rPr lang="en-US" sz="1100" dirty="0">
                <a:solidFill>
                  <a:srgbClr val="55645C"/>
                </a:solidFill>
                <a:latin typeface="Calibri" pitchFamily="34" charset="0"/>
                <a:ea typeface="Calibri" pitchFamily="34" charset="-122"/>
                <a:cs typeface="Calibri" pitchFamily="34" charset="-120"/>
              </a:rPr>
              <a:t>Groq</a:t>
            </a:r>
            <a:endParaRPr lang="en-US" sz="1100" dirty="0"/>
          </a:p>
          <a:p>
            <a:pPr marL="0" indent="0" algn="ctr">
              <a:lnSpc>
                <a:spcPct val="130000"/>
              </a:lnSpc>
              <a:buNone/>
            </a:pPr>
            <a:r>
              <a:rPr lang="en-US" sz="1100" dirty="0">
                <a:solidFill>
                  <a:srgbClr val="55645C"/>
                </a:solidFill>
                <a:latin typeface="Calibri" pitchFamily="34" charset="0"/>
                <a:ea typeface="Calibri" pitchFamily="34" charset="-122"/>
                <a:cs typeface="Calibri" pitchFamily="34" charset="-120"/>
              </a:rPr>
              <a:t>Gemini</a:t>
            </a:r>
            <a:endParaRPr lang="en-US" sz="1100" dirty="0"/>
          </a:p>
        </p:txBody>
      </p:sp>
      <p:sp>
        <p:nvSpPr>
          <p:cNvPr id="19" name="Shape 14"/>
          <p:cNvSpPr/>
          <p:nvPr/>
        </p:nvSpPr>
        <p:spPr>
          <a:xfrm>
            <a:off x="9189720" y="1874520"/>
            <a:ext cx="2651760" cy="2468880"/>
          </a:xfrm>
          <a:prstGeom prst="roundRect">
            <a:avLst>
              <a:gd name="adj" fmla="val 3333"/>
            </a:avLst>
          </a:prstGeom>
          <a:solidFill>
            <a:srgbClr val="FFFFFF"/>
          </a:solidFill>
          <a:ln w="12700">
            <a:solidFill>
              <a:srgbClr val="E1DFD3"/>
            </a:solidFill>
            <a:prstDash val="solid"/>
          </a:ln>
        </p:spPr>
      </p:sp>
      <p:sp>
        <p:nvSpPr>
          <p:cNvPr id="20" name="Shape 15"/>
          <p:cNvSpPr/>
          <p:nvPr/>
        </p:nvSpPr>
        <p:spPr>
          <a:xfrm>
            <a:off x="10195560" y="2130552"/>
            <a:ext cx="640080" cy="640080"/>
          </a:xfrm>
          <a:prstGeom prst="ellipse">
            <a:avLst/>
          </a:prstGeom>
          <a:solidFill>
            <a:srgbClr val="13322A"/>
          </a:solidFill>
          <a:ln/>
        </p:spPr>
      </p:sp>
      <p:pic>
        <p:nvPicPr>
          <p:cNvPr id="21" name="Image 3" descr="/home/claude/work/icons/rag.png"/>
          <p:cNvPicPr>
            <a:picLocks noChangeAspect="1"/>
          </p:cNvPicPr>
          <p:nvPr/>
        </p:nvPicPr>
        <p:blipFill>
          <a:blip r:embed="rId6"/>
          <a:stretch>
            <a:fillRect/>
          </a:stretch>
        </p:blipFill>
        <p:spPr>
          <a:xfrm>
            <a:off x="10285171" y="2220163"/>
            <a:ext cx="460858" cy="460858"/>
          </a:xfrm>
          <a:prstGeom prst="rect">
            <a:avLst/>
          </a:prstGeom>
        </p:spPr>
      </p:pic>
      <p:sp>
        <p:nvSpPr>
          <p:cNvPr id="22" name="Text 16"/>
          <p:cNvSpPr/>
          <p:nvPr/>
        </p:nvSpPr>
        <p:spPr>
          <a:xfrm>
            <a:off x="9326880" y="2880360"/>
            <a:ext cx="2377440" cy="320040"/>
          </a:xfrm>
          <a:prstGeom prst="rect">
            <a:avLst/>
          </a:prstGeom>
          <a:noFill/>
          <a:ln/>
        </p:spPr>
        <p:txBody>
          <a:bodyPr wrap="square" lIns="0" tIns="0" rIns="0" bIns="0" rtlCol="0" anchor="ctr"/>
          <a:lstStyle/>
          <a:p>
            <a:pPr marL="0" indent="0" algn="ctr">
              <a:buNone/>
            </a:pPr>
            <a:r>
              <a:rPr lang="en-US" sz="1450" b="1" dirty="0">
                <a:solidFill>
                  <a:srgbClr val="18231F"/>
                </a:solidFill>
                <a:latin typeface="Cambria" pitchFamily="34" charset="0"/>
                <a:ea typeface="Cambria" pitchFamily="34" charset="-122"/>
                <a:cs typeface="Cambria" pitchFamily="34" charset="-120"/>
              </a:rPr>
              <a:t>Database</a:t>
            </a:r>
            <a:endParaRPr lang="en-US" sz="1450" dirty="0"/>
          </a:p>
        </p:txBody>
      </p:sp>
      <p:sp>
        <p:nvSpPr>
          <p:cNvPr id="23" name="Text 17"/>
          <p:cNvSpPr/>
          <p:nvPr/>
        </p:nvSpPr>
        <p:spPr>
          <a:xfrm>
            <a:off x="9326880" y="3246120"/>
            <a:ext cx="2377440" cy="1005840"/>
          </a:xfrm>
          <a:prstGeom prst="rect">
            <a:avLst/>
          </a:prstGeom>
          <a:noFill/>
          <a:ln/>
        </p:spPr>
        <p:txBody>
          <a:bodyPr wrap="square" lIns="0" tIns="0" rIns="0" bIns="0" rtlCol="0" anchor="ctr"/>
          <a:lstStyle/>
          <a:p>
            <a:pPr marL="0" indent="0" algn="ctr">
              <a:lnSpc>
                <a:spcPct val="130000"/>
              </a:lnSpc>
              <a:buNone/>
            </a:pPr>
            <a:r>
              <a:rPr lang="en-US" sz="1100" dirty="0">
                <a:solidFill>
                  <a:srgbClr val="55645C"/>
                </a:solidFill>
                <a:latin typeface="Calibri" pitchFamily="34" charset="0"/>
                <a:ea typeface="Calibri" pitchFamily="34" charset="-122"/>
                <a:cs typeface="Calibri" pitchFamily="34" charset="-120"/>
              </a:rPr>
              <a:t>CSV Knowledge Base</a:t>
            </a:r>
            <a:endParaRPr lang="en-US" sz="1100" dirty="0"/>
          </a:p>
        </p:txBody>
      </p:sp>
      <p:sp>
        <p:nvSpPr>
          <p:cNvPr id="24" name="Text 18"/>
          <p:cNvSpPr/>
          <p:nvPr/>
        </p:nvSpPr>
        <p:spPr>
          <a:xfrm>
            <a:off x="548640" y="4617720"/>
            <a:ext cx="3657600" cy="274320"/>
          </a:xfrm>
          <a:prstGeom prst="rect">
            <a:avLst/>
          </a:prstGeom>
          <a:noFill/>
          <a:ln/>
        </p:spPr>
        <p:txBody>
          <a:bodyPr wrap="square" rtlCol="0" anchor="ctr"/>
          <a:lstStyle/>
          <a:p>
            <a:pPr marL="0" indent="0">
              <a:buNone/>
            </a:pPr>
            <a:r>
              <a:rPr lang="en-US" sz="1100" b="1" kern="0" spc="150" dirty="0">
                <a:solidFill>
                  <a:srgbClr val="4C7A5E"/>
                </a:solidFill>
                <a:latin typeface="Calibri" pitchFamily="34" charset="0"/>
                <a:ea typeface="Calibri" pitchFamily="34" charset="-122"/>
                <a:cs typeface="Calibri" pitchFamily="34" charset="-120"/>
              </a:rPr>
              <a:t>LIBRARIES</a:t>
            </a:r>
            <a:endParaRPr lang="en-US" sz="1100" dirty="0"/>
          </a:p>
        </p:txBody>
      </p:sp>
      <p:sp>
        <p:nvSpPr>
          <p:cNvPr id="25" name="Shape 19"/>
          <p:cNvSpPr/>
          <p:nvPr/>
        </p:nvSpPr>
        <p:spPr>
          <a:xfrm>
            <a:off x="548640" y="4937760"/>
            <a:ext cx="1600200" cy="457200"/>
          </a:xfrm>
          <a:prstGeom prst="roundRect">
            <a:avLst>
              <a:gd name="adj" fmla="val 50000"/>
            </a:avLst>
          </a:prstGeom>
          <a:solidFill>
            <a:srgbClr val="13322A"/>
          </a:solidFill>
          <a:ln/>
        </p:spPr>
      </p:sp>
      <p:sp>
        <p:nvSpPr>
          <p:cNvPr id="26" name="Text 20"/>
          <p:cNvSpPr/>
          <p:nvPr/>
        </p:nvSpPr>
        <p:spPr>
          <a:xfrm>
            <a:off x="548640" y="4937760"/>
            <a:ext cx="160020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scikit-learn</a:t>
            </a:r>
            <a:endParaRPr lang="en-US" sz="1150" dirty="0"/>
          </a:p>
        </p:txBody>
      </p:sp>
      <p:sp>
        <p:nvSpPr>
          <p:cNvPr id="27" name="Shape 21"/>
          <p:cNvSpPr/>
          <p:nvPr/>
        </p:nvSpPr>
        <p:spPr>
          <a:xfrm>
            <a:off x="2331720" y="4937760"/>
            <a:ext cx="1051560" cy="457200"/>
          </a:xfrm>
          <a:prstGeom prst="roundRect">
            <a:avLst>
              <a:gd name="adj" fmla="val 50000"/>
            </a:avLst>
          </a:prstGeom>
          <a:solidFill>
            <a:srgbClr val="13322A"/>
          </a:solidFill>
          <a:ln/>
        </p:spPr>
      </p:sp>
      <p:sp>
        <p:nvSpPr>
          <p:cNvPr id="28" name="Text 22"/>
          <p:cNvSpPr/>
          <p:nvPr/>
        </p:nvSpPr>
        <p:spPr>
          <a:xfrm>
            <a:off x="2331720" y="4937760"/>
            <a:ext cx="10515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pandas</a:t>
            </a:r>
            <a:endParaRPr lang="en-US" sz="1150" dirty="0"/>
          </a:p>
        </p:txBody>
      </p:sp>
      <p:sp>
        <p:nvSpPr>
          <p:cNvPr id="29" name="Shape 23"/>
          <p:cNvSpPr/>
          <p:nvPr/>
        </p:nvSpPr>
        <p:spPr>
          <a:xfrm>
            <a:off x="3566160" y="4937760"/>
            <a:ext cx="960120" cy="457200"/>
          </a:xfrm>
          <a:prstGeom prst="roundRect">
            <a:avLst>
              <a:gd name="adj" fmla="val 50000"/>
            </a:avLst>
          </a:prstGeom>
          <a:solidFill>
            <a:srgbClr val="13322A"/>
          </a:solidFill>
          <a:ln/>
        </p:spPr>
      </p:sp>
      <p:sp>
        <p:nvSpPr>
          <p:cNvPr id="30" name="Text 24"/>
          <p:cNvSpPr/>
          <p:nvPr/>
        </p:nvSpPr>
        <p:spPr>
          <a:xfrm>
            <a:off x="3566160" y="4937760"/>
            <a:ext cx="96012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numpy</a:t>
            </a:r>
            <a:endParaRPr lang="en-US" sz="1150" dirty="0"/>
          </a:p>
        </p:txBody>
      </p:sp>
      <p:sp>
        <p:nvSpPr>
          <p:cNvPr id="31" name="Shape 25"/>
          <p:cNvSpPr/>
          <p:nvPr/>
        </p:nvSpPr>
        <p:spPr>
          <a:xfrm>
            <a:off x="4709160" y="4937760"/>
            <a:ext cx="1051560" cy="457200"/>
          </a:xfrm>
          <a:prstGeom prst="roundRect">
            <a:avLst>
              <a:gd name="adj" fmla="val 50000"/>
            </a:avLst>
          </a:prstGeom>
          <a:solidFill>
            <a:srgbClr val="13322A"/>
          </a:solidFill>
          <a:ln/>
        </p:spPr>
      </p:sp>
      <p:sp>
        <p:nvSpPr>
          <p:cNvPr id="32" name="Text 26"/>
          <p:cNvSpPr/>
          <p:nvPr/>
        </p:nvSpPr>
        <p:spPr>
          <a:xfrm>
            <a:off x="4709160" y="4937760"/>
            <a:ext cx="10515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joblib</a:t>
            </a:r>
            <a:endParaRPr lang="en-US" sz="1150" dirty="0"/>
          </a:p>
        </p:txBody>
      </p:sp>
      <p:sp>
        <p:nvSpPr>
          <p:cNvPr id="33" name="Shape 27"/>
          <p:cNvSpPr/>
          <p:nvPr/>
        </p:nvSpPr>
        <p:spPr>
          <a:xfrm>
            <a:off x="5943600" y="4937760"/>
            <a:ext cx="1234440" cy="457200"/>
          </a:xfrm>
          <a:prstGeom prst="roundRect">
            <a:avLst>
              <a:gd name="adj" fmla="val 50000"/>
            </a:avLst>
          </a:prstGeom>
          <a:solidFill>
            <a:srgbClr val="13322A"/>
          </a:solidFill>
          <a:ln/>
        </p:spPr>
      </p:sp>
      <p:sp>
        <p:nvSpPr>
          <p:cNvPr id="34" name="Text 28"/>
          <p:cNvSpPr/>
          <p:nvPr/>
        </p:nvSpPr>
        <p:spPr>
          <a:xfrm>
            <a:off x="5943600" y="4937760"/>
            <a:ext cx="123444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pydantic</a:t>
            </a:r>
            <a:endParaRPr lang="en-US" sz="1150" dirty="0"/>
          </a:p>
        </p:txBody>
      </p:sp>
      <p:sp>
        <p:nvSpPr>
          <p:cNvPr id="35" name="Text 29"/>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36" name="Text 30"/>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UNDERSTANDING INTENT</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Query processing</a:t>
            </a:r>
            <a:endParaRPr lang="en-US" sz="2800" dirty="0"/>
          </a:p>
        </p:txBody>
      </p:sp>
      <p:sp>
        <p:nvSpPr>
          <p:cNvPr id="4" name="Shape 2"/>
          <p:cNvSpPr/>
          <p:nvPr/>
        </p:nvSpPr>
        <p:spPr>
          <a:xfrm>
            <a:off x="548640" y="1874520"/>
            <a:ext cx="3566160" cy="3749040"/>
          </a:xfrm>
          <a:prstGeom prst="roundRect">
            <a:avLst>
              <a:gd name="adj" fmla="val 2308"/>
            </a:avLst>
          </a:prstGeom>
          <a:solidFill>
            <a:srgbClr val="FFFFFF"/>
          </a:solidFill>
          <a:ln w="12700">
            <a:solidFill>
              <a:srgbClr val="E1DFD3"/>
            </a:solidFill>
            <a:prstDash val="solid"/>
          </a:ln>
        </p:spPr>
      </p:sp>
      <p:sp>
        <p:nvSpPr>
          <p:cNvPr id="5" name="Shape 3"/>
          <p:cNvSpPr/>
          <p:nvPr/>
        </p:nvSpPr>
        <p:spPr>
          <a:xfrm>
            <a:off x="822960" y="2148840"/>
            <a:ext cx="685800" cy="685800"/>
          </a:xfrm>
          <a:prstGeom prst="ellipse">
            <a:avLst/>
          </a:prstGeom>
          <a:solidFill>
            <a:srgbClr val="13322A"/>
          </a:solidFill>
          <a:ln/>
        </p:spPr>
      </p:sp>
      <p:pic>
        <p:nvPicPr>
          <p:cNvPr id="6" name="Image 0" descr="/home/claude/work/icons/filter.png"/>
          <p:cNvPicPr>
            <a:picLocks noChangeAspect="1"/>
          </p:cNvPicPr>
          <p:nvPr/>
        </p:nvPicPr>
        <p:blipFill>
          <a:blip r:embed="rId3"/>
          <a:stretch>
            <a:fillRect/>
          </a:stretch>
        </p:blipFill>
        <p:spPr>
          <a:xfrm>
            <a:off x="918972" y="2244852"/>
            <a:ext cx="493776" cy="493776"/>
          </a:xfrm>
          <a:prstGeom prst="rect">
            <a:avLst/>
          </a:prstGeom>
        </p:spPr>
      </p:pic>
      <p:sp>
        <p:nvSpPr>
          <p:cNvPr id="7" name="Text 4"/>
          <p:cNvSpPr/>
          <p:nvPr/>
        </p:nvSpPr>
        <p:spPr>
          <a:xfrm>
            <a:off x="822960" y="3017520"/>
            <a:ext cx="3017520" cy="411480"/>
          </a:xfrm>
          <a:prstGeom prst="rect">
            <a:avLst/>
          </a:prstGeom>
          <a:noFill/>
          <a:ln/>
        </p:spPr>
        <p:txBody>
          <a:bodyPr wrap="square" lIns="0" tIns="0" rIns="0" bIns="0" rtlCol="0" anchor="ctr"/>
          <a:lstStyle/>
          <a:p>
            <a:pPr marL="0" indent="0">
              <a:buNone/>
            </a:pPr>
            <a:r>
              <a:rPr lang="en-US" sz="1600" b="1" dirty="0">
                <a:solidFill>
                  <a:srgbClr val="18231F"/>
                </a:solidFill>
                <a:latin typeface="Cambria" pitchFamily="34" charset="0"/>
                <a:ea typeface="Cambria" pitchFamily="34" charset="-122"/>
                <a:cs typeface="Cambria" pitchFamily="34" charset="-120"/>
              </a:rPr>
              <a:t>Normalization</a:t>
            </a:r>
            <a:endParaRPr lang="en-US" sz="1600" dirty="0"/>
          </a:p>
        </p:txBody>
      </p:sp>
      <p:sp>
        <p:nvSpPr>
          <p:cNvPr id="8" name="Text 5"/>
          <p:cNvSpPr/>
          <p:nvPr/>
        </p:nvSpPr>
        <p:spPr>
          <a:xfrm>
            <a:off x="822960" y="3520440"/>
            <a:ext cx="3017520" cy="1920240"/>
          </a:xfrm>
          <a:prstGeom prst="rect">
            <a:avLst/>
          </a:prstGeom>
          <a:noFill/>
          <a:ln/>
        </p:spPr>
        <p:txBody>
          <a:bodyPr wrap="square" lIns="0" tIns="0" rIns="0" bIns="0" rtlCol="0" anchor="ctr"/>
          <a:lstStyle/>
          <a:p>
            <a:pPr marL="0" indent="0">
              <a:lnSpc>
                <a:spcPct val="125000"/>
              </a:lnSpc>
              <a:buNone/>
            </a:pPr>
            <a:r>
              <a:rPr lang="en-US" sz="1150" dirty="0">
                <a:solidFill>
                  <a:srgbClr val="55645C"/>
                </a:solidFill>
                <a:latin typeface="Calibri" pitchFamily="34" charset="0"/>
                <a:ea typeface="Calibri" pitchFamily="34" charset="-122"/>
                <a:cs typeface="Calibri" pitchFamily="34" charset="-120"/>
              </a:rPr>
              <a:t>Cleans and standardizes raw farmer text (e.g. "Potash" → "K", "Bugs" → "Pest").</a:t>
            </a:r>
            <a:endParaRPr lang="en-US" sz="1150" dirty="0"/>
          </a:p>
        </p:txBody>
      </p:sp>
      <p:sp>
        <p:nvSpPr>
          <p:cNvPr id="9" name="Shape 6"/>
          <p:cNvSpPr/>
          <p:nvPr/>
        </p:nvSpPr>
        <p:spPr>
          <a:xfrm>
            <a:off x="4297680" y="1874520"/>
            <a:ext cx="3566160" cy="3749040"/>
          </a:xfrm>
          <a:prstGeom prst="roundRect">
            <a:avLst>
              <a:gd name="adj" fmla="val 2308"/>
            </a:avLst>
          </a:prstGeom>
          <a:solidFill>
            <a:srgbClr val="FFFFFF"/>
          </a:solidFill>
          <a:ln w="12700">
            <a:solidFill>
              <a:srgbClr val="E1DFD3"/>
            </a:solidFill>
            <a:prstDash val="solid"/>
          </a:ln>
        </p:spPr>
      </p:sp>
      <p:sp>
        <p:nvSpPr>
          <p:cNvPr id="10" name="Shape 7"/>
          <p:cNvSpPr/>
          <p:nvPr/>
        </p:nvSpPr>
        <p:spPr>
          <a:xfrm>
            <a:off x="4572000" y="2148840"/>
            <a:ext cx="685800" cy="685800"/>
          </a:xfrm>
          <a:prstGeom prst="ellipse">
            <a:avLst/>
          </a:prstGeom>
          <a:solidFill>
            <a:srgbClr val="13322A"/>
          </a:solidFill>
          <a:ln/>
        </p:spPr>
      </p:sp>
      <p:pic>
        <p:nvPicPr>
          <p:cNvPr id="11" name="Image 1" descr="/home/claude/work/icons/tags.png"/>
          <p:cNvPicPr>
            <a:picLocks noChangeAspect="1"/>
          </p:cNvPicPr>
          <p:nvPr/>
        </p:nvPicPr>
        <p:blipFill>
          <a:blip r:embed="rId4"/>
          <a:stretch>
            <a:fillRect/>
          </a:stretch>
        </p:blipFill>
        <p:spPr>
          <a:xfrm>
            <a:off x="4668012" y="2244852"/>
            <a:ext cx="493776" cy="493776"/>
          </a:xfrm>
          <a:prstGeom prst="rect">
            <a:avLst/>
          </a:prstGeom>
        </p:spPr>
      </p:pic>
      <p:sp>
        <p:nvSpPr>
          <p:cNvPr id="12" name="Text 8"/>
          <p:cNvSpPr/>
          <p:nvPr/>
        </p:nvSpPr>
        <p:spPr>
          <a:xfrm>
            <a:off x="4572000" y="3017520"/>
            <a:ext cx="3017520" cy="411480"/>
          </a:xfrm>
          <a:prstGeom prst="rect">
            <a:avLst/>
          </a:prstGeom>
          <a:noFill/>
          <a:ln/>
        </p:spPr>
        <p:txBody>
          <a:bodyPr wrap="square" lIns="0" tIns="0" rIns="0" bIns="0" rtlCol="0" anchor="ctr"/>
          <a:lstStyle/>
          <a:p>
            <a:pPr marL="0" indent="0">
              <a:buNone/>
            </a:pPr>
            <a:r>
              <a:rPr lang="en-US" sz="1600" b="1" dirty="0">
                <a:solidFill>
                  <a:srgbClr val="18231F"/>
                </a:solidFill>
                <a:latin typeface="Cambria" pitchFamily="34" charset="0"/>
                <a:ea typeface="Cambria" pitchFamily="34" charset="-122"/>
                <a:cs typeface="Cambria" pitchFamily="34" charset="-120"/>
              </a:rPr>
              <a:t>Entity Extraction</a:t>
            </a:r>
            <a:endParaRPr lang="en-US" sz="1600" dirty="0"/>
          </a:p>
        </p:txBody>
      </p:sp>
      <p:sp>
        <p:nvSpPr>
          <p:cNvPr id="13" name="Text 9"/>
          <p:cNvSpPr/>
          <p:nvPr/>
        </p:nvSpPr>
        <p:spPr>
          <a:xfrm>
            <a:off x="4572000" y="3520440"/>
            <a:ext cx="3017520" cy="1920240"/>
          </a:xfrm>
          <a:prstGeom prst="rect">
            <a:avLst/>
          </a:prstGeom>
          <a:noFill/>
          <a:ln/>
        </p:spPr>
        <p:txBody>
          <a:bodyPr wrap="square" lIns="0" tIns="0" rIns="0" bIns="0" rtlCol="0" anchor="ctr"/>
          <a:lstStyle/>
          <a:p>
            <a:pPr marL="0" indent="0">
              <a:lnSpc>
                <a:spcPct val="125000"/>
              </a:lnSpc>
              <a:buNone/>
            </a:pPr>
            <a:r>
              <a:rPr lang="en-US" sz="1150" dirty="0">
                <a:solidFill>
                  <a:srgbClr val="55645C"/>
                </a:solidFill>
                <a:latin typeface="Calibri" pitchFamily="34" charset="0"/>
                <a:ea typeface="Calibri" pitchFamily="34" charset="-122"/>
                <a:cs typeface="Calibri" pitchFamily="34" charset="-120"/>
              </a:rPr>
              <a:t>Detects Crop, NPK, Temperature, Humidity, Rainfall, Symptoms, Growth Stage.</a:t>
            </a:r>
            <a:endParaRPr lang="en-US" sz="1150" dirty="0"/>
          </a:p>
        </p:txBody>
      </p:sp>
      <p:sp>
        <p:nvSpPr>
          <p:cNvPr id="14" name="Shape 10"/>
          <p:cNvSpPr/>
          <p:nvPr/>
        </p:nvSpPr>
        <p:spPr>
          <a:xfrm>
            <a:off x="8046720" y="1874520"/>
            <a:ext cx="3566160" cy="3749040"/>
          </a:xfrm>
          <a:prstGeom prst="roundRect">
            <a:avLst>
              <a:gd name="adj" fmla="val 2308"/>
            </a:avLst>
          </a:prstGeom>
          <a:solidFill>
            <a:srgbClr val="FFFFFF"/>
          </a:solidFill>
          <a:ln w="12700">
            <a:solidFill>
              <a:srgbClr val="E1DFD3"/>
            </a:solidFill>
            <a:prstDash val="solid"/>
          </a:ln>
        </p:spPr>
      </p:sp>
      <p:sp>
        <p:nvSpPr>
          <p:cNvPr id="15" name="Shape 11"/>
          <p:cNvSpPr/>
          <p:nvPr/>
        </p:nvSpPr>
        <p:spPr>
          <a:xfrm>
            <a:off x="8321040" y="2148840"/>
            <a:ext cx="685800" cy="685800"/>
          </a:xfrm>
          <a:prstGeom prst="ellipse">
            <a:avLst/>
          </a:prstGeom>
          <a:solidFill>
            <a:srgbClr val="13322A"/>
          </a:solidFill>
          <a:ln/>
        </p:spPr>
      </p:sp>
      <p:pic>
        <p:nvPicPr>
          <p:cNvPr id="16" name="Image 2" descr="/home/claude/work/icons/bullseye.png"/>
          <p:cNvPicPr>
            <a:picLocks noChangeAspect="1"/>
          </p:cNvPicPr>
          <p:nvPr/>
        </p:nvPicPr>
        <p:blipFill>
          <a:blip r:embed="rId5"/>
          <a:stretch>
            <a:fillRect/>
          </a:stretch>
        </p:blipFill>
        <p:spPr>
          <a:xfrm>
            <a:off x="8417052" y="2244852"/>
            <a:ext cx="493776" cy="493776"/>
          </a:xfrm>
          <a:prstGeom prst="rect">
            <a:avLst/>
          </a:prstGeom>
        </p:spPr>
      </p:pic>
      <p:sp>
        <p:nvSpPr>
          <p:cNvPr id="17" name="Text 12"/>
          <p:cNvSpPr/>
          <p:nvPr/>
        </p:nvSpPr>
        <p:spPr>
          <a:xfrm>
            <a:off x="8321040" y="3017520"/>
            <a:ext cx="3017520" cy="411480"/>
          </a:xfrm>
          <a:prstGeom prst="rect">
            <a:avLst/>
          </a:prstGeom>
          <a:noFill/>
          <a:ln/>
        </p:spPr>
        <p:txBody>
          <a:bodyPr wrap="square" lIns="0" tIns="0" rIns="0" bIns="0" rtlCol="0" anchor="ctr"/>
          <a:lstStyle/>
          <a:p>
            <a:pPr marL="0" indent="0">
              <a:buNone/>
            </a:pPr>
            <a:r>
              <a:rPr lang="en-US" sz="1600" b="1" dirty="0">
                <a:solidFill>
                  <a:srgbClr val="18231F"/>
                </a:solidFill>
                <a:latin typeface="Cambria" pitchFamily="34" charset="0"/>
                <a:ea typeface="Cambria" pitchFamily="34" charset="-122"/>
                <a:cs typeface="Cambria" pitchFamily="34" charset="-120"/>
              </a:rPr>
              <a:t>Intent Detection</a:t>
            </a:r>
            <a:endParaRPr lang="en-US" sz="1600" dirty="0"/>
          </a:p>
        </p:txBody>
      </p:sp>
      <p:sp>
        <p:nvSpPr>
          <p:cNvPr id="18" name="Text 13"/>
          <p:cNvSpPr/>
          <p:nvPr/>
        </p:nvSpPr>
        <p:spPr>
          <a:xfrm>
            <a:off x="8321040" y="3520440"/>
            <a:ext cx="3017520" cy="1920240"/>
          </a:xfrm>
          <a:prstGeom prst="rect">
            <a:avLst/>
          </a:prstGeom>
          <a:noFill/>
          <a:ln/>
        </p:spPr>
        <p:txBody>
          <a:bodyPr wrap="square" lIns="0" tIns="0" rIns="0" bIns="0" rtlCol="0" anchor="ctr"/>
          <a:lstStyle/>
          <a:p>
            <a:pPr marL="0" indent="0">
              <a:lnSpc>
                <a:spcPct val="125000"/>
              </a:lnSpc>
              <a:buNone/>
            </a:pPr>
            <a:r>
              <a:rPr lang="en-US" sz="1150" dirty="0">
                <a:solidFill>
                  <a:srgbClr val="55645C"/>
                </a:solidFill>
                <a:latin typeface="Calibri" pitchFamily="34" charset="0"/>
                <a:ea typeface="Calibri" pitchFamily="34" charset="-122"/>
                <a:cs typeface="Calibri" pitchFamily="34" charset="-120"/>
              </a:rPr>
              <a:t>Classifies the query — Crop Recommendation, Fertilizer, Disease, Pest, Weather, Management.</a:t>
            </a:r>
            <a:endParaRPr lang="en-US" sz="1150" dirty="0"/>
          </a:p>
        </p:txBody>
      </p:sp>
      <p:sp>
        <p:nvSpPr>
          <p:cNvPr id="19" name="Text 14"/>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20" name="Text 15"/>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FINDING FACTS</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Retrieval system — TF-IDF</a:t>
            </a:r>
            <a:endParaRPr lang="en-US" sz="2800" dirty="0"/>
          </a:p>
        </p:txBody>
      </p:sp>
      <p:sp>
        <p:nvSpPr>
          <p:cNvPr id="4" name="Shape 2"/>
          <p:cNvSpPr/>
          <p:nvPr/>
        </p:nvSpPr>
        <p:spPr>
          <a:xfrm>
            <a:off x="518008" y="1965960"/>
            <a:ext cx="1737360" cy="685800"/>
          </a:xfrm>
          <a:prstGeom prst="roundRect">
            <a:avLst>
              <a:gd name="adj" fmla="val 46667"/>
            </a:avLst>
          </a:prstGeom>
          <a:solidFill>
            <a:srgbClr val="13322A"/>
          </a:solidFill>
          <a:ln/>
        </p:spPr>
      </p:sp>
      <p:sp>
        <p:nvSpPr>
          <p:cNvPr id="5" name="Text 3"/>
          <p:cNvSpPr/>
          <p:nvPr/>
        </p:nvSpPr>
        <p:spPr>
          <a:xfrm>
            <a:off x="518008" y="1965960"/>
            <a:ext cx="173736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Query</a:t>
            </a:r>
            <a:endParaRPr lang="en-US" sz="1050" dirty="0"/>
          </a:p>
        </p:txBody>
      </p:sp>
      <p:pic>
        <p:nvPicPr>
          <p:cNvPr id="6" name="Image 0" descr="/home/claude/work/icons/arrow_right_dark.png"/>
          <p:cNvPicPr>
            <a:picLocks noChangeAspect="1"/>
          </p:cNvPicPr>
          <p:nvPr/>
        </p:nvPicPr>
        <p:blipFill>
          <a:blip r:embed="rId3"/>
          <a:stretch>
            <a:fillRect/>
          </a:stretch>
        </p:blipFill>
        <p:spPr>
          <a:xfrm>
            <a:off x="2259940" y="2226564"/>
            <a:ext cx="137160" cy="164592"/>
          </a:xfrm>
          <a:prstGeom prst="rect">
            <a:avLst/>
          </a:prstGeom>
        </p:spPr>
      </p:pic>
      <p:sp>
        <p:nvSpPr>
          <p:cNvPr id="7" name="Shape 4"/>
          <p:cNvSpPr/>
          <p:nvPr/>
        </p:nvSpPr>
        <p:spPr>
          <a:xfrm>
            <a:off x="2401672" y="1965960"/>
            <a:ext cx="1737360" cy="685800"/>
          </a:xfrm>
          <a:prstGeom prst="roundRect">
            <a:avLst>
              <a:gd name="adj" fmla="val 46667"/>
            </a:avLst>
          </a:prstGeom>
          <a:solidFill>
            <a:srgbClr val="13322A"/>
          </a:solidFill>
          <a:ln/>
        </p:spPr>
      </p:sp>
      <p:sp>
        <p:nvSpPr>
          <p:cNvPr id="8" name="Text 5"/>
          <p:cNvSpPr/>
          <p:nvPr/>
        </p:nvSpPr>
        <p:spPr>
          <a:xfrm>
            <a:off x="2401672" y="1965960"/>
            <a:ext cx="173736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Vectorization</a:t>
            </a:r>
            <a:endParaRPr lang="en-US" sz="1050" dirty="0"/>
          </a:p>
        </p:txBody>
      </p:sp>
      <p:pic>
        <p:nvPicPr>
          <p:cNvPr id="9" name="Image 1" descr="/home/claude/work/icons/arrow_right_dark.png"/>
          <p:cNvPicPr>
            <a:picLocks noChangeAspect="1"/>
          </p:cNvPicPr>
          <p:nvPr/>
        </p:nvPicPr>
        <p:blipFill>
          <a:blip r:embed="rId3"/>
          <a:stretch>
            <a:fillRect/>
          </a:stretch>
        </p:blipFill>
        <p:spPr>
          <a:xfrm>
            <a:off x="4143604" y="2226564"/>
            <a:ext cx="137160" cy="164592"/>
          </a:xfrm>
          <a:prstGeom prst="rect">
            <a:avLst/>
          </a:prstGeom>
        </p:spPr>
      </p:pic>
      <p:sp>
        <p:nvSpPr>
          <p:cNvPr id="10" name="Shape 6"/>
          <p:cNvSpPr/>
          <p:nvPr/>
        </p:nvSpPr>
        <p:spPr>
          <a:xfrm>
            <a:off x="4285336" y="1965960"/>
            <a:ext cx="1737360" cy="685800"/>
          </a:xfrm>
          <a:prstGeom prst="roundRect">
            <a:avLst>
              <a:gd name="adj" fmla="val 46667"/>
            </a:avLst>
          </a:prstGeom>
          <a:solidFill>
            <a:srgbClr val="13322A"/>
          </a:solidFill>
          <a:ln/>
        </p:spPr>
      </p:sp>
      <p:sp>
        <p:nvSpPr>
          <p:cNvPr id="11" name="Text 7"/>
          <p:cNvSpPr/>
          <p:nvPr/>
        </p:nvSpPr>
        <p:spPr>
          <a:xfrm>
            <a:off x="4285336" y="1965960"/>
            <a:ext cx="173736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Cosine Similarity</a:t>
            </a:r>
            <a:endParaRPr lang="en-US" sz="1050" dirty="0"/>
          </a:p>
        </p:txBody>
      </p:sp>
      <p:pic>
        <p:nvPicPr>
          <p:cNvPr id="12" name="Image 2" descr="/home/claude/work/icons/arrow_right_dark.png"/>
          <p:cNvPicPr>
            <a:picLocks noChangeAspect="1"/>
          </p:cNvPicPr>
          <p:nvPr/>
        </p:nvPicPr>
        <p:blipFill>
          <a:blip r:embed="rId3"/>
          <a:stretch>
            <a:fillRect/>
          </a:stretch>
        </p:blipFill>
        <p:spPr>
          <a:xfrm>
            <a:off x="6027268" y="2226564"/>
            <a:ext cx="137160" cy="164592"/>
          </a:xfrm>
          <a:prstGeom prst="rect">
            <a:avLst/>
          </a:prstGeom>
        </p:spPr>
      </p:pic>
      <p:sp>
        <p:nvSpPr>
          <p:cNvPr id="13" name="Shape 8"/>
          <p:cNvSpPr/>
          <p:nvPr/>
        </p:nvSpPr>
        <p:spPr>
          <a:xfrm>
            <a:off x="6169000" y="1965960"/>
            <a:ext cx="1737360" cy="685800"/>
          </a:xfrm>
          <a:prstGeom prst="roundRect">
            <a:avLst>
              <a:gd name="adj" fmla="val 46667"/>
            </a:avLst>
          </a:prstGeom>
          <a:solidFill>
            <a:srgbClr val="13322A"/>
          </a:solidFill>
          <a:ln/>
        </p:spPr>
      </p:sp>
      <p:sp>
        <p:nvSpPr>
          <p:cNvPr id="14" name="Text 9"/>
          <p:cNvSpPr/>
          <p:nvPr/>
        </p:nvSpPr>
        <p:spPr>
          <a:xfrm>
            <a:off x="6169000" y="1965960"/>
            <a:ext cx="173736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Top-k Retrieval</a:t>
            </a:r>
            <a:endParaRPr lang="en-US" sz="1050" dirty="0"/>
          </a:p>
        </p:txBody>
      </p:sp>
      <p:pic>
        <p:nvPicPr>
          <p:cNvPr id="15" name="Image 3" descr="/home/claude/work/icons/arrow_right_dark.png"/>
          <p:cNvPicPr>
            <a:picLocks noChangeAspect="1"/>
          </p:cNvPicPr>
          <p:nvPr/>
        </p:nvPicPr>
        <p:blipFill>
          <a:blip r:embed="rId3"/>
          <a:stretch>
            <a:fillRect/>
          </a:stretch>
        </p:blipFill>
        <p:spPr>
          <a:xfrm>
            <a:off x="7910932" y="2226564"/>
            <a:ext cx="137160" cy="164592"/>
          </a:xfrm>
          <a:prstGeom prst="rect">
            <a:avLst/>
          </a:prstGeom>
        </p:spPr>
      </p:pic>
      <p:sp>
        <p:nvSpPr>
          <p:cNvPr id="16" name="Shape 10"/>
          <p:cNvSpPr/>
          <p:nvPr/>
        </p:nvSpPr>
        <p:spPr>
          <a:xfrm>
            <a:off x="8052664" y="1965960"/>
            <a:ext cx="1737360" cy="685800"/>
          </a:xfrm>
          <a:prstGeom prst="roundRect">
            <a:avLst>
              <a:gd name="adj" fmla="val 46667"/>
            </a:avLst>
          </a:prstGeom>
          <a:solidFill>
            <a:srgbClr val="13322A"/>
          </a:solidFill>
          <a:ln/>
        </p:spPr>
      </p:sp>
      <p:sp>
        <p:nvSpPr>
          <p:cNvPr id="17" name="Text 11"/>
          <p:cNvSpPr/>
          <p:nvPr/>
        </p:nvSpPr>
        <p:spPr>
          <a:xfrm>
            <a:off x="8052664" y="1965960"/>
            <a:ext cx="173736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Dataset Filtering</a:t>
            </a:r>
            <a:endParaRPr lang="en-US" sz="1050" dirty="0"/>
          </a:p>
        </p:txBody>
      </p:sp>
      <p:pic>
        <p:nvPicPr>
          <p:cNvPr id="18" name="Image 4" descr="/home/claude/work/icons/arrow_right_dark.png"/>
          <p:cNvPicPr>
            <a:picLocks noChangeAspect="1"/>
          </p:cNvPicPr>
          <p:nvPr/>
        </p:nvPicPr>
        <p:blipFill>
          <a:blip r:embed="rId3"/>
          <a:stretch>
            <a:fillRect/>
          </a:stretch>
        </p:blipFill>
        <p:spPr>
          <a:xfrm>
            <a:off x="9794596" y="2226564"/>
            <a:ext cx="137160" cy="164592"/>
          </a:xfrm>
          <a:prstGeom prst="rect">
            <a:avLst/>
          </a:prstGeom>
        </p:spPr>
      </p:pic>
      <p:sp>
        <p:nvSpPr>
          <p:cNvPr id="19" name="Shape 12"/>
          <p:cNvSpPr/>
          <p:nvPr/>
        </p:nvSpPr>
        <p:spPr>
          <a:xfrm>
            <a:off x="9936328" y="1965960"/>
            <a:ext cx="1737360" cy="685800"/>
          </a:xfrm>
          <a:prstGeom prst="roundRect">
            <a:avLst>
              <a:gd name="adj" fmla="val 46667"/>
            </a:avLst>
          </a:prstGeom>
          <a:solidFill>
            <a:srgbClr val="D9A441"/>
          </a:solidFill>
          <a:ln/>
        </p:spPr>
      </p:sp>
      <p:sp>
        <p:nvSpPr>
          <p:cNvPr id="20" name="Text 13"/>
          <p:cNvSpPr/>
          <p:nvPr/>
        </p:nvSpPr>
        <p:spPr>
          <a:xfrm>
            <a:off x="9936328" y="1965960"/>
            <a:ext cx="173736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Context</a:t>
            </a:r>
            <a:endParaRPr lang="en-US" sz="1050" dirty="0"/>
          </a:p>
        </p:txBody>
      </p:sp>
      <p:sp>
        <p:nvSpPr>
          <p:cNvPr id="21" name="Text 14"/>
          <p:cNvSpPr/>
          <p:nvPr/>
        </p:nvSpPr>
        <p:spPr>
          <a:xfrm>
            <a:off x="548640" y="3108960"/>
            <a:ext cx="7315200" cy="320040"/>
          </a:xfrm>
          <a:prstGeom prst="rect">
            <a:avLst/>
          </a:prstGeom>
          <a:noFill/>
          <a:ln/>
        </p:spPr>
        <p:txBody>
          <a:bodyPr wrap="square" rtlCol="0" anchor="ctr"/>
          <a:lstStyle/>
          <a:p>
            <a:pPr marL="0" indent="0">
              <a:buNone/>
            </a:pPr>
            <a:r>
              <a:rPr lang="en-US" sz="1600" b="1" dirty="0">
                <a:solidFill>
                  <a:srgbClr val="18231F"/>
                </a:solidFill>
                <a:latin typeface="Cambria" pitchFamily="34" charset="0"/>
                <a:ea typeface="Cambria" pitchFamily="34" charset="-122"/>
                <a:cs typeface="Cambria" pitchFamily="34" charset="-120"/>
              </a:rPr>
              <a:t>Why TF-IDF was chosen</a:t>
            </a:r>
            <a:endParaRPr lang="en-US" sz="1600" dirty="0"/>
          </a:p>
        </p:txBody>
      </p:sp>
      <p:sp>
        <p:nvSpPr>
          <p:cNvPr id="22" name="Text 15"/>
          <p:cNvSpPr/>
          <p:nvPr/>
        </p:nvSpPr>
        <p:spPr>
          <a:xfrm>
            <a:off x="548640" y="3520440"/>
            <a:ext cx="10881360" cy="685800"/>
          </a:xfrm>
          <a:prstGeom prst="rect">
            <a:avLst/>
          </a:prstGeom>
          <a:noFill/>
          <a:ln/>
        </p:spPr>
        <p:txBody>
          <a:bodyPr wrap="square" rtlCol="0" anchor="ctr"/>
          <a:lstStyle/>
          <a:p>
            <a:pPr marL="0" indent="0">
              <a:lnSpc>
                <a:spcPct val="125000"/>
              </a:lnSpc>
              <a:buNone/>
            </a:pPr>
            <a:r>
              <a:rPr lang="en-US" sz="1250" dirty="0">
                <a:solidFill>
                  <a:srgbClr val="55645C"/>
                </a:solidFill>
                <a:latin typeface="Calibri" pitchFamily="34" charset="0"/>
                <a:ea typeface="Calibri" pitchFamily="34" charset="-122"/>
                <a:cs typeface="Calibri" pitchFamily="34" charset="-120"/>
              </a:rPr>
              <a:t>TF-IDF scores how relevant each knowledge-base record is to a farmer’s query using word-frequency statistics — no GPU or heavy model is needed, keeping retrieval fast and accurate for structured agricultural data.</a:t>
            </a:r>
            <a:endParaRPr lang="en-US" sz="1250" dirty="0"/>
          </a:p>
        </p:txBody>
      </p:sp>
      <p:sp>
        <p:nvSpPr>
          <p:cNvPr id="23" name="Shape 16"/>
          <p:cNvSpPr/>
          <p:nvPr/>
        </p:nvSpPr>
        <p:spPr>
          <a:xfrm>
            <a:off x="548640" y="4434840"/>
            <a:ext cx="2651760" cy="1051560"/>
          </a:xfrm>
          <a:prstGeom prst="roundRect">
            <a:avLst>
              <a:gd name="adj" fmla="val 6957"/>
            </a:avLst>
          </a:prstGeom>
          <a:solidFill>
            <a:srgbClr val="FFFFFF"/>
          </a:solidFill>
          <a:ln w="12700">
            <a:solidFill>
              <a:srgbClr val="E1DFD3"/>
            </a:solidFill>
            <a:prstDash val="solid"/>
          </a:ln>
        </p:spPr>
      </p:sp>
      <p:sp>
        <p:nvSpPr>
          <p:cNvPr id="24" name="Shape 17"/>
          <p:cNvSpPr/>
          <p:nvPr/>
        </p:nvSpPr>
        <p:spPr>
          <a:xfrm>
            <a:off x="713232" y="4695444"/>
            <a:ext cx="530352" cy="530352"/>
          </a:xfrm>
          <a:prstGeom prst="ellipse">
            <a:avLst/>
          </a:prstGeom>
          <a:solidFill>
            <a:srgbClr val="4C7A5E"/>
          </a:solidFill>
          <a:ln/>
        </p:spPr>
      </p:sp>
      <p:pic>
        <p:nvPicPr>
          <p:cNvPr id="25" name="Image 5" descr="/home/claude/work/icons/gauge.png"/>
          <p:cNvPicPr>
            <a:picLocks noChangeAspect="1"/>
          </p:cNvPicPr>
          <p:nvPr/>
        </p:nvPicPr>
        <p:blipFill>
          <a:blip r:embed="rId4"/>
          <a:stretch>
            <a:fillRect/>
          </a:stretch>
        </p:blipFill>
        <p:spPr>
          <a:xfrm>
            <a:off x="787481" y="4769693"/>
            <a:ext cx="381853" cy="381853"/>
          </a:xfrm>
          <a:prstGeom prst="rect">
            <a:avLst/>
          </a:prstGeom>
        </p:spPr>
      </p:pic>
      <p:sp>
        <p:nvSpPr>
          <p:cNvPr id="26" name="Text 18"/>
          <p:cNvSpPr/>
          <p:nvPr/>
        </p:nvSpPr>
        <p:spPr>
          <a:xfrm>
            <a:off x="1371600" y="4434840"/>
            <a:ext cx="1691640" cy="1051560"/>
          </a:xfrm>
          <a:prstGeom prst="rect">
            <a:avLst/>
          </a:prstGeom>
          <a:noFill/>
          <a:ln/>
        </p:spPr>
        <p:txBody>
          <a:bodyPr wrap="square" lIns="0" tIns="0" rIns="0" bIns="0" rtlCol="0" anchor="ctr"/>
          <a:lstStyle/>
          <a:p>
            <a:pPr marL="0" indent="0">
              <a:buNone/>
            </a:pPr>
            <a:r>
              <a:rPr lang="en-US" sz="1250" b="1" dirty="0">
                <a:solidFill>
                  <a:srgbClr val="18231F"/>
                </a:solidFill>
                <a:latin typeface="Calibri" pitchFamily="34" charset="0"/>
                <a:ea typeface="Calibri" pitchFamily="34" charset="-122"/>
                <a:cs typeface="Calibri" pitchFamily="34" charset="-120"/>
              </a:rPr>
              <a:t>Lightweight</a:t>
            </a:r>
            <a:endParaRPr lang="en-US" sz="1250" dirty="0"/>
          </a:p>
        </p:txBody>
      </p:sp>
      <p:sp>
        <p:nvSpPr>
          <p:cNvPr id="27" name="Shape 19"/>
          <p:cNvSpPr/>
          <p:nvPr/>
        </p:nvSpPr>
        <p:spPr>
          <a:xfrm>
            <a:off x="3383280" y="4434840"/>
            <a:ext cx="2651760" cy="1051560"/>
          </a:xfrm>
          <a:prstGeom prst="roundRect">
            <a:avLst>
              <a:gd name="adj" fmla="val 6957"/>
            </a:avLst>
          </a:prstGeom>
          <a:solidFill>
            <a:srgbClr val="FFFFFF"/>
          </a:solidFill>
          <a:ln w="12700">
            <a:solidFill>
              <a:srgbClr val="E1DFD3"/>
            </a:solidFill>
            <a:prstDash val="solid"/>
          </a:ln>
        </p:spPr>
      </p:sp>
      <p:sp>
        <p:nvSpPr>
          <p:cNvPr id="28" name="Shape 20"/>
          <p:cNvSpPr/>
          <p:nvPr/>
        </p:nvSpPr>
        <p:spPr>
          <a:xfrm>
            <a:off x="3547872" y="4695444"/>
            <a:ext cx="530352" cy="530352"/>
          </a:xfrm>
          <a:prstGeom prst="ellipse">
            <a:avLst/>
          </a:prstGeom>
          <a:solidFill>
            <a:srgbClr val="4C7A5E"/>
          </a:solidFill>
          <a:ln/>
        </p:spPr>
      </p:sp>
      <p:pic>
        <p:nvPicPr>
          <p:cNvPr id="29" name="Image 6" descr="/home/claude/work/icons/bolt.png"/>
          <p:cNvPicPr>
            <a:picLocks noChangeAspect="1"/>
          </p:cNvPicPr>
          <p:nvPr/>
        </p:nvPicPr>
        <p:blipFill>
          <a:blip r:embed="rId5"/>
          <a:stretch>
            <a:fillRect/>
          </a:stretch>
        </p:blipFill>
        <p:spPr>
          <a:xfrm>
            <a:off x="3622121" y="4769693"/>
            <a:ext cx="381853" cy="381853"/>
          </a:xfrm>
          <a:prstGeom prst="rect">
            <a:avLst/>
          </a:prstGeom>
        </p:spPr>
      </p:pic>
      <p:sp>
        <p:nvSpPr>
          <p:cNvPr id="30" name="Text 21"/>
          <p:cNvSpPr/>
          <p:nvPr/>
        </p:nvSpPr>
        <p:spPr>
          <a:xfrm>
            <a:off x="4206240" y="4434840"/>
            <a:ext cx="1691640" cy="1051560"/>
          </a:xfrm>
          <a:prstGeom prst="rect">
            <a:avLst/>
          </a:prstGeom>
          <a:noFill/>
          <a:ln/>
        </p:spPr>
        <p:txBody>
          <a:bodyPr wrap="square" lIns="0" tIns="0" rIns="0" bIns="0" rtlCol="0" anchor="ctr"/>
          <a:lstStyle/>
          <a:p>
            <a:pPr marL="0" indent="0">
              <a:buNone/>
            </a:pPr>
            <a:r>
              <a:rPr lang="en-US" sz="1250" b="1" dirty="0">
                <a:solidFill>
                  <a:srgbClr val="18231F"/>
                </a:solidFill>
                <a:latin typeface="Calibri" pitchFamily="34" charset="0"/>
                <a:ea typeface="Calibri" pitchFamily="34" charset="-122"/>
                <a:cs typeface="Calibri" pitchFamily="34" charset="-120"/>
              </a:rPr>
              <a:t>Fast</a:t>
            </a:r>
            <a:endParaRPr lang="en-US" sz="1250" dirty="0"/>
          </a:p>
        </p:txBody>
      </p:sp>
      <p:sp>
        <p:nvSpPr>
          <p:cNvPr id="31" name="Shape 22"/>
          <p:cNvSpPr/>
          <p:nvPr/>
        </p:nvSpPr>
        <p:spPr>
          <a:xfrm>
            <a:off x="6217920" y="4434840"/>
            <a:ext cx="2651760" cy="1051560"/>
          </a:xfrm>
          <a:prstGeom prst="roundRect">
            <a:avLst>
              <a:gd name="adj" fmla="val 6957"/>
            </a:avLst>
          </a:prstGeom>
          <a:solidFill>
            <a:srgbClr val="FFFFFF"/>
          </a:solidFill>
          <a:ln w="12700">
            <a:solidFill>
              <a:srgbClr val="E1DFD3"/>
            </a:solidFill>
            <a:prstDash val="solid"/>
          </a:ln>
        </p:spPr>
      </p:sp>
      <p:sp>
        <p:nvSpPr>
          <p:cNvPr id="32" name="Shape 23"/>
          <p:cNvSpPr/>
          <p:nvPr/>
        </p:nvSpPr>
        <p:spPr>
          <a:xfrm>
            <a:off x="6382512" y="4695444"/>
            <a:ext cx="530352" cy="530352"/>
          </a:xfrm>
          <a:prstGeom prst="ellipse">
            <a:avLst/>
          </a:prstGeom>
          <a:solidFill>
            <a:srgbClr val="4C7A5E"/>
          </a:solidFill>
          <a:ln/>
        </p:spPr>
      </p:sp>
      <p:pic>
        <p:nvPicPr>
          <p:cNvPr id="33" name="Image 7" descr="/home/claude/work/icons/check.png"/>
          <p:cNvPicPr>
            <a:picLocks noChangeAspect="1"/>
          </p:cNvPicPr>
          <p:nvPr/>
        </p:nvPicPr>
        <p:blipFill>
          <a:blip r:embed="rId6"/>
          <a:stretch>
            <a:fillRect/>
          </a:stretch>
        </p:blipFill>
        <p:spPr>
          <a:xfrm>
            <a:off x="6456761" y="4769693"/>
            <a:ext cx="381853" cy="381853"/>
          </a:xfrm>
          <a:prstGeom prst="rect">
            <a:avLst/>
          </a:prstGeom>
        </p:spPr>
      </p:pic>
      <p:sp>
        <p:nvSpPr>
          <p:cNvPr id="34" name="Text 24"/>
          <p:cNvSpPr/>
          <p:nvPr/>
        </p:nvSpPr>
        <p:spPr>
          <a:xfrm>
            <a:off x="7040880" y="4434840"/>
            <a:ext cx="1691640" cy="1051560"/>
          </a:xfrm>
          <a:prstGeom prst="rect">
            <a:avLst/>
          </a:prstGeom>
          <a:noFill/>
          <a:ln/>
        </p:spPr>
        <p:txBody>
          <a:bodyPr wrap="square" lIns="0" tIns="0" rIns="0" bIns="0" rtlCol="0" anchor="ctr"/>
          <a:lstStyle/>
          <a:p>
            <a:pPr marL="0" indent="0">
              <a:buNone/>
            </a:pPr>
            <a:r>
              <a:rPr lang="en-US" sz="1250" b="1" dirty="0">
                <a:solidFill>
                  <a:srgbClr val="18231F"/>
                </a:solidFill>
                <a:latin typeface="Calibri" pitchFamily="34" charset="0"/>
                <a:ea typeface="Calibri" pitchFamily="34" charset="-122"/>
                <a:cs typeface="Calibri" pitchFamily="34" charset="-120"/>
              </a:rPr>
              <a:t>No GPU Required</a:t>
            </a:r>
            <a:endParaRPr lang="en-US" sz="1250" dirty="0"/>
          </a:p>
        </p:txBody>
      </p:sp>
      <p:sp>
        <p:nvSpPr>
          <p:cNvPr id="35" name="Shape 25"/>
          <p:cNvSpPr/>
          <p:nvPr/>
        </p:nvSpPr>
        <p:spPr>
          <a:xfrm>
            <a:off x="9052560" y="4434840"/>
            <a:ext cx="2651760" cy="1051560"/>
          </a:xfrm>
          <a:prstGeom prst="roundRect">
            <a:avLst>
              <a:gd name="adj" fmla="val 6957"/>
            </a:avLst>
          </a:prstGeom>
          <a:solidFill>
            <a:srgbClr val="FFFFFF"/>
          </a:solidFill>
          <a:ln w="12700">
            <a:solidFill>
              <a:srgbClr val="E1DFD3"/>
            </a:solidFill>
            <a:prstDash val="solid"/>
          </a:ln>
        </p:spPr>
      </p:sp>
      <p:sp>
        <p:nvSpPr>
          <p:cNvPr id="36" name="Shape 26"/>
          <p:cNvSpPr/>
          <p:nvPr/>
        </p:nvSpPr>
        <p:spPr>
          <a:xfrm>
            <a:off x="9217152" y="4695444"/>
            <a:ext cx="530352" cy="530352"/>
          </a:xfrm>
          <a:prstGeom prst="ellipse">
            <a:avLst/>
          </a:prstGeom>
          <a:solidFill>
            <a:srgbClr val="4C7A5E"/>
          </a:solidFill>
          <a:ln/>
        </p:spPr>
      </p:sp>
      <p:pic>
        <p:nvPicPr>
          <p:cNvPr id="37" name="Image 8" descr="/home/claude/work/icons/gear.png"/>
          <p:cNvPicPr>
            <a:picLocks noChangeAspect="1"/>
          </p:cNvPicPr>
          <p:nvPr/>
        </p:nvPicPr>
        <p:blipFill>
          <a:blip r:embed="rId7"/>
          <a:stretch>
            <a:fillRect/>
          </a:stretch>
        </p:blipFill>
        <p:spPr>
          <a:xfrm>
            <a:off x="9291401" y="4769693"/>
            <a:ext cx="381853" cy="381853"/>
          </a:xfrm>
          <a:prstGeom prst="rect">
            <a:avLst/>
          </a:prstGeom>
        </p:spPr>
      </p:pic>
      <p:sp>
        <p:nvSpPr>
          <p:cNvPr id="38" name="Text 27"/>
          <p:cNvSpPr/>
          <p:nvPr/>
        </p:nvSpPr>
        <p:spPr>
          <a:xfrm>
            <a:off x="9875520" y="4434840"/>
            <a:ext cx="1691640" cy="1051560"/>
          </a:xfrm>
          <a:prstGeom prst="rect">
            <a:avLst/>
          </a:prstGeom>
          <a:noFill/>
          <a:ln/>
        </p:spPr>
        <p:txBody>
          <a:bodyPr wrap="square" lIns="0" tIns="0" rIns="0" bIns="0" rtlCol="0" anchor="ctr"/>
          <a:lstStyle/>
          <a:p>
            <a:pPr marL="0" indent="0">
              <a:buNone/>
            </a:pPr>
            <a:r>
              <a:rPr lang="en-US" sz="1250" b="1" dirty="0">
                <a:solidFill>
                  <a:srgbClr val="18231F"/>
                </a:solidFill>
                <a:latin typeface="Calibri" pitchFamily="34" charset="0"/>
                <a:ea typeface="Calibri" pitchFamily="34" charset="-122"/>
                <a:cs typeface="Calibri" pitchFamily="34" charset="-120"/>
              </a:rPr>
              <a:t>Easy to Maintain</a:t>
            </a:r>
            <a:endParaRPr lang="en-US" sz="1250" dirty="0"/>
          </a:p>
        </p:txBody>
      </p:sp>
      <p:sp>
        <p:nvSpPr>
          <p:cNvPr id="39" name="Text 28"/>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40" name="Text 29"/>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32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LANGUAGE GENERATION</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LLM pipeline</a:t>
            </a:r>
            <a:endParaRPr lang="en-US" sz="2800" dirty="0"/>
          </a:p>
        </p:txBody>
      </p:sp>
      <p:sp>
        <p:nvSpPr>
          <p:cNvPr id="4" name="Shape 2"/>
          <p:cNvSpPr/>
          <p:nvPr/>
        </p:nvSpPr>
        <p:spPr>
          <a:xfrm>
            <a:off x="548640" y="1965960"/>
            <a:ext cx="5349240" cy="1691640"/>
          </a:xfrm>
          <a:prstGeom prst="roundRect">
            <a:avLst>
              <a:gd name="adj" fmla="val 4865"/>
            </a:avLst>
          </a:prstGeom>
          <a:solidFill>
            <a:srgbClr val="1E4738"/>
          </a:solidFill>
          <a:ln w="12700">
            <a:solidFill>
              <a:srgbClr val="D9A441"/>
            </a:solidFill>
            <a:prstDash val="solid"/>
          </a:ln>
        </p:spPr>
      </p:sp>
      <p:sp>
        <p:nvSpPr>
          <p:cNvPr id="5" name="Shape 3"/>
          <p:cNvSpPr/>
          <p:nvPr/>
        </p:nvSpPr>
        <p:spPr>
          <a:xfrm>
            <a:off x="822960" y="2423160"/>
            <a:ext cx="777240" cy="777240"/>
          </a:xfrm>
          <a:prstGeom prst="ellipse">
            <a:avLst/>
          </a:prstGeom>
          <a:solidFill>
            <a:srgbClr val="4C7A5E"/>
          </a:solidFill>
          <a:ln/>
        </p:spPr>
      </p:sp>
      <p:pic>
        <p:nvPicPr>
          <p:cNvPr id="6" name="Image 0" descr="/home/claude/work/icons/bolt.png"/>
          <p:cNvPicPr>
            <a:picLocks noChangeAspect="1"/>
          </p:cNvPicPr>
          <p:nvPr/>
        </p:nvPicPr>
        <p:blipFill>
          <a:blip r:embed="rId3"/>
          <a:stretch>
            <a:fillRect/>
          </a:stretch>
        </p:blipFill>
        <p:spPr>
          <a:xfrm>
            <a:off x="931774" y="2531974"/>
            <a:ext cx="559613" cy="559613"/>
          </a:xfrm>
          <a:prstGeom prst="rect">
            <a:avLst/>
          </a:prstGeom>
        </p:spPr>
      </p:pic>
      <p:sp>
        <p:nvSpPr>
          <p:cNvPr id="7" name="Text 4"/>
          <p:cNvSpPr/>
          <p:nvPr/>
        </p:nvSpPr>
        <p:spPr>
          <a:xfrm>
            <a:off x="1783080" y="2240280"/>
            <a:ext cx="38862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Groq — Primary</a:t>
            </a:r>
            <a:endParaRPr lang="en-US" sz="1600" dirty="0"/>
          </a:p>
        </p:txBody>
      </p:sp>
      <p:sp>
        <p:nvSpPr>
          <p:cNvPr id="8" name="Text 5"/>
          <p:cNvSpPr/>
          <p:nvPr/>
        </p:nvSpPr>
        <p:spPr>
          <a:xfrm>
            <a:off x="1783080" y="2743200"/>
            <a:ext cx="3886200" cy="731520"/>
          </a:xfrm>
          <a:prstGeom prst="rect">
            <a:avLst/>
          </a:prstGeom>
          <a:noFill/>
          <a:ln/>
        </p:spPr>
        <p:txBody>
          <a:bodyPr wrap="square" lIns="0" tIns="0" rIns="0" bIns="0" rtlCol="0" anchor="ctr"/>
          <a:lstStyle/>
          <a:p>
            <a:pPr marL="0" indent="0">
              <a:lnSpc>
                <a:spcPct val="120000"/>
              </a:lnSpc>
              <a:buNone/>
            </a:pPr>
            <a:r>
              <a:rPr lang="en-US" sz="1150" dirty="0">
                <a:solidFill>
                  <a:srgbClr val="E4ECE7"/>
                </a:solidFill>
                <a:latin typeface="Calibri" pitchFamily="34" charset="0"/>
                <a:ea typeface="Calibri" pitchFamily="34" charset="-122"/>
                <a:cs typeface="Calibri" pitchFamily="34" charset="-120"/>
              </a:rPr>
              <a:t>Llama 3.1 8B Instant — low-latency responder for the first attempt.</a:t>
            </a:r>
            <a:endParaRPr lang="en-US" sz="1150" dirty="0"/>
          </a:p>
        </p:txBody>
      </p:sp>
      <p:sp>
        <p:nvSpPr>
          <p:cNvPr id="9" name="Shape 6"/>
          <p:cNvSpPr/>
          <p:nvPr/>
        </p:nvSpPr>
        <p:spPr>
          <a:xfrm>
            <a:off x="6172200" y="1965960"/>
            <a:ext cx="5349240" cy="1691640"/>
          </a:xfrm>
          <a:prstGeom prst="roundRect">
            <a:avLst>
              <a:gd name="adj" fmla="val 4865"/>
            </a:avLst>
          </a:prstGeom>
          <a:solidFill>
            <a:srgbClr val="1E4738"/>
          </a:solidFill>
          <a:ln w="12700">
            <a:solidFill>
              <a:srgbClr val="D9A441"/>
            </a:solidFill>
            <a:prstDash val="solid"/>
          </a:ln>
        </p:spPr>
      </p:sp>
      <p:sp>
        <p:nvSpPr>
          <p:cNvPr id="10" name="Shape 7"/>
          <p:cNvSpPr/>
          <p:nvPr/>
        </p:nvSpPr>
        <p:spPr>
          <a:xfrm>
            <a:off x="6446520" y="2423160"/>
            <a:ext cx="777240" cy="777240"/>
          </a:xfrm>
          <a:prstGeom prst="ellipse">
            <a:avLst/>
          </a:prstGeom>
          <a:solidFill>
            <a:srgbClr val="4C7A5E"/>
          </a:solidFill>
          <a:ln/>
        </p:spPr>
      </p:sp>
      <p:pic>
        <p:nvPicPr>
          <p:cNvPr id="11" name="Image 1" descr="/home/claude/work/icons/brain.png"/>
          <p:cNvPicPr>
            <a:picLocks noChangeAspect="1"/>
          </p:cNvPicPr>
          <p:nvPr/>
        </p:nvPicPr>
        <p:blipFill>
          <a:blip r:embed="rId4"/>
          <a:stretch>
            <a:fillRect/>
          </a:stretch>
        </p:blipFill>
        <p:spPr>
          <a:xfrm>
            <a:off x="6555334" y="2531974"/>
            <a:ext cx="559613" cy="559613"/>
          </a:xfrm>
          <a:prstGeom prst="rect">
            <a:avLst/>
          </a:prstGeom>
        </p:spPr>
      </p:pic>
      <p:sp>
        <p:nvSpPr>
          <p:cNvPr id="12" name="Text 8"/>
          <p:cNvSpPr/>
          <p:nvPr/>
        </p:nvSpPr>
        <p:spPr>
          <a:xfrm>
            <a:off x="7406640" y="2240280"/>
            <a:ext cx="38862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Gemini — Fallback</a:t>
            </a:r>
            <a:endParaRPr lang="en-US" sz="1600" dirty="0"/>
          </a:p>
        </p:txBody>
      </p:sp>
      <p:sp>
        <p:nvSpPr>
          <p:cNvPr id="13" name="Text 9"/>
          <p:cNvSpPr/>
          <p:nvPr/>
        </p:nvSpPr>
        <p:spPr>
          <a:xfrm>
            <a:off x="7406640" y="2743200"/>
            <a:ext cx="3886200" cy="731520"/>
          </a:xfrm>
          <a:prstGeom prst="rect">
            <a:avLst/>
          </a:prstGeom>
          <a:noFill/>
          <a:ln/>
        </p:spPr>
        <p:txBody>
          <a:bodyPr wrap="square" lIns="0" tIns="0" rIns="0" bIns="0" rtlCol="0" anchor="ctr"/>
          <a:lstStyle/>
          <a:p>
            <a:pPr marL="0" indent="0">
              <a:lnSpc>
                <a:spcPct val="120000"/>
              </a:lnSpc>
              <a:buNone/>
            </a:pPr>
            <a:r>
              <a:rPr lang="en-US" sz="1150" dirty="0">
                <a:solidFill>
                  <a:srgbClr val="E4ECE7"/>
                </a:solidFill>
                <a:latin typeface="Calibri" pitchFamily="34" charset="0"/>
                <a:ea typeface="Calibri" pitchFamily="34" charset="-122"/>
                <a:cs typeface="Calibri" pitchFamily="34" charset="-120"/>
              </a:rPr>
              <a:t>Gemini 2.5 Flash — automatic fallback for reliability.</a:t>
            </a:r>
            <a:endParaRPr lang="en-US" sz="1150" dirty="0"/>
          </a:p>
        </p:txBody>
      </p:sp>
      <p:sp>
        <p:nvSpPr>
          <p:cNvPr id="14" name="Shape 10"/>
          <p:cNvSpPr/>
          <p:nvPr/>
        </p:nvSpPr>
        <p:spPr>
          <a:xfrm>
            <a:off x="548640" y="3931920"/>
            <a:ext cx="11064240" cy="1371600"/>
          </a:xfrm>
          <a:prstGeom prst="roundRect">
            <a:avLst>
              <a:gd name="adj" fmla="val 6000"/>
            </a:avLst>
          </a:prstGeom>
          <a:solidFill>
            <a:srgbClr val="1E4738"/>
          </a:solidFill>
          <a:ln w="12700">
            <a:solidFill>
              <a:srgbClr val="2F5445"/>
            </a:solidFill>
            <a:prstDash val="solid"/>
          </a:ln>
        </p:spPr>
      </p:sp>
      <p:sp>
        <p:nvSpPr>
          <p:cNvPr id="15" name="Shape 11"/>
          <p:cNvSpPr/>
          <p:nvPr/>
        </p:nvSpPr>
        <p:spPr>
          <a:xfrm>
            <a:off x="868680" y="4251960"/>
            <a:ext cx="685800" cy="685800"/>
          </a:xfrm>
          <a:prstGeom prst="ellipse">
            <a:avLst/>
          </a:prstGeom>
          <a:solidFill>
            <a:srgbClr val="D9A441"/>
          </a:solidFill>
          <a:ln/>
        </p:spPr>
      </p:sp>
      <p:pic>
        <p:nvPicPr>
          <p:cNvPr id="16" name="Image 2" descr="/home/claude/work/icons/pen.png"/>
          <p:cNvPicPr>
            <a:picLocks noChangeAspect="1"/>
          </p:cNvPicPr>
          <p:nvPr/>
        </p:nvPicPr>
        <p:blipFill>
          <a:blip r:embed="rId5"/>
          <a:stretch>
            <a:fillRect/>
          </a:stretch>
        </p:blipFill>
        <p:spPr>
          <a:xfrm>
            <a:off x="964692" y="4347972"/>
            <a:ext cx="493776" cy="493776"/>
          </a:xfrm>
          <a:prstGeom prst="rect">
            <a:avLst/>
          </a:prstGeom>
        </p:spPr>
      </p:pic>
      <p:sp>
        <p:nvSpPr>
          <p:cNvPr id="17" name="Text 12"/>
          <p:cNvSpPr/>
          <p:nvPr/>
        </p:nvSpPr>
        <p:spPr>
          <a:xfrm>
            <a:off x="1783080" y="3931920"/>
            <a:ext cx="9509760" cy="1371600"/>
          </a:xfrm>
          <a:prstGeom prst="rect">
            <a:avLst/>
          </a:prstGeom>
          <a:noFill/>
          <a:ln/>
        </p:spPr>
        <p:txBody>
          <a:bodyPr wrap="square" lIns="0" tIns="0" rIns="0" bIns="0" rtlCol="0" anchor="ctr"/>
          <a:lstStyle/>
          <a:p>
            <a:pPr marL="0" indent="0">
              <a:lnSpc>
                <a:spcPct val="130000"/>
              </a:lnSpc>
              <a:buNone/>
            </a:pPr>
            <a:r>
              <a:rPr lang="en-US" sz="1400" dirty="0">
                <a:solidFill>
                  <a:srgbClr val="E4ECE7"/>
                </a:solidFill>
                <a:latin typeface="Calibri" pitchFamily="34" charset="0"/>
                <a:ea typeface="Calibri" pitchFamily="34" charset="-122"/>
                <a:cs typeface="Calibri" pitchFamily="34" charset="-120"/>
              </a:rPr>
              <a:t>If Groq is unavailable or errors, the system automatically retries the same prompt on Gemini before returning a cleaned, structured JSON answer to the farmer.</a:t>
            </a:r>
            <a:endParaRPr lang="en-US" sz="1400" dirty="0"/>
          </a:p>
        </p:txBody>
      </p:sp>
      <p:sp>
        <p:nvSpPr>
          <p:cNvPr id="18" name="Text 13"/>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B9C9BF"/>
                </a:solidFill>
                <a:latin typeface="Calibri" pitchFamily="34" charset="0"/>
                <a:ea typeface="Calibri" pitchFamily="34" charset="-122"/>
                <a:cs typeface="Calibri" pitchFamily="34" charset="-120"/>
              </a:rPr>
              <a:t>STELLAR AGRI AI</a:t>
            </a:r>
            <a:endParaRPr lang="en-US" sz="900" dirty="0"/>
          </a:p>
        </p:txBody>
      </p:sp>
      <p:sp>
        <p:nvSpPr>
          <p:cNvPr id="19" name="Text 14"/>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B9C9B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INTERFACES</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Backend APIs</a:t>
            </a:r>
            <a:endParaRPr lang="en-US" sz="2800" dirty="0"/>
          </a:p>
        </p:txBody>
      </p:sp>
      <p:sp>
        <p:nvSpPr>
          <p:cNvPr id="4" name="Shape 2"/>
          <p:cNvSpPr/>
          <p:nvPr/>
        </p:nvSpPr>
        <p:spPr>
          <a:xfrm>
            <a:off x="548640" y="1965960"/>
            <a:ext cx="11064240" cy="713232"/>
          </a:xfrm>
          <a:prstGeom prst="roundRect">
            <a:avLst>
              <a:gd name="adj" fmla="val 8974"/>
            </a:avLst>
          </a:prstGeom>
          <a:solidFill>
            <a:srgbClr val="FFFFFF"/>
          </a:solidFill>
          <a:ln w="12700">
            <a:solidFill>
              <a:srgbClr val="E1DFD3"/>
            </a:solidFill>
            <a:prstDash val="solid"/>
          </a:ln>
        </p:spPr>
      </p:sp>
      <p:sp>
        <p:nvSpPr>
          <p:cNvPr id="5" name="Shape 3"/>
          <p:cNvSpPr/>
          <p:nvPr/>
        </p:nvSpPr>
        <p:spPr>
          <a:xfrm>
            <a:off x="749808" y="2139696"/>
            <a:ext cx="777240" cy="365760"/>
          </a:xfrm>
          <a:prstGeom prst="roundRect">
            <a:avLst>
              <a:gd name="adj" fmla="val 15000"/>
            </a:avLst>
          </a:prstGeom>
          <a:solidFill>
            <a:srgbClr val="4C7A5E"/>
          </a:solidFill>
          <a:ln/>
        </p:spPr>
      </p:sp>
      <p:sp>
        <p:nvSpPr>
          <p:cNvPr id="6" name="Text 4"/>
          <p:cNvSpPr/>
          <p:nvPr/>
        </p:nvSpPr>
        <p:spPr>
          <a:xfrm>
            <a:off x="749808" y="2139696"/>
            <a:ext cx="7772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GET</a:t>
            </a:r>
            <a:endParaRPr lang="en-US" sz="1100" dirty="0"/>
          </a:p>
        </p:txBody>
      </p:sp>
      <p:sp>
        <p:nvSpPr>
          <p:cNvPr id="7" name="Text 5"/>
          <p:cNvSpPr/>
          <p:nvPr/>
        </p:nvSpPr>
        <p:spPr>
          <a:xfrm>
            <a:off x="1737360" y="1965960"/>
            <a:ext cx="2103120" cy="713232"/>
          </a:xfrm>
          <a:prstGeom prst="rect">
            <a:avLst/>
          </a:prstGeom>
          <a:noFill/>
          <a:ln/>
        </p:spPr>
        <p:txBody>
          <a:bodyPr wrap="square" lIns="0" tIns="0" rIns="0" bIns="0" rtlCol="0" anchor="ctr"/>
          <a:lstStyle/>
          <a:p>
            <a:pPr marL="0" indent="0">
              <a:buNone/>
            </a:pPr>
            <a:r>
              <a:rPr lang="en-US" sz="1400" b="1" dirty="0">
                <a:solidFill>
                  <a:srgbClr val="18231F"/>
                </a:solidFill>
                <a:latin typeface="Courier New" pitchFamily="34" charset="0"/>
                <a:ea typeface="Courier New" pitchFamily="34" charset="-122"/>
                <a:cs typeface="Courier New" pitchFamily="34" charset="-120"/>
              </a:rPr>
              <a:t>/</a:t>
            </a:r>
            <a:endParaRPr lang="en-US" sz="1400" dirty="0"/>
          </a:p>
        </p:txBody>
      </p:sp>
      <p:sp>
        <p:nvSpPr>
          <p:cNvPr id="8" name="Text 6"/>
          <p:cNvSpPr/>
          <p:nvPr/>
        </p:nvSpPr>
        <p:spPr>
          <a:xfrm>
            <a:off x="3977640" y="1965960"/>
            <a:ext cx="7452360" cy="713232"/>
          </a:xfrm>
          <a:prstGeom prst="rect">
            <a:avLst/>
          </a:prstGeom>
          <a:noFill/>
          <a:ln/>
        </p:spPr>
        <p:txBody>
          <a:bodyPr wrap="square" lIns="0" tIns="0" rIns="0" bIns="0" rtlCol="0" anchor="ctr"/>
          <a:lstStyle/>
          <a:p>
            <a:pPr marL="0" indent="0">
              <a:lnSpc>
                <a:spcPct val="110000"/>
              </a:lnSpc>
              <a:buNone/>
            </a:pPr>
            <a:r>
              <a:rPr lang="en-US" sz="1150" dirty="0">
                <a:solidFill>
                  <a:srgbClr val="55645C"/>
                </a:solidFill>
                <a:latin typeface="Calibri" pitchFamily="34" charset="0"/>
                <a:ea typeface="Calibri" pitchFamily="34" charset="-122"/>
                <a:cs typeface="Calibri" pitchFamily="34" charset="-120"/>
              </a:rPr>
              <a:t>Root — service info &amp; status</a:t>
            </a:r>
            <a:endParaRPr lang="en-US" sz="1150" dirty="0"/>
          </a:p>
        </p:txBody>
      </p:sp>
      <p:sp>
        <p:nvSpPr>
          <p:cNvPr id="9" name="Shape 7"/>
          <p:cNvSpPr/>
          <p:nvPr/>
        </p:nvSpPr>
        <p:spPr>
          <a:xfrm>
            <a:off x="548640" y="2807208"/>
            <a:ext cx="11064240" cy="713232"/>
          </a:xfrm>
          <a:prstGeom prst="roundRect">
            <a:avLst>
              <a:gd name="adj" fmla="val 8974"/>
            </a:avLst>
          </a:prstGeom>
          <a:solidFill>
            <a:srgbClr val="FFFFFF"/>
          </a:solidFill>
          <a:ln w="12700">
            <a:solidFill>
              <a:srgbClr val="E1DFD3"/>
            </a:solidFill>
            <a:prstDash val="solid"/>
          </a:ln>
        </p:spPr>
      </p:sp>
      <p:sp>
        <p:nvSpPr>
          <p:cNvPr id="10" name="Shape 8"/>
          <p:cNvSpPr/>
          <p:nvPr/>
        </p:nvSpPr>
        <p:spPr>
          <a:xfrm>
            <a:off x="749808" y="2980944"/>
            <a:ext cx="777240" cy="365760"/>
          </a:xfrm>
          <a:prstGeom prst="roundRect">
            <a:avLst>
              <a:gd name="adj" fmla="val 15000"/>
            </a:avLst>
          </a:prstGeom>
          <a:solidFill>
            <a:srgbClr val="4C7A5E"/>
          </a:solidFill>
          <a:ln/>
        </p:spPr>
      </p:sp>
      <p:sp>
        <p:nvSpPr>
          <p:cNvPr id="11" name="Text 9"/>
          <p:cNvSpPr/>
          <p:nvPr/>
        </p:nvSpPr>
        <p:spPr>
          <a:xfrm>
            <a:off x="749808" y="2980944"/>
            <a:ext cx="7772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GET</a:t>
            </a:r>
            <a:endParaRPr lang="en-US" sz="1100" dirty="0"/>
          </a:p>
        </p:txBody>
      </p:sp>
      <p:sp>
        <p:nvSpPr>
          <p:cNvPr id="12" name="Text 10"/>
          <p:cNvSpPr/>
          <p:nvPr/>
        </p:nvSpPr>
        <p:spPr>
          <a:xfrm>
            <a:off x="1737360" y="2807208"/>
            <a:ext cx="2103120" cy="713232"/>
          </a:xfrm>
          <a:prstGeom prst="rect">
            <a:avLst/>
          </a:prstGeom>
          <a:noFill/>
          <a:ln/>
        </p:spPr>
        <p:txBody>
          <a:bodyPr wrap="square" lIns="0" tIns="0" rIns="0" bIns="0" rtlCol="0" anchor="ctr"/>
          <a:lstStyle/>
          <a:p>
            <a:pPr marL="0" indent="0">
              <a:buNone/>
            </a:pPr>
            <a:r>
              <a:rPr lang="en-US" sz="1400" b="1" dirty="0">
                <a:solidFill>
                  <a:srgbClr val="18231F"/>
                </a:solidFill>
                <a:latin typeface="Courier New" pitchFamily="34" charset="0"/>
                <a:ea typeface="Courier New" pitchFamily="34" charset="-122"/>
                <a:cs typeface="Courier New" pitchFamily="34" charset="-120"/>
              </a:rPr>
              <a:t>/health</a:t>
            </a:r>
            <a:endParaRPr lang="en-US" sz="1400" dirty="0"/>
          </a:p>
        </p:txBody>
      </p:sp>
      <p:sp>
        <p:nvSpPr>
          <p:cNvPr id="13" name="Text 11"/>
          <p:cNvSpPr/>
          <p:nvPr/>
        </p:nvSpPr>
        <p:spPr>
          <a:xfrm>
            <a:off x="3977640" y="2807208"/>
            <a:ext cx="7452360" cy="713232"/>
          </a:xfrm>
          <a:prstGeom prst="rect">
            <a:avLst/>
          </a:prstGeom>
          <a:noFill/>
          <a:ln/>
        </p:spPr>
        <p:txBody>
          <a:bodyPr wrap="square" lIns="0" tIns="0" rIns="0" bIns="0" rtlCol="0" anchor="ctr"/>
          <a:lstStyle/>
          <a:p>
            <a:pPr marL="0" indent="0">
              <a:lnSpc>
                <a:spcPct val="110000"/>
              </a:lnSpc>
              <a:buNone/>
            </a:pPr>
            <a:r>
              <a:rPr lang="en-US" sz="1150" dirty="0">
                <a:solidFill>
                  <a:srgbClr val="55645C"/>
                </a:solidFill>
                <a:latin typeface="Calibri" pitchFamily="34" charset="0"/>
                <a:ea typeface="Calibri" pitchFamily="34" charset="-122"/>
                <a:cs typeface="Calibri" pitchFamily="34" charset="-120"/>
              </a:rPr>
              <a:t>Health check for uptime monitoring</a:t>
            </a:r>
            <a:endParaRPr lang="en-US" sz="1150" dirty="0"/>
          </a:p>
        </p:txBody>
      </p:sp>
      <p:sp>
        <p:nvSpPr>
          <p:cNvPr id="14" name="Shape 12"/>
          <p:cNvSpPr/>
          <p:nvPr/>
        </p:nvSpPr>
        <p:spPr>
          <a:xfrm>
            <a:off x="548640" y="3648456"/>
            <a:ext cx="11064240" cy="713232"/>
          </a:xfrm>
          <a:prstGeom prst="roundRect">
            <a:avLst>
              <a:gd name="adj" fmla="val 8974"/>
            </a:avLst>
          </a:prstGeom>
          <a:solidFill>
            <a:srgbClr val="FFFFFF"/>
          </a:solidFill>
          <a:ln w="12700">
            <a:solidFill>
              <a:srgbClr val="E1DFD3"/>
            </a:solidFill>
            <a:prstDash val="solid"/>
          </a:ln>
        </p:spPr>
      </p:sp>
      <p:sp>
        <p:nvSpPr>
          <p:cNvPr id="15" name="Shape 13"/>
          <p:cNvSpPr/>
          <p:nvPr/>
        </p:nvSpPr>
        <p:spPr>
          <a:xfrm>
            <a:off x="749808" y="3822192"/>
            <a:ext cx="777240" cy="365760"/>
          </a:xfrm>
          <a:prstGeom prst="roundRect">
            <a:avLst>
              <a:gd name="adj" fmla="val 15000"/>
            </a:avLst>
          </a:prstGeom>
          <a:solidFill>
            <a:srgbClr val="D9A441"/>
          </a:solidFill>
          <a:ln/>
        </p:spPr>
      </p:sp>
      <p:sp>
        <p:nvSpPr>
          <p:cNvPr id="16" name="Text 14"/>
          <p:cNvSpPr/>
          <p:nvPr/>
        </p:nvSpPr>
        <p:spPr>
          <a:xfrm>
            <a:off x="749808" y="3822192"/>
            <a:ext cx="7772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POST</a:t>
            </a:r>
            <a:endParaRPr lang="en-US" sz="1100" dirty="0"/>
          </a:p>
        </p:txBody>
      </p:sp>
      <p:sp>
        <p:nvSpPr>
          <p:cNvPr id="17" name="Text 15"/>
          <p:cNvSpPr/>
          <p:nvPr/>
        </p:nvSpPr>
        <p:spPr>
          <a:xfrm>
            <a:off x="1737360" y="3648456"/>
            <a:ext cx="2103120" cy="713232"/>
          </a:xfrm>
          <a:prstGeom prst="rect">
            <a:avLst/>
          </a:prstGeom>
          <a:noFill/>
          <a:ln/>
        </p:spPr>
        <p:txBody>
          <a:bodyPr wrap="square" lIns="0" tIns="0" rIns="0" bIns="0" rtlCol="0" anchor="ctr"/>
          <a:lstStyle/>
          <a:p>
            <a:pPr marL="0" indent="0">
              <a:buNone/>
            </a:pPr>
            <a:r>
              <a:rPr lang="en-US" sz="1400" b="1" dirty="0">
                <a:solidFill>
                  <a:srgbClr val="18231F"/>
                </a:solidFill>
                <a:latin typeface="Courier New" pitchFamily="34" charset="0"/>
                <a:ea typeface="Courier New" pitchFamily="34" charset="-122"/>
                <a:cs typeface="Courier New" pitchFamily="34" charset="-120"/>
              </a:rPr>
              <a:t>/chat</a:t>
            </a:r>
            <a:endParaRPr lang="en-US" sz="1400" dirty="0"/>
          </a:p>
        </p:txBody>
      </p:sp>
      <p:sp>
        <p:nvSpPr>
          <p:cNvPr id="18" name="Text 16"/>
          <p:cNvSpPr/>
          <p:nvPr/>
        </p:nvSpPr>
        <p:spPr>
          <a:xfrm>
            <a:off x="3977640" y="3648456"/>
            <a:ext cx="7452360" cy="713232"/>
          </a:xfrm>
          <a:prstGeom prst="rect">
            <a:avLst/>
          </a:prstGeom>
          <a:noFill/>
          <a:ln/>
        </p:spPr>
        <p:txBody>
          <a:bodyPr wrap="square" lIns="0" tIns="0" rIns="0" bIns="0" rtlCol="0" anchor="ctr"/>
          <a:lstStyle/>
          <a:p>
            <a:pPr marL="0" indent="0">
              <a:lnSpc>
                <a:spcPct val="110000"/>
              </a:lnSpc>
              <a:buNone/>
            </a:pPr>
            <a:r>
              <a:rPr lang="en-US" sz="1150" dirty="0">
                <a:solidFill>
                  <a:srgbClr val="55645C"/>
                </a:solidFill>
                <a:latin typeface="Calibri" pitchFamily="34" charset="0"/>
                <a:ea typeface="Calibri" pitchFamily="34" charset="-122"/>
                <a:cs typeface="Calibri" pitchFamily="34" charset="-120"/>
              </a:rPr>
              <a:t>Main conversational endpoint — accepts a farmer query, returns a structured JSON recommendation</a:t>
            </a:r>
            <a:endParaRPr lang="en-US" sz="1150" dirty="0"/>
          </a:p>
        </p:txBody>
      </p:sp>
      <p:sp>
        <p:nvSpPr>
          <p:cNvPr id="19" name="Shape 17"/>
          <p:cNvSpPr/>
          <p:nvPr/>
        </p:nvSpPr>
        <p:spPr>
          <a:xfrm>
            <a:off x="548640" y="4489704"/>
            <a:ext cx="11064240" cy="713232"/>
          </a:xfrm>
          <a:prstGeom prst="roundRect">
            <a:avLst>
              <a:gd name="adj" fmla="val 8974"/>
            </a:avLst>
          </a:prstGeom>
          <a:solidFill>
            <a:srgbClr val="FFFFFF"/>
          </a:solidFill>
          <a:ln w="12700">
            <a:solidFill>
              <a:srgbClr val="E1DFD3"/>
            </a:solidFill>
            <a:prstDash val="solid"/>
          </a:ln>
        </p:spPr>
      </p:sp>
      <p:sp>
        <p:nvSpPr>
          <p:cNvPr id="20" name="Shape 18"/>
          <p:cNvSpPr/>
          <p:nvPr/>
        </p:nvSpPr>
        <p:spPr>
          <a:xfrm>
            <a:off x="749808" y="4663440"/>
            <a:ext cx="777240" cy="365760"/>
          </a:xfrm>
          <a:prstGeom prst="roundRect">
            <a:avLst>
              <a:gd name="adj" fmla="val 15000"/>
            </a:avLst>
          </a:prstGeom>
          <a:solidFill>
            <a:srgbClr val="4C7A5E"/>
          </a:solidFill>
          <a:ln/>
        </p:spPr>
      </p:sp>
      <p:sp>
        <p:nvSpPr>
          <p:cNvPr id="21" name="Text 19"/>
          <p:cNvSpPr/>
          <p:nvPr/>
        </p:nvSpPr>
        <p:spPr>
          <a:xfrm>
            <a:off x="749808" y="4663440"/>
            <a:ext cx="7772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GET</a:t>
            </a:r>
            <a:endParaRPr lang="en-US" sz="1100" dirty="0"/>
          </a:p>
        </p:txBody>
      </p:sp>
      <p:sp>
        <p:nvSpPr>
          <p:cNvPr id="22" name="Text 20"/>
          <p:cNvSpPr/>
          <p:nvPr/>
        </p:nvSpPr>
        <p:spPr>
          <a:xfrm>
            <a:off x="1737360" y="4489704"/>
            <a:ext cx="2103120" cy="713232"/>
          </a:xfrm>
          <a:prstGeom prst="rect">
            <a:avLst/>
          </a:prstGeom>
          <a:noFill/>
          <a:ln/>
        </p:spPr>
        <p:txBody>
          <a:bodyPr wrap="square" lIns="0" tIns="0" rIns="0" bIns="0" rtlCol="0" anchor="ctr"/>
          <a:lstStyle/>
          <a:p>
            <a:pPr marL="0" indent="0">
              <a:buNone/>
            </a:pPr>
            <a:r>
              <a:rPr lang="en-US" sz="1400" b="1" dirty="0">
                <a:solidFill>
                  <a:srgbClr val="18231F"/>
                </a:solidFill>
                <a:latin typeface="Courier New" pitchFamily="34" charset="0"/>
                <a:ea typeface="Courier New" pitchFamily="34" charset="-122"/>
                <a:cs typeface="Courier New" pitchFamily="34" charset="-120"/>
              </a:rPr>
              <a:t>/weather</a:t>
            </a:r>
            <a:endParaRPr lang="en-US" sz="1400" dirty="0"/>
          </a:p>
        </p:txBody>
      </p:sp>
      <p:sp>
        <p:nvSpPr>
          <p:cNvPr id="23" name="Text 21"/>
          <p:cNvSpPr/>
          <p:nvPr/>
        </p:nvSpPr>
        <p:spPr>
          <a:xfrm>
            <a:off x="3977640" y="4489704"/>
            <a:ext cx="7452360" cy="713232"/>
          </a:xfrm>
          <a:prstGeom prst="rect">
            <a:avLst/>
          </a:prstGeom>
          <a:noFill/>
          <a:ln/>
        </p:spPr>
        <p:txBody>
          <a:bodyPr wrap="square" lIns="0" tIns="0" rIns="0" bIns="0" rtlCol="0" anchor="ctr"/>
          <a:lstStyle/>
          <a:p>
            <a:pPr marL="0" indent="0">
              <a:lnSpc>
                <a:spcPct val="110000"/>
              </a:lnSpc>
              <a:buNone/>
            </a:pPr>
            <a:r>
              <a:rPr lang="en-US" sz="1150" dirty="0">
                <a:solidFill>
                  <a:srgbClr val="55645C"/>
                </a:solidFill>
                <a:latin typeface="Calibri" pitchFamily="34" charset="0"/>
                <a:ea typeface="Calibri" pitchFamily="34" charset="-122"/>
                <a:cs typeface="Calibri" pitchFamily="34" charset="-120"/>
              </a:rPr>
              <a:t>Returns weather analysis for a requested location</a:t>
            </a:r>
            <a:endParaRPr lang="en-US" sz="1150" dirty="0"/>
          </a:p>
        </p:txBody>
      </p:sp>
      <p:sp>
        <p:nvSpPr>
          <p:cNvPr id="24" name="Shape 22"/>
          <p:cNvSpPr/>
          <p:nvPr/>
        </p:nvSpPr>
        <p:spPr>
          <a:xfrm>
            <a:off x="548640" y="5330952"/>
            <a:ext cx="11064240" cy="713232"/>
          </a:xfrm>
          <a:prstGeom prst="roundRect">
            <a:avLst>
              <a:gd name="adj" fmla="val 8974"/>
            </a:avLst>
          </a:prstGeom>
          <a:solidFill>
            <a:srgbClr val="FFFFFF"/>
          </a:solidFill>
          <a:ln w="12700">
            <a:solidFill>
              <a:srgbClr val="E1DFD3"/>
            </a:solidFill>
            <a:prstDash val="solid"/>
          </a:ln>
        </p:spPr>
      </p:sp>
      <p:sp>
        <p:nvSpPr>
          <p:cNvPr id="25" name="Shape 23"/>
          <p:cNvSpPr/>
          <p:nvPr/>
        </p:nvSpPr>
        <p:spPr>
          <a:xfrm>
            <a:off x="749808" y="5504688"/>
            <a:ext cx="777240" cy="365760"/>
          </a:xfrm>
          <a:prstGeom prst="roundRect">
            <a:avLst>
              <a:gd name="adj" fmla="val 15000"/>
            </a:avLst>
          </a:prstGeom>
          <a:solidFill>
            <a:srgbClr val="4C7A5E"/>
          </a:solidFill>
          <a:ln/>
        </p:spPr>
      </p:sp>
      <p:sp>
        <p:nvSpPr>
          <p:cNvPr id="26" name="Text 24"/>
          <p:cNvSpPr/>
          <p:nvPr/>
        </p:nvSpPr>
        <p:spPr>
          <a:xfrm>
            <a:off x="749808" y="5504688"/>
            <a:ext cx="7772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GET</a:t>
            </a:r>
            <a:endParaRPr lang="en-US" sz="1100" dirty="0"/>
          </a:p>
        </p:txBody>
      </p:sp>
      <p:sp>
        <p:nvSpPr>
          <p:cNvPr id="27" name="Text 25"/>
          <p:cNvSpPr/>
          <p:nvPr/>
        </p:nvSpPr>
        <p:spPr>
          <a:xfrm>
            <a:off x="1737360" y="5330952"/>
            <a:ext cx="2103120" cy="713232"/>
          </a:xfrm>
          <a:prstGeom prst="rect">
            <a:avLst/>
          </a:prstGeom>
          <a:noFill/>
          <a:ln/>
        </p:spPr>
        <p:txBody>
          <a:bodyPr wrap="square" lIns="0" tIns="0" rIns="0" bIns="0" rtlCol="0" anchor="ctr"/>
          <a:lstStyle/>
          <a:p>
            <a:pPr marL="0" indent="0">
              <a:buNone/>
            </a:pPr>
            <a:r>
              <a:rPr lang="en-US" sz="1400" b="1" dirty="0">
                <a:solidFill>
                  <a:srgbClr val="18231F"/>
                </a:solidFill>
                <a:latin typeface="Courier New" pitchFamily="34" charset="0"/>
                <a:ea typeface="Courier New" pitchFamily="34" charset="-122"/>
                <a:cs typeface="Courier New" pitchFamily="34" charset="-120"/>
              </a:rPr>
              <a:t>/market</a:t>
            </a:r>
            <a:endParaRPr lang="en-US" sz="1400" dirty="0"/>
          </a:p>
        </p:txBody>
      </p:sp>
      <p:sp>
        <p:nvSpPr>
          <p:cNvPr id="28" name="Text 26"/>
          <p:cNvSpPr/>
          <p:nvPr/>
        </p:nvSpPr>
        <p:spPr>
          <a:xfrm>
            <a:off x="3977640" y="5330952"/>
            <a:ext cx="7452360" cy="713232"/>
          </a:xfrm>
          <a:prstGeom prst="rect">
            <a:avLst/>
          </a:prstGeom>
          <a:noFill/>
          <a:ln/>
        </p:spPr>
        <p:txBody>
          <a:bodyPr wrap="square" lIns="0" tIns="0" rIns="0" bIns="0" rtlCol="0" anchor="ctr"/>
          <a:lstStyle/>
          <a:p>
            <a:pPr marL="0" indent="0">
              <a:lnSpc>
                <a:spcPct val="110000"/>
              </a:lnSpc>
              <a:buNone/>
            </a:pPr>
            <a:r>
              <a:rPr lang="en-US" sz="1150" dirty="0">
                <a:solidFill>
                  <a:srgbClr val="55645C"/>
                </a:solidFill>
                <a:latin typeface="Calibri" pitchFamily="34" charset="0"/>
                <a:ea typeface="Calibri" pitchFamily="34" charset="-122"/>
                <a:cs typeface="Calibri" pitchFamily="34" charset="-120"/>
              </a:rPr>
              <a:t>Returns current market price insights</a:t>
            </a:r>
            <a:endParaRPr lang="en-US" sz="1150" dirty="0"/>
          </a:p>
        </p:txBody>
      </p:sp>
      <p:sp>
        <p:nvSpPr>
          <p:cNvPr id="29" name="Text 27"/>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30" name="Text 28"/>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USER EXPERIENCE</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Frontend</a:t>
            </a:r>
            <a:endParaRPr lang="en-US" sz="2800" dirty="0"/>
          </a:p>
        </p:txBody>
      </p:sp>
      <p:sp>
        <p:nvSpPr>
          <p:cNvPr id="4" name="Text 2"/>
          <p:cNvSpPr/>
          <p:nvPr/>
        </p:nvSpPr>
        <p:spPr>
          <a:xfrm>
            <a:off x="548640" y="1828800"/>
            <a:ext cx="3657600" cy="274320"/>
          </a:xfrm>
          <a:prstGeom prst="rect">
            <a:avLst/>
          </a:prstGeom>
          <a:noFill/>
          <a:ln/>
        </p:spPr>
        <p:txBody>
          <a:bodyPr wrap="square" rtlCol="0" anchor="ctr"/>
          <a:lstStyle/>
          <a:p>
            <a:pPr marL="0" indent="0">
              <a:buNone/>
            </a:pPr>
            <a:r>
              <a:rPr lang="en-US" sz="1100" b="1" kern="0" spc="150" dirty="0">
                <a:solidFill>
                  <a:srgbClr val="4C7A5E"/>
                </a:solidFill>
                <a:latin typeface="Calibri" pitchFamily="34" charset="0"/>
                <a:ea typeface="Calibri" pitchFamily="34" charset="-122"/>
                <a:cs typeface="Calibri" pitchFamily="34" charset="-120"/>
              </a:rPr>
              <a:t>SCREENS</a:t>
            </a:r>
            <a:endParaRPr lang="en-US" sz="1100" dirty="0"/>
          </a:p>
        </p:txBody>
      </p:sp>
      <p:pic>
        <p:nvPicPr>
          <p:cNvPr id="5" name="Image 0" descr="/home/claude/work/icons/check_dark.png"/>
          <p:cNvPicPr>
            <a:picLocks noChangeAspect="1"/>
          </p:cNvPicPr>
          <p:nvPr/>
        </p:nvPicPr>
        <p:blipFill>
          <a:blip r:embed="rId3"/>
          <a:stretch>
            <a:fillRect/>
          </a:stretch>
        </p:blipFill>
        <p:spPr>
          <a:xfrm>
            <a:off x="548640" y="2176272"/>
            <a:ext cx="201168" cy="201168"/>
          </a:xfrm>
          <a:prstGeom prst="rect">
            <a:avLst/>
          </a:prstGeom>
        </p:spPr>
      </p:pic>
      <p:sp>
        <p:nvSpPr>
          <p:cNvPr id="6" name="Text 3"/>
          <p:cNvSpPr/>
          <p:nvPr/>
        </p:nvSpPr>
        <p:spPr>
          <a:xfrm>
            <a:off x="841248" y="2148840"/>
            <a:ext cx="260604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Home Page</a:t>
            </a:r>
            <a:endParaRPr lang="en-US" sz="1250" dirty="0"/>
          </a:p>
        </p:txBody>
      </p:sp>
      <p:pic>
        <p:nvPicPr>
          <p:cNvPr id="7" name="Image 1" descr="/home/claude/work/icons/check_dark.png"/>
          <p:cNvPicPr>
            <a:picLocks noChangeAspect="1"/>
          </p:cNvPicPr>
          <p:nvPr/>
        </p:nvPicPr>
        <p:blipFill>
          <a:blip r:embed="rId3"/>
          <a:stretch>
            <a:fillRect/>
          </a:stretch>
        </p:blipFill>
        <p:spPr>
          <a:xfrm>
            <a:off x="3566160" y="2176272"/>
            <a:ext cx="201168" cy="201168"/>
          </a:xfrm>
          <a:prstGeom prst="rect">
            <a:avLst/>
          </a:prstGeom>
        </p:spPr>
      </p:pic>
      <p:sp>
        <p:nvSpPr>
          <p:cNvPr id="8" name="Text 4"/>
          <p:cNvSpPr/>
          <p:nvPr/>
        </p:nvSpPr>
        <p:spPr>
          <a:xfrm>
            <a:off x="3858768" y="2148840"/>
            <a:ext cx="260604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Chat Interface</a:t>
            </a:r>
            <a:endParaRPr lang="en-US" sz="1250" dirty="0"/>
          </a:p>
        </p:txBody>
      </p:sp>
      <p:pic>
        <p:nvPicPr>
          <p:cNvPr id="9" name="Image 2" descr="/home/claude/work/icons/check_dark.png"/>
          <p:cNvPicPr>
            <a:picLocks noChangeAspect="1"/>
          </p:cNvPicPr>
          <p:nvPr/>
        </p:nvPicPr>
        <p:blipFill>
          <a:blip r:embed="rId3"/>
          <a:stretch>
            <a:fillRect/>
          </a:stretch>
        </p:blipFill>
        <p:spPr>
          <a:xfrm>
            <a:off x="548640" y="2633472"/>
            <a:ext cx="201168" cy="201168"/>
          </a:xfrm>
          <a:prstGeom prst="rect">
            <a:avLst/>
          </a:prstGeom>
        </p:spPr>
      </p:pic>
      <p:sp>
        <p:nvSpPr>
          <p:cNvPr id="10" name="Text 5"/>
          <p:cNvSpPr/>
          <p:nvPr/>
        </p:nvSpPr>
        <p:spPr>
          <a:xfrm>
            <a:off x="841248" y="2606040"/>
            <a:ext cx="260604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Response Cards</a:t>
            </a:r>
            <a:endParaRPr lang="en-US" sz="1250" dirty="0"/>
          </a:p>
        </p:txBody>
      </p:sp>
      <p:pic>
        <p:nvPicPr>
          <p:cNvPr id="11" name="Image 3" descr="/home/claude/work/icons/check_dark.png"/>
          <p:cNvPicPr>
            <a:picLocks noChangeAspect="1"/>
          </p:cNvPicPr>
          <p:nvPr/>
        </p:nvPicPr>
        <p:blipFill>
          <a:blip r:embed="rId3"/>
          <a:stretch>
            <a:fillRect/>
          </a:stretch>
        </p:blipFill>
        <p:spPr>
          <a:xfrm>
            <a:off x="3566160" y="2633472"/>
            <a:ext cx="201168" cy="201168"/>
          </a:xfrm>
          <a:prstGeom prst="rect">
            <a:avLst/>
          </a:prstGeom>
        </p:spPr>
      </p:pic>
      <p:sp>
        <p:nvSpPr>
          <p:cNvPr id="12" name="Text 6"/>
          <p:cNvSpPr/>
          <p:nvPr/>
        </p:nvSpPr>
        <p:spPr>
          <a:xfrm>
            <a:off x="3858768" y="2606040"/>
            <a:ext cx="260604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Weather Section</a:t>
            </a:r>
            <a:endParaRPr lang="en-US" sz="1250" dirty="0"/>
          </a:p>
        </p:txBody>
      </p:sp>
      <p:pic>
        <p:nvPicPr>
          <p:cNvPr id="13" name="Image 4" descr="/home/claude/work/icons/check_dark.png"/>
          <p:cNvPicPr>
            <a:picLocks noChangeAspect="1"/>
          </p:cNvPicPr>
          <p:nvPr/>
        </p:nvPicPr>
        <p:blipFill>
          <a:blip r:embed="rId3"/>
          <a:stretch>
            <a:fillRect/>
          </a:stretch>
        </p:blipFill>
        <p:spPr>
          <a:xfrm>
            <a:off x="548640" y="3090672"/>
            <a:ext cx="201168" cy="201168"/>
          </a:xfrm>
          <a:prstGeom prst="rect">
            <a:avLst/>
          </a:prstGeom>
        </p:spPr>
      </p:pic>
      <p:sp>
        <p:nvSpPr>
          <p:cNvPr id="14" name="Text 7"/>
          <p:cNvSpPr/>
          <p:nvPr/>
        </p:nvSpPr>
        <p:spPr>
          <a:xfrm>
            <a:off x="841248" y="3063240"/>
            <a:ext cx="260604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Market Section</a:t>
            </a:r>
            <a:endParaRPr lang="en-US" sz="1250" dirty="0"/>
          </a:p>
        </p:txBody>
      </p:sp>
      <p:pic>
        <p:nvPicPr>
          <p:cNvPr id="15" name="Image 5" descr="/home/claude/work/icons/check_dark.png"/>
          <p:cNvPicPr>
            <a:picLocks noChangeAspect="1"/>
          </p:cNvPicPr>
          <p:nvPr/>
        </p:nvPicPr>
        <p:blipFill>
          <a:blip r:embed="rId3"/>
          <a:stretch>
            <a:fillRect/>
          </a:stretch>
        </p:blipFill>
        <p:spPr>
          <a:xfrm>
            <a:off x="3566160" y="3090672"/>
            <a:ext cx="201168" cy="201168"/>
          </a:xfrm>
          <a:prstGeom prst="rect">
            <a:avLst/>
          </a:prstGeom>
        </p:spPr>
      </p:pic>
      <p:sp>
        <p:nvSpPr>
          <p:cNvPr id="16" name="Text 8"/>
          <p:cNvSpPr/>
          <p:nvPr/>
        </p:nvSpPr>
        <p:spPr>
          <a:xfrm>
            <a:off x="3858768" y="3063240"/>
            <a:ext cx="260604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Responsive Design</a:t>
            </a:r>
            <a:endParaRPr lang="en-US" sz="1250" dirty="0"/>
          </a:p>
        </p:txBody>
      </p:sp>
      <p:sp>
        <p:nvSpPr>
          <p:cNvPr id="17" name="Text 9"/>
          <p:cNvSpPr/>
          <p:nvPr/>
        </p:nvSpPr>
        <p:spPr>
          <a:xfrm>
            <a:off x="548640" y="3794760"/>
            <a:ext cx="3657600" cy="274320"/>
          </a:xfrm>
          <a:prstGeom prst="rect">
            <a:avLst/>
          </a:prstGeom>
          <a:noFill/>
          <a:ln/>
        </p:spPr>
        <p:txBody>
          <a:bodyPr wrap="square" rtlCol="0" anchor="ctr"/>
          <a:lstStyle/>
          <a:p>
            <a:pPr marL="0" indent="0">
              <a:buNone/>
            </a:pPr>
            <a:r>
              <a:rPr lang="en-US" sz="1100" b="1" kern="0" spc="150" dirty="0">
                <a:solidFill>
                  <a:srgbClr val="4C7A5E"/>
                </a:solidFill>
                <a:latin typeface="Calibri" pitchFamily="34" charset="0"/>
                <a:ea typeface="Calibri" pitchFamily="34" charset="-122"/>
                <a:cs typeface="Calibri" pitchFamily="34" charset="-120"/>
              </a:rPr>
              <a:t>KEY FEATURES</a:t>
            </a:r>
            <a:endParaRPr lang="en-US" sz="1100" dirty="0"/>
          </a:p>
        </p:txBody>
      </p:sp>
      <p:pic>
        <p:nvPicPr>
          <p:cNvPr id="18" name="Image 6" descr="/home/claude/work/icons/check_dark.png"/>
          <p:cNvPicPr>
            <a:picLocks noChangeAspect="1"/>
          </p:cNvPicPr>
          <p:nvPr/>
        </p:nvPicPr>
        <p:blipFill>
          <a:blip r:embed="rId3"/>
          <a:stretch>
            <a:fillRect/>
          </a:stretch>
        </p:blipFill>
        <p:spPr>
          <a:xfrm>
            <a:off x="548640" y="4142232"/>
            <a:ext cx="201168" cy="201168"/>
          </a:xfrm>
          <a:prstGeom prst="rect">
            <a:avLst/>
          </a:prstGeom>
        </p:spPr>
      </p:pic>
      <p:sp>
        <p:nvSpPr>
          <p:cNvPr id="19" name="Text 10"/>
          <p:cNvSpPr/>
          <p:nvPr/>
        </p:nvSpPr>
        <p:spPr>
          <a:xfrm>
            <a:off x="841248" y="4114800"/>
            <a:ext cx="52120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Clean UI</a:t>
            </a:r>
            <a:endParaRPr lang="en-US" sz="1250" dirty="0"/>
          </a:p>
        </p:txBody>
      </p:sp>
      <p:pic>
        <p:nvPicPr>
          <p:cNvPr id="20" name="Image 7" descr="/home/claude/work/icons/check_dark.png"/>
          <p:cNvPicPr>
            <a:picLocks noChangeAspect="1"/>
          </p:cNvPicPr>
          <p:nvPr/>
        </p:nvPicPr>
        <p:blipFill>
          <a:blip r:embed="rId3"/>
          <a:stretch>
            <a:fillRect/>
          </a:stretch>
        </p:blipFill>
        <p:spPr>
          <a:xfrm>
            <a:off x="548640" y="4526280"/>
            <a:ext cx="201168" cy="201168"/>
          </a:xfrm>
          <a:prstGeom prst="rect">
            <a:avLst/>
          </a:prstGeom>
        </p:spPr>
      </p:pic>
      <p:sp>
        <p:nvSpPr>
          <p:cNvPr id="21" name="Text 11"/>
          <p:cNvSpPr/>
          <p:nvPr/>
        </p:nvSpPr>
        <p:spPr>
          <a:xfrm>
            <a:off x="841248" y="4498848"/>
            <a:ext cx="52120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Mobile-friendly</a:t>
            </a:r>
            <a:endParaRPr lang="en-US" sz="1250" dirty="0"/>
          </a:p>
        </p:txBody>
      </p:sp>
      <p:pic>
        <p:nvPicPr>
          <p:cNvPr id="22" name="Image 8" descr="/home/claude/work/icons/check_dark.png"/>
          <p:cNvPicPr>
            <a:picLocks noChangeAspect="1"/>
          </p:cNvPicPr>
          <p:nvPr/>
        </p:nvPicPr>
        <p:blipFill>
          <a:blip r:embed="rId3"/>
          <a:stretch>
            <a:fillRect/>
          </a:stretch>
        </p:blipFill>
        <p:spPr>
          <a:xfrm>
            <a:off x="548640" y="4910328"/>
            <a:ext cx="201168" cy="201168"/>
          </a:xfrm>
          <a:prstGeom prst="rect">
            <a:avLst/>
          </a:prstGeom>
        </p:spPr>
      </p:pic>
      <p:sp>
        <p:nvSpPr>
          <p:cNvPr id="23" name="Text 12"/>
          <p:cNvSpPr/>
          <p:nvPr/>
        </p:nvSpPr>
        <p:spPr>
          <a:xfrm>
            <a:off x="841248" y="4882896"/>
            <a:ext cx="52120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Real-time responses</a:t>
            </a:r>
            <a:endParaRPr lang="en-US" sz="1250" dirty="0"/>
          </a:p>
        </p:txBody>
      </p:sp>
      <p:pic>
        <p:nvPicPr>
          <p:cNvPr id="24" name="Image 9" descr="/home/claude/work/icons/check_dark.png"/>
          <p:cNvPicPr>
            <a:picLocks noChangeAspect="1"/>
          </p:cNvPicPr>
          <p:nvPr/>
        </p:nvPicPr>
        <p:blipFill>
          <a:blip r:embed="rId3"/>
          <a:stretch>
            <a:fillRect/>
          </a:stretch>
        </p:blipFill>
        <p:spPr>
          <a:xfrm>
            <a:off x="548640" y="5294376"/>
            <a:ext cx="201168" cy="201168"/>
          </a:xfrm>
          <a:prstGeom prst="rect">
            <a:avLst/>
          </a:prstGeom>
        </p:spPr>
      </p:pic>
      <p:sp>
        <p:nvSpPr>
          <p:cNvPr id="25" name="Text 13"/>
          <p:cNvSpPr/>
          <p:nvPr/>
        </p:nvSpPr>
        <p:spPr>
          <a:xfrm>
            <a:off x="841248" y="5266944"/>
            <a:ext cx="52120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Structured cards</a:t>
            </a:r>
            <a:endParaRPr lang="en-US" sz="1250" dirty="0"/>
          </a:p>
        </p:txBody>
      </p:sp>
      <p:pic>
        <p:nvPicPr>
          <p:cNvPr id="26" name="Image 10" descr="/home/claude/work/icons/check_dark.png"/>
          <p:cNvPicPr>
            <a:picLocks noChangeAspect="1"/>
          </p:cNvPicPr>
          <p:nvPr/>
        </p:nvPicPr>
        <p:blipFill>
          <a:blip r:embed="rId3"/>
          <a:stretch>
            <a:fillRect/>
          </a:stretch>
        </p:blipFill>
        <p:spPr>
          <a:xfrm>
            <a:off x="548640" y="5678424"/>
            <a:ext cx="201168" cy="201168"/>
          </a:xfrm>
          <a:prstGeom prst="rect">
            <a:avLst/>
          </a:prstGeom>
        </p:spPr>
      </p:pic>
      <p:sp>
        <p:nvSpPr>
          <p:cNvPr id="27" name="Text 14"/>
          <p:cNvSpPr/>
          <p:nvPr/>
        </p:nvSpPr>
        <p:spPr>
          <a:xfrm>
            <a:off x="841248" y="5650992"/>
            <a:ext cx="5212080" cy="365760"/>
          </a:xfrm>
          <a:prstGeom prst="rect">
            <a:avLst/>
          </a:prstGeom>
          <a:noFill/>
          <a:ln/>
        </p:spPr>
        <p:txBody>
          <a:bodyPr wrap="square" lIns="0" tIns="0" rIns="0" bIns="0" rtlCol="0" anchor="ctr"/>
          <a:lstStyle/>
          <a:p>
            <a:pPr marL="0" indent="0">
              <a:buNone/>
            </a:pPr>
            <a:r>
              <a:rPr lang="en-US" sz="1250" dirty="0">
                <a:solidFill>
                  <a:srgbClr val="18231F"/>
                </a:solidFill>
                <a:latin typeface="Calibri" pitchFamily="34" charset="0"/>
                <a:ea typeface="Calibri" pitchFamily="34" charset="-122"/>
                <a:cs typeface="Calibri" pitchFamily="34" charset="-120"/>
              </a:rPr>
              <a:t>Loading indicators</a:t>
            </a:r>
            <a:endParaRPr lang="en-US" sz="1250" dirty="0"/>
          </a:p>
        </p:txBody>
      </p:sp>
      <p:sp>
        <p:nvSpPr>
          <p:cNvPr id="28" name="Shape 15"/>
          <p:cNvSpPr/>
          <p:nvPr/>
        </p:nvSpPr>
        <p:spPr>
          <a:xfrm>
            <a:off x="6446520" y="1828800"/>
            <a:ext cx="5166360" cy="4434840"/>
          </a:xfrm>
          <a:prstGeom prst="roundRect">
            <a:avLst>
              <a:gd name="adj" fmla="val 2474"/>
            </a:avLst>
          </a:prstGeom>
          <a:solidFill>
            <a:srgbClr val="13322A"/>
          </a:solidFill>
          <a:ln/>
        </p:spPr>
      </p:sp>
      <p:sp>
        <p:nvSpPr>
          <p:cNvPr id="29" name="Text 16"/>
          <p:cNvSpPr/>
          <p:nvPr/>
        </p:nvSpPr>
        <p:spPr>
          <a:xfrm>
            <a:off x="6720840" y="2057400"/>
            <a:ext cx="4617720" cy="365760"/>
          </a:xfrm>
          <a:prstGeom prst="rect">
            <a:avLst/>
          </a:prstGeom>
          <a:noFill/>
          <a:ln/>
        </p:spPr>
        <p:txBody>
          <a:bodyPr wrap="square" rtlCol="0" anchor="ctr"/>
          <a:lstStyle/>
          <a:p>
            <a:pPr marL="0" indent="0">
              <a:buNone/>
            </a:pPr>
            <a:r>
              <a:rPr lang="en-US" sz="1300" b="1" dirty="0">
                <a:solidFill>
                  <a:srgbClr val="D9A441"/>
                </a:solidFill>
                <a:latin typeface="Calibri" pitchFamily="34" charset="0"/>
                <a:ea typeface="Calibri" pitchFamily="34" charset="-122"/>
                <a:cs typeface="Calibri" pitchFamily="34" charset="-120"/>
              </a:rPr>
              <a:t>Stellar Agri  ·  Chat</a:t>
            </a:r>
            <a:endParaRPr lang="en-US" sz="1300" dirty="0"/>
          </a:p>
        </p:txBody>
      </p:sp>
      <p:sp>
        <p:nvSpPr>
          <p:cNvPr id="30" name="Shape 17"/>
          <p:cNvSpPr/>
          <p:nvPr/>
        </p:nvSpPr>
        <p:spPr>
          <a:xfrm>
            <a:off x="7635240" y="2697480"/>
            <a:ext cx="3703320" cy="594360"/>
          </a:xfrm>
          <a:prstGeom prst="roundRect">
            <a:avLst>
              <a:gd name="adj" fmla="val 21538"/>
            </a:avLst>
          </a:prstGeom>
          <a:solidFill>
            <a:srgbClr val="4C7A5E"/>
          </a:solidFill>
          <a:ln/>
        </p:spPr>
      </p:sp>
      <p:sp>
        <p:nvSpPr>
          <p:cNvPr id="31" name="Text 18"/>
          <p:cNvSpPr/>
          <p:nvPr/>
        </p:nvSpPr>
        <p:spPr>
          <a:xfrm>
            <a:off x="7818120" y="2697480"/>
            <a:ext cx="3337560" cy="5943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How do I control aphids on tomato?</a:t>
            </a:r>
            <a:endParaRPr lang="en-US" sz="1100" dirty="0"/>
          </a:p>
        </p:txBody>
      </p:sp>
      <p:sp>
        <p:nvSpPr>
          <p:cNvPr id="32" name="Shape 19"/>
          <p:cNvSpPr/>
          <p:nvPr/>
        </p:nvSpPr>
        <p:spPr>
          <a:xfrm>
            <a:off x="6720840" y="3429000"/>
            <a:ext cx="3703320" cy="685800"/>
          </a:xfrm>
          <a:prstGeom prst="roundRect">
            <a:avLst>
              <a:gd name="adj" fmla="val 18667"/>
            </a:avLst>
          </a:prstGeom>
          <a:solidFill>
            <a:srgbClr val="FFFFFF"/>
          </a:solidFill>
          <a:ln/>
        </p:spPr>
      </p:sp>
      <p:sp>
        <p:nvSpPr>
          <p:cNvPr id="33" name="Text 20"/>
          <p:cNvSpPr/>
          <p:nvPr/>
        </p:nvSpPr>
        <p:spPr>
          <a:xfrm>
            <a:off x="6903720" y="3429000"/>
            <a:ext cx="3337560" cy="685800"/>
          </a:xfrm>
          <a:prstGeom prst="rect">
            <a:avLst/>
          </a:prstGeom>
          <a:noFill/>
          <a:ln/>
        </p:spPr>
        <p:txBody>
          <a:bodyPr wrap="square" lIns="0" tIns="0" rIns="0" bIns="0" rtlCol="0" anchor="ctr"/>
          <a:lstStyle/>
          <a:p>
            <a:pPr marL="0" indent="0">
              <a:lnSpc>
                <a:spcPct val="110000"/>
              </a:lnSpc>
              <a:buNone/>
            </a:pPr>
            <a:r>
              <a:rPr lang="en-US" sz="1100" dirty="0">
                <a:solidFill>
                  <a:srgbClr val="18231F"/>
                </a:solidFill>
                <a:latin typeface="Calibri" pitchFamily="34" charset="0"/>
                <a:ea typeface="Calibri" pitchFamily="34" charset="-122"/>
                <a:cs typeface="Calibri" pitchFamily="34" charset="-120"/>
              </a:rPr>
              <a:t>Neem oil spray works well — apply every 5–7 days.</a:t>
            </a:r>
            <a:endParaRPr lang="en-US" sz="1100" dirty="0"/>
          </a:p>
        </p:txBody>
      </p:sp>
      <p:sp>
        <p:nvSpPr>
          <p:cNvPr id="34" name="Shape 21"/>
          <p:cNvSpPr/>
          <p:nvPr/>
        </p:nvSpPr>
        <p:spPr>
          <a:xfrm>
            <a:off x="7635240" y="4297680"/>
            <a:ext cx="3703320" cy="594360"/>
          </a:xfrm>
          <a:prstGeom prst="roundRect">
            <a:avLst>
              <a:gd name="adj" fmla="val 21538"/>
            </a:avLst>
          </a:prstGeom>
          <a:solidFill>
            <a:srgbClr val="4C7A5E"/>
          </a:solidFill>
          <a:ln/>
        </p:spPr>
      </p:sp>
      <p:sp>
        <p:nvSpPr>
          <p:cNvPr id="35" name="Text 22"/>
          <p:cNvSpPr/>
          <p:nvPr/>
        </p:nvSpPr>
        <p:spPr>
          <a:xfrm>
            <a:off x="7818120" y="4297680"/>
            <a:ext cx="3337560" cy="5943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What about fertilizer for rice?</a:t>
            </a:r>
            <a:endParaRPr lang="en-US" sz="1100" dirty="0"/>
          </a:p>
        </p:txBody>
      </p:sp>
      <p:sp>
        <p:nvSpPr>
          <p:cNvPr id="36" name="Shape 23"/>
          <p:cNvSpPr/>
          <p:nvPr/>
        </p:nvSpPr>
        <p:spPr>
          <a:xfrm>
            <a:off x="6720840" y="5577840"/>
            <a:ext cx="4617720" cy="457200"/>
          </a:xfrm>
          <a:prstGeom prst="roundRect">
            <a:avLst>
              <a:gd name="adj" fmla="val 50000"/>
            </a:avLst>
          </a:prstGeom>
          <a:solidFill>
            <a:srgbClr val="1E4738"/>
          </a:solidFill>
          <a:ln w="12700">
            <a:solidFill>
              <a:srgbClr val="2F5445"/>
            </a:solidFill>
            <a:prstDash val="solid"/>
          </a:ln>
        </p:spPr>
      </p:sp>
      <p:sp>
        <p:nvSpPr>
          <p:cNvPr id="37" name="Text 24"/>
          <p:cNvSpPr/>
          <p:nvPr/>
        </p:nvSpPr>
        <p:spPr>
          <a:xfrm>
            <a:off x="6949440" y="5577840"/>
            <a:ext cx="4160520" cy="457200"/>
          </a:xfrm>
          <a:prstGeom prst="rect">
            <a:avLst/>
          </a:prstGeom>
          <a:noFill/>
          <a:ln/>
        </p:spPr>
        <p:txBody>
          <a:bodyPr wrap="square" lIns="0" tIns="0" rIns="0" bIns="0" rtlCol="0" anchor="ctr"/>
          <a:lstStyle/>
          <a:p>
            <a:pPr marL="0" indent="0">
              <a:buNone/>
            </a:pPr>
            <a:r>
              <a:rPr lang="en-US" sz="1100" i="1" dirty="0">
                <a:solidFill>
                  <a:srgbClr val="9FB3A7"/>
                </a:solidFill>
                <a:latin typeface="Calibri" pitchFamily="34" charset="0"/>
                <a:ea typeface="Calibri" pitchFamily="34" charset="-122"/>
                <a:cs typeface="Calibri" pitchFamily="34" charset="-120"/>
              </a:rPr>
              <a:t>Type your question…</a:t>
            </a:r>
            <a:endParaRPr lang="en-US" sz="1100" dirty="0"/>
          </a:p>
        </p:txBody>
      </p:sp>
      <p:sp>
        <p:nvSpPr>
          <p:cNvPr id="38" name="Text 25"/>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39" name="Text 26"/>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WALKTHROUGH</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Live demo</a:t>
            </a:r>
            <a:endParaRPr lang="en-US" sz="2800" dirty="0"/>
          </a:p>
        </p:txBody>
      </p:sp>
      <p:sp>
        <p:nvSpPr>
          <p:cNvPr id="4" name="Shape 2"/>
          <p:cNvSpPr/>
          <p:nvPr/>
        </p:nvSpPr>
        <p:spPr>
          <a:xfrm>
            <a:off x="548640" y="1965960"/>
            <a:ext cx="5440680" cy="1965960"/>
          </a:xfrm>
          <a:prstGeom prst="roundRect">
            <a:avLst>
              <a:gd name="adj" fmla="val 4186"/>
            </a:avLst>
          </a:prstGeom>
          <a:solidFill>
            <a:srgbClr val="FFFFFF"/>
          </a:solidFill>
          <a:ln w="12700">
            <a:solidFill>
              <a:srgbClr val="E1DFD3"/>
            </a:solidFill>
            <a:prstDash val="solid"/>
          </a:ln>
        </p:spPr>
      </p:sp>
      <p:sp>
        <p:nvSpPr>
          <p:cNvPr id="5" name="Text 3"/>
          <p:cNvSpPr/>
          <p:nvPr/>
        </p:nvSpPr>
        <p:spPr>
          <a:xfrm>
            <a:off x="822960" y="2148840"/>
            <a:ext cx="4892040" cy="256032"/>
          </a:xfrm>
          <a:prstGeom prst="rect">
            <a:avLst/>
          </a:prstGeom>
          <a:noFill/>
          <a:ln/>
        </p:spPr>
        <p:txBody>
          <a:bodyPr wrap="square" rtlCol="0" anchor="ctr"/>
          <a:lstStyle/>
          <a:p>
            <a:pPr marL="0" indent="0">
              <a:buNone/>
            </a:pPr>
            <a:r>
              <a:rPr lang="en-US" sz="1000" b="1" kern="0" spc="150" dirty="0">
                <a:solidFill>
                  <a:srgbClr val="4C7A5E"/>
                </a:solidFill>
                <a:latin typeface="Calibri" pitchFamily="34" charset="0"/>
                <a:ea typeface="Calibri" pitchFamily="34" charset="-122"/>
                <a:cs typeface="Calibri" pitchFamily="34" charset="-120"/>
              </a:rPr>
              <a:t>QUESTION</a:t>
            </a:r>
            <a:endParaRPr lang="en-US" sz="1000" dirty="0"/>
          </a:p>
        </p:txBody>
      </p:sp>
      <p:sp>
        <p:nvSpPr>
          <p:cNvPr id="6" name="Text 4"/>
          <p:cNvSpPr/>
          <p:nvPr/>
        </p:nvSpPr>
        <p:spPr>
          <a:xfrm>
            <a:off x="822960" y="2423160"/>
            <a:ext cx="4892040" cy="502920"/>
          </a:xfrm>
          <a:prstGeom prst="rect">
            <a:avLst/>
          </a:prstGeom>
          <a:noFill/>
          <a:ln/>
        </p:spPr>
        <p:txBody>
          <a:bodyPr wrap="square" lIns="0" tIns="0" rIns="0" bIns="0" rtlCol="0" anchor="ctr"/>
          <a:lstStyle/>
          <a:p>
            <a:pPr marL="0" indent="0">
              <a:buNone/>
            </a:pPr>
            <a:r>
              <a:rPr lang="en-US" sz="1500" b="1" dirty="0">
                <a:solidFill>
                  <a:srgbClr val="18231F"/>
                </a:solidFill>
                <a:latin typeface="Cambria" pitchFamily="34" charset="0"/>
                <a:ea typeface="Cambria" pitchFamily="34" charset="-122"/>
                <a:cs typeface="Cambria" pitchFamily="34" charset="-120"/>
              </a:rPr>
              <a:t>Recommend fertilizer for rice</a:t>
            </a:r>
            <a:endParaRPr lang="en-US" sz="1500" dirty="0"/>
          </a:p>
        </p:txBody>
      </p:sp>
      <p:sp>
        <p:nvSpPr>
          <p:cNvPr id="7" name="Shape 5"/>
          <p:cNvSpPr/>
          <p:nvPr/>
        </p:nvSpPr>
        <p:spPr>
          <a:xfrm>
            <a:off x="822960" y="3017520"/>
            <a:ext cx="4892040" cy="0"/>
          </a:xfrm>
          <a:prstGeom prst="line">
            <a:avLst/>
          </a:prstGeom>
          <a:noFill/>
          <a:ln w="12700">
            <a:solidFill>
              <a:srgbClr val="E1DFD3"/>
            </a:solidFill>
            <a:prstDash val="solid"/>
          </a:ln>
        </p:spPr>
      </p:sp>
      <p:sp>
        <p:nvSpPr>
          <p:cNvPr id="8" name="Text 6"/>
          <p:cNvSpPr/>
          <p:nvPr/>
        </p:nvSpPr>
        <p:spPr>
          <a:xfrm>
            <a:off x="822960" y="3136392"/>
            <a:ext cx="4892040" cy="256032"/>
          </a:xfrm>
          <a:prstGeom prst="rect">
            <a:avLst/>
          </a:prstGeom>
          <a:noFill/>
          <a:ln/>
        </p:spPr>
        <p:txBody>
          <a:bodyPr wrap="square" rtlCol="0" anchor="ctr"/>
          <a:lstStyle/>
          <a:p>
            <a:pPr marL="0" indent="0">
              <a:buNone/>
            </a:pPr>
            <a:r>
              <a:rPr lang="en-US" sz="1000" b="1" kern="0" spc="150" dirty="0">
                <a:solidFill>
                  <a:srgbClr val="4C7A5E"/>
                </a:solidFill>
                <a:latin typeface="Calibri" pitchFamily="34" charset="0"/>
                <a:ea typeface="Calibri" pitchFamily="34" charset="-122"/>
                <a:cs typeface="Calibri" pitchFamily="34" charset="-120"/>
              </a:rPr>
              <a:t>RESPONSE</a:t>
            </a:r>
            <a:endParaRPr lang="en-US" sz="1000" dirty="0"/>
          </a:p>
        </p:txBody>
      </p:sp>
      <p:sp>
        <p:nvSpPr>
          <p:cNvPr id="9" name="Text 7"/>
          <p:cNvSpPr/>
          <p:nvPr/>
        </p:nvSpPr>
        <p:spPr>
          <a:xfrm>
            <a:off x="822960" y="3410712"/>
            <a:ext cx="4892040" cy="457200"/>
          </a:xfrm>
          <a:prstGeom prst="rect">
            <a:avLst/>
          </a:prstGeom>
          <a:noFill/>
          <a:ln/>
        </p:spPr>
        <p:txBody>
          <a:bodyPr wrap="square" lIns="0" tIns="0" rIns="0" bIns="0" rtlCol="0" anchor="ctr"/>
          <a:lstStyle/>
          <a:p>
            <a:pPr marL="0" indent="0">
              <a:buNone/>
            </a:pPr>
            <a:r>
              <a:rPr lang="en-US" sz="1100" i="1" dirty="0">
                <a:solidFill>
                  <a:srgbClr val="55645C"/>
                </a:solidFill>
                <a:latin typeface="Calibri" pitchFamily="34" charset="0"/>
                <a:ea typeface="Calibri" pitchFamily="34" charset="-122"/>
                <a:cs typeface="Calibri" pitchFamily="34" charset="-120"/>
              </a:rPr>
              <a:t>Live, context-aware answer generated by the RAG pipeline</a:t>
            </a:r>
            <a:endParaRPr lang="en-US" sz="1100" dirty="0"/>
          </a:p>
        </p:txBody>
      </p:sp>
      <p:sp>
        <p:nvSpPr>
          <p:cNvPr id="10" name="Shape 8"/>
          <p:cNvSpPr/>
          <p:nvPr/>
        </p:nvSpPr>
        <p:spPr>
          <a:xfrm>
            <a:off x="6172200" y="1965960"/>
            <a:ext cx="5440680" cy="1965960"/>
          </a:xfrm>
          <a:prstGeom prst="roundRect">
            <a:avLst>
              <a:gd name="adj" fmla="val 4186"/>
            </a:avLst>
          </a:prstGeom>
          <a:solidFill>
            <a:srgbClr val="FFFFFF"/>
          </a:solidFill>
          <a:ln w="12700">
            <a:solidFill>
              <a:srgbClr val="E1DFD3"/>
            </a:solidFill>
            <a:prstDash val="solid"/>
          </a:ln>
        </p:spPr>
      </p:sp>
      <p:sp>
        <p:nvSpPr>
          <p:cNvPr id="11" name="Text 9"/>
          <p:cNvSpPr/>
          <p:nvPr/>
        </p:nvSpPr>
        <p:spPr>
          <a:xfrm>
            <a:off x="6446520" y="2148840"/>
            <a:ext cx="4892040" cy="256032"/>
          </a:xfrm>
          <a:prstGeom prst="rect">
            <a:avLst/>
          </a:prstGeom>
          <a:noFill/>
          <a:ln/>
        </p:spPr>
        <p:txBody>
          <a:bodyPr wrap="square" rtlCol="0" anchor="ctr"/>
          <a:lstStyle/>
          <a:p>
            <a:pPr marL="0" indent="0">
              <a:buNone/>
            </a:pPr>
            <a:r>
              <a:rPr lang="en-US" sz="1000" b="1" kern="0" spc="150" dirty="0">
                <a:solidFill>
                  <a:srgbClr val="4C7A5E"/>
                </a:solidFill>
                <a:latin typeface="Calibri" pitchFamily="34" charset="0"/>
                <a:ea typeface="Calibri" pitchFamily="34" charset="-122"/>
                <a:cs typeface="Calibri" pitchFamily="34" charset="-120"/>
              </a:rPr>
              <a:t>QUESTION</a:t>
            </a:r>
            <a:endParaRPr lang="en-US" sz="1000" dirty="0"/>
          </a:p>
        </p:txBody>
      </p:sp>
      <p:sp>
        <p:nvSpPr>
          <p:cNvPr id="12" name="Text 10"/>
          <p:cNvSpPr/>
          <p:nvPr/>
        </p:nvSpPr>
        <p:spPr>
          <a:xfrm>
            <a:off x="6446520" y="2423160"/>
            <a:ext cx="4892040" cy="502920"/>
          </a:xfrm>
          <a:prstGeom prst="rect">
            <a:avLst/>
          </a:prstGeom>
          <a:noFill/>
          <a:ln/>
        </p:spPr>
        <p:txBody>
          <a:bodyPr wrap="square" lIns="0" tIns="0" rIns="0" bIns="0" rtlCol="0" anchor="ctr"/>
          <a:lstStyle/>
          <a:p>
            <a:pPr marL="0" indent="0">
              <a:buNone/>
            </a:pPr>
            <a:r>
              <a:rPr lang="en-US" sz="1500" b="1" dirty="0">
                <a:solidFill>
                  <a:srgbClr val="18231F"/>
                </a:solidFill>
                <a:latin typeface="Cambria" pitchFamily="34" charset="0"/>
                <a:ea typeface="Cambria" pitchFamily="34" charset="-122"/>
                <a:cs typeface="Cambria" pitchFamily="34" charset="-120"/>
              </a:rPr>
              <a:t>Tomato leaves have yellow spots</a:t>
            </a:r>
            <a:endParaRPr lang="en-US" sz="1500" dirty="0"/>
          </a:p>
        </p:txBody>
      </p:sp>
      <p:sp>
        <p:nvSpPr>
          <p:cNvPr id="13" name="Shape 11"/>
          <p:cNvSpPr/>
          <p:nvPr/>
        </p:nvSpPr>
        <p:spPr>
          <a:xfrm>
            <a:off x="6446520" y="3017520"/>
            <a:ext cx="4892040" cy="0"/>
          </a:xfrm>
          <a:prstGeom prst="line">
            <a:avLst/>
          </a:prstGeom>
          <a:noFill/>
          <a:ln w="12700">
            <a:solidFill>
              <a:srgbClr val="E1DFD3"/>
            </a:solidFill>
            <a:prstDash val="solid"/>
          </a:ln>
        </p:spPr>
      </p:sp>
      <p:sp>
        <p:nvSpPr>
          <p:cNvPr id="14" name="Text 12"/>
          <p:cNvSpPr/>
          <p:nvPr/>
        </p:nvSpPr>
        <p:spPr>
          <a:xfrm>
            <a:off x="6446520" y="3136392"/>
            <a:ext cx="4892040" cy="256032"/>
          </a:xfrm>
          <a:prstGeom prst="rect">
            <a:avLst/>
          </a:prstGeom>
          <a:noFill/>
          <a:ln/>
        </p:spPr>
        <p:txBody>
          <a:bodyPr wrap="square" rtlCol="0" anchor="ctr"/>
          <a:lstStyle/>
          <a:p>
            <a:pPr marL="0" indent="0">
              <a:buNone/>
            </a:pPr>
            <a:r>
              <a:rPr lang="en-US" sz="1000" b="1" kern="0" spc="150" dirty="0">
                <a:solidFill>
                  <a:srgbClr val="4C7A5E"/>
                </a:solidFill>
                <a:latin typeface="Calibri" pitchFamily="34" charset="0"/>
                <a:ea typeface="Calibri" pitchFamily="34" charset="-122"/>
                <a:cs typeface="Calibri" pitchFamily="34" charset="-120"/>
              </a:rPr>
              <a:t>RESPONSE</a:t>
            </a:r>
            <a:endParaRPr lang="en-US" sz="1000" dirty="0"/>
          </a:p>
        </p:txBody>
      </p:sp>
      <p:sp>
        <p:nvSpPr>
          <p:cNvPr id="15" name="Text 13"/>
          <p:cNvSpPr/>
          <p:nvPr/>
        </p:nvSpPr>
        <p:spPr>
          <a:xfrm>
            <a:off x="6446520" y="3410712"/>
            <a:ext cx="4892040" cy="457200"/>
          </a:xfrm>
          <a:prstGeom prst="rect">
            <a:avLst/>
          </a:prstGeom>
          <a:noFill/>
          <a:ln/>
        </p:spPr>
        <p:txBody>
          <a:bodyPr wrap="square" lIns="0" tIns="0" rIns="0" bIns="0" rtlCol="0" anchor="ctr"/>
          <a:lstStyle/>
          <a:p>
            <a:pPr marL="0" indent="0">
              <a:buNone/>
            </a:pPr>
            <a:r>
              <a:rPr lang="en-US" sz="1100" i="1" dirty="0">
                <a:solidFill>
                  <a:srgbClr val="55645C"/>
                </a:solidFill>
                <a:latin typeface="Calibri" pitchFamily="34" charset="0"/>
                <a:ea typeface="Calibri" pitchFamily="34" charset="-122"/>
                <a:cs typeface="Calibri" pitchFamily="34" charset="-120"/>
              </a:rPr>
              <a:t>Live, context-aware answer generated by the RAG pipeline</a:t>
            </a:r>
            <a:endParaRPr lang="en-US" sz="1100" dirty="0"/>
          </a:p>
        </p:txBody>
      </p:sp>
      <p:sp>
        <p:nvSpPr>
          <p:cNvPr id="16" name="Shape 14"/>
          <p:cNvSpPr/>
          <p:nvPr/>
        </p:nvSpPr>
        <p:spPr>
          <a:xfrm>
            <a:off x="548640" y="4114800"/>
            <a:ext cx="5440680" cy="1965960"/>
          </a:xfrm>
          <a:prstGeom prst="roundRect">
            <a:avLst>
              <a:gd name="adj" fmla="val 4186"/>
            </a:avLst>
          </a:prstGeom>
          <a:solidFill>
            <a:srgbClr val="FFFFFF"/>
          </a:solidFill>
          <a:ln w="12700">
            <a:solidFill>
              <a:srgbClr val="E1DFD3"/>
            </a:solidFill>
            <a:prstDash val="solid"/>
          </a:ln>
        </p:spPr>
      </p:sp>
      <p:sp>
        <p:nvSpPr>
          <p:cNvPr id="17" name="Text 15"/>
          <p:cNvSpPr/>
          <p:nvPr/>
        </p:nvSpPr>
        <p:spPr>
          <a:xfrm>
            <a:off x="822960" y="4297680"/>
            <a:ext cx="4892040" cy="256032"/>
          </a:xfrm>
          <a:prstGeom prst="rect">
            <a:avLst/>
          </a:prstGeom>
          <a:noFill/>
          <a:ln/>
        </p:spPr>
        <p:txBody>
          <a:bodyPr wrap="square" rtlCol="0" anchor="ctr"/>
          <a:lstStyle/>
          <a:p>
            <a:pPr marL="0" indent="0">
              <a:buNone/>
            </a:pPr>
            <a:r>
              <a:rPr lang="en-US" sz="1000" b="1" kern="0" spc="150" dirty="0">
                <a:solidFill>
                  <a:srgbClr val="4C7A5E"/>
                </a:solidFill>
                <a:latin typeface="Calibri" pitchFamily="34" charset="0"/>
                <a:ea typeface="Calibri" pitchFamily="34" charset="-122"/>
                <a:cs typeface="Calibri" pitchFamily="34" charset="-120"/>
              </a:rPr>
              <a:t>QUESTION</a:t>
            </a:r>
            <a:endParaRPr lang="en-US" sz="1000" dirty="0"/>
          </a:p>
        </p:txBody>
      </p:sp>
      <p:sp>
        <p:nvSpPr>
          <p:cNvPr id="18" name="Text 16"/>
          <p:cNvSpPr/>
          <p:nvPr/>
        </p:nvSpPr>
        <p:spPr>
          <a:xfrm>
            <a:off x="822960" y="4572000"/>
            <a:ext cx="4892040" cy="502920"/>
          </a:xfrm>
          <a:prstGeom prst="rect">
            <a:avLst/>
          </a:prstGeom>
          <a:noFill/>
          <a:ln/>
        </p:spPr>
        <p:txBody>
          <a:bodyPr wrap="square" lIns="0" tIns="0" rIns="0" bIns="0" rtlCol="0" anchor="ctr"/>
          <a:lstStyle/>
          <a:p>
            <a:pPr marL="0" indent="0">
              <a:buNone/>
            </a:pPr>
            <a:r>
              <a:rPr lang="en-US" sz="1500" b="1" dirty="0">
                <a:solidFill>
                  <a:srgbClr val="18231F"/>
                </a:solidFill>
                <a:latin typeface="Cambria" pitchFamily="34" charset="0"/>
                <a:ea typeface="Cambria" pitchFamily="34" charset="-122"/>
                <a:cs typeface="Cambria" pitchFamily="34" charset="-120"/>
              </a:rPr>
              <a:t>How to control aphids?</a:t>
            </a:r>
            <a:endParaRPr lang="en-US" sz="1500" dirty="0"/>
          </a:p>
        </p:txBody>
      </p:sp>
      <p:sp>
        <p:nvSpPr>
          <p:cNvPr id="19" name="Shape 17"/>
          <p:cNvSpPr/>
          <p:nvPr/>
        </p:nvSpPr>
        <p:spPr>
          <a:xfrm>
            <a:off x="822960" y="5166360"/>
            <a:ext cx="4892040" cy="0"/>
          </a:xfrm>
          <a:prstGeom prst="line">
            <a:avLst/>
          </a:prstGeom>
          <a:noFill/>
          <a:ln w="12700">
            <a:solidFill>
              <a:srgbClr val="E1DFD3"/>
            </a:solidFill>
            <a:prstDash val="solid"/>
          </a:ln>
        </p:spPr>
      </p:sp>
      <p:sp>
        <p:nvSpPr>
          <p:cNvPr id="20" name="Text 18"/>
          <p:cNvSpPr/>
          <p:nvPr/>
        </p:nvSpPr>
        <p:spPr>
          <a:xfrm>
            <a:off x="822960" y="5285232"/>
            <a:ext cx="4892040" cy="256032"/>
          </a:xfrm>
          <a:prstGeom prst="rect">
            <a:avLst/>
          </a:prstGeom>
          <a:noFill/>
          <a:ln/>
        </p:spPr>
        <p:txBody>
          <a:bodyPr wrap="square" rtlCol="0" anchor="ctr"/>
          <a:lstStyle/>
          <a:p>
            <a:pPr marL="0" indent="0">
              <a:buNone/>
            </a:pPr>
            <a:r>
              <a:rPr lang="en-US" sz="1000" b="1" kern="0" spc="150" dirty="0">
                <a:solidFill>
                  <a:srgbClr val="4C7A5E"/>
                </a:solidFill>
                <a:latin typeface="Calibri" pitchFamily="34" charset="0"/>
                <a:ea typeface="Calibri" pitchFamily="34" charset="-122"/>
                <a:cs typeface="Calibri" pitchFamily="34" charset="-120"/>
              </a:rPr>
              <a:t>RESPONSE</a:t>
            </a:r>
            <a:endParaRPr lang="en-US" sz="1000" dirty="0"/>
          </a:p>
        </p:txBody>
      </p:sp>
      <p:sp>
        <p:nvSpPr>
          <p:cNvPr id="21" name="Text 19"/>
          <p:cNvSpPr/>
          <p:nvPr/>
        </p:nvSpPr>
        <p:spPr>
          <a:xfrm>
            <a:off x="822960" y="5559552"/>
            <a:ext cx="4892040" cy="457200"/>
          </a:xfrm>
          <a:prstGeom prst="rect">
            <a:avLst/>
          </a:prstGeom>
          <a:noFill/>
          <a:ln/>
        </p:spPr>
        <p:txBody>
          <a:bodyPr wrap="square" lIns="0" tIns="0" rIns="0" bIns="0" rtlCol="0" anchor="ctr"/>
          <a:lstStyle/>
          <a:p>
            <a:pPr marL="0" indent="0">
              <a:buNone/>
            </a:pPr>
            <a:r>
              <a:rPr lang="en-US" sz="1100" i="1" dirty="0">
                <a:solidFill>
                  <a:srgbClr val="55645C"/>
                </a:solidFill>
                <a:latin typeface="Calibri" pitchFamily="34" charset="0"/>
                <a:ea typeface="Calibri" pitchFamily="34" charset="-122"/>
                <a:cs typeface="Calibri" pitchFamily="34" charset="-120"/>
              </a:rPr>
              <a:t>Live, context-aware answer generated by the RAG pipeline</a:t>
            </a:r>
            <a:endParaRPr lang="en-US" sz="1100" dirty="0"/>
          </a:p>
        </p:txBody>
      </p:sp>
      <p:sp>
        <p:nvSpPr>
          <p:cNvPr id="22" name="Shape 20"/>
          <p:cNvSpPr/>
          <p:nvPr/>
        </p:nvSpPr>
        <p:spPr>
          <a:xfrm>
            <a:off x="6172200" y="4114800"/>
            <a:ext cx="5440680" cy="1965960"/>
          </a:xfrm>
          <a:prstGeom prst="roundRect">
            <a:avLst>
              <a:gd name="adj" fmla="val 4186"/>
            </a:avLst>
          </a:prstGeom>
          <a:solidFill>
            <a:srgbClr val="FFFFFF"/>
          </a:solidFill>
          <a:ln w="12700">
            <a:solidFill>
              <a:srgbClr val="E1DFD3"/>
            </a:solidFill>
            <a:prstDash val="solid"/>
          </a:ln>
        </p:spPr>
      </p:sp>
      <p:sp>
        <p:nvSpPr>
          <p:cNvPr id="23" name="Text 21"/>
          <p:cNvSpPr/>
          <p:nvPr/>
        </p:nvSpPr>
        <p:spPr>
          <a:xfrm>
            <a:off x="6446520" y="4297680"/>
            <a:ext cx="4892040" cy="256032"/>
          </a:xfrm>
          <a:prstGeom prst="rect">
            <a:avLst/>
          </a:prstGeom>
          <a:noFill/>
          <a:ln/>
        </p:spPr>
        <p:txBody>
          <a:bodyPr wrap="square" rtlCol="0" anchor="ctr"/>
          <a:lstStyle/>
          <a:p>
            <a:pPr marL="0" indent="0">
              <a:buNone/>
            </a:pPr>
            <a:r>
              <a:rPr lang="en-US" sz="1000" b="1" kern="0" spc="150" dirty="0">
                <a:solidFill>
                  <a:srgbClr val="4C7A5E"/>
                </a:solidFill>
                <a:latin typeface="Calibri" pitchFamily="34" charset="0"/>
                <a:ea typeface="Calibri" pitchFamily="34" charset="-122"/>
                <a:cs typeface="Calibri" pitchFamily="34" charset="-120"/>
              </a:rPr>
              <a:t>QUESTION</a:t>
            </a:r>
            <a:endParaRPr lang="en-US" sz="1000" dirty="0"/>
          </a:p>
        </p:txBody>
      </p:sp>
      <p:sp>
        <p:nvSpPr>
          <p:cNvPr id="24" name="Text 22"/>
          <p:cNvSpPr/>
          <p:nvPr/>
        </p:nvSpPr>
        <p:spPr>
          <a:xfrm>
            <a:off x="6446520" y="4572000"/>
            <a:ext cx="4892040" cy="502920"/>
          </a:xfrm>
          <a:prstGeom prst="rect">
            <a:avLst/>
          </a:prstGeom>
          <a:noFill/>
          <a:ln/>
        </p:spPr>
        <p:txBody>
          <a:bodyPr wrap="square" lIns="0" tIns="0" rIns="0" bIns="0" rtlCol="0" anchor="ctr"/>
          <a:lstStyle/>
          <a:p>
            <a:pPr marL="0" indent="0">
              <a:buNone/>
            </a:pPr>
            <a:r>
              <a:rPr lang="en-US" sz="1500" b="1" dirty="0">
                <a:solidFill>
                  <a:srgbClr val="18231F"/>
                </a:solidFill>
                <a:latin typeface="Cambria" pitchFamily="34" charset="0"/>
                <a:ea typeface="Cambria" pitchFamily="34" charset="-122"/>
                <a:cs typeface="Cambria" pitchFamily="34" charset="-120"/>
              </a:rPr>
              <a:t>Weather analysis for Chennai</a:t>
            </a:r>
            <a:endParaRPr lang="en-US" sz="1500" dirty="0"/>
          </a:p>
        </p:txBody>
      </p:sp>
      <p:sp>
        <p:nvSpPr>
          <p:cNvPr id="25" name="Shape 23"/>
          <p:cNvSpPr/>
          <p:nvPr/>
        </p:nvSpPr>
        <p:spPr>
          <a:xfrm>
            <a:off x="6446520" y="5166360"/>
            <a:ext cx="4892040" cy="0"/>
          </a:xfrm>
          <a:prstGeom prst="line">
            <a:avLst/>
          </a:prstGeom>
          <a:noFill/>
          <a:ln w="12700">
            <a:solidFill>
              <a:srgbClr val="E1DFD3"/>
            </a:solidFill>
            <a:prstDash val="solid"/>
          </a:ln>
        </p:spPr>
      </p:sp>
      <p:sp>
        <p:nvSpPr>
          <p:cNvPr id="26" name="Text 24"/>
          <p:cNvSpPr/>
          <p:nvPr/>
        </p:nvSpPr>
        <p:spPr>
          <a:xfrm>
            <a:off x="6446520" y="5285232"/>
            <a:ext cx="4892040" cy="256032"/>
          </a:xfrm>
          <a:prstGeom prst="rect">
            <a:avLst/>
          </a:prstGeom>
          <a:noFill/>
          <a:ln/>
        </p:spPr>
        <p:txBody>
          <a:bodyPr wrap="square" rtlCol="0" anchor="ctr"/>
          <a:lstStyle/>
          <a:p>
            <a:pPr marL="0" indent="0">
              <a:buNone/>
            </a:pPr>
            <a:r>
              <a:rPr lang="en-US" sz="1000" b="1" kern="0" spc="150" dirty="0">
                <a:solidFill>
                  <a:srgbClr val="4C7A5E"/>
                </a:solidFill>
                <a:latin typeface="Calibri" pitchFamily="34" charset="0"/>
                <a:ea typeface="Calibri" pitchFamily="34" charset="-122"/>
                <a:cs typeface="Calibri" pitchFamily="34" charset="-120"/>
              </a:rPr>
              <a:t>RESPONSE</a:t>
            </a:r>
            <a:endParaRPr lang="en-US" sz="1000" dirty="0"/>
          </a:p>
        </p:txBody>
      </p:sp>
      <p:sp>
        <p:nvSpPr>
          <p:cNvPr id="27" name="Text 25"/>
          <p:cNvSpPr/>
          <p:nvPr/>
        </p:nvSpPr>
        <p:spPr>
          <a:xfrm>
            <a:off x="6446520" y="5559552"/>
            <a:ext cx="4892040" cy="457200"/>
          </a:xfrm>
          <a:prstGeom prst="rect">
            <a:avLst/>
          </a:prstGeom>
          <a:noFill/>
          <a:ln/>
        </p:spPr>
        <p:txBody>
          <a:bodyPr wrap="square" lIns="0" tIns="0" rIns="0" bIns="0" rtlCol="0" anchor="ctr"/>
          <a:lstStyle/>
          <a:p>
            <a:pPr marL="0" indent="0">
              <a:buNone/>
            </a:pPr>
            <a:r>
              <a:rPr lang="en-US" sz="1100" i="1" dirty="0">
                <a:solidFill>
                  <a:srgbClr val="55645C"/>
                </a:solidFill>
                <a:latin typeface="Calibri" pitchFamily="34" charset="0"/>
                <a:ea typeface="Calibri" pitchFamily="34" charset="-122"/>
                <a:cs typeface="Calibri" pitchFamily="34" charset="-120"/>
              </a:rPr>
              <a:t>Live, context-aware answer generated by the RAG pipeline</a:t>
            </a:r>
            <a:endParaRPr lang="en-US" sz="1100" dirty="0"/>
          </a:p>
        </p:txBody>
      </p:sp>
      <p:sp>
        <p:nvSpPr>
          <p:cNvPr id="28" name="Text 26"/>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29" name="Text 27"/>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32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Evaluation</a:t>
            </a:r>
            <a:endParaRPr lang="en-US" sz="2800" dirty="0"/>
          </a:p>
        </p:txBody>
      </p:sp>
      <p:sp>
        <p:nvSpPr>
          <p:cNvPr id="4" name="Shape 2"/>
          <p:cNvSpPr/>
          <p:nvPr/>
        </p:nvSpPr>
        <p:spPr>
          <a:xfrm>
            <a:off x="548640" y="1965960"/>
            <a:ext cx="3566160" cy="914400"/>
          </a:xfrm>
          <a:prstGeom prst="roundRect">
            <a:avLst>
              <a:gd name="adj" fmla="val 8000"/>
            </a:avLst>
          </a:prstGeom>
          <a:solidFill>
            <a:srgbClr val="1E4738"/>
          </a:solidFill>
          <a:ln w="12700">
            <a:solidFill>
              <a:srgbClr val="2F5445"/>
            </a:solidFill>
            <a:prstDash val="solid"/>
          </a:ln>
        </p:spPr>
      </p:sp>
      <p:sp>
        <p:nvSpPr>
          <p:cNvPr id="5" name="Text 3"/>
          <p:cNvSpPr/>
          <p:nvPr/>
        </p:nvSpPr>
        <p:spPr>
          <a:xfrm>
            <a:off x="749808" y="2075688"/>
            <a:ext cx="3200400" cy="256032"/>
          </a:xfrm>
          <a:prstGeom prst="rect">
            <a:avLst/>
          </a:prstGeom>
          <a:noFill/>
          <a:ln/>
        </p:spPr>
        <p:txBody>
          <a:bodyPr wrap="square" rtlCol="0" anchor="ctr"/>
          <a:lstStyle/>
          <a:p>
            <a:pPr marL="0" indent="0">
              <a:buNone/>
            </a:pPr>
            <a:r>
              <a:rPr lang="en-US" sz="950" b="1" kern="0" spc="100" dirty="0">
                <a:solidFill>
                  <a:srgbClr val="B9C9BF"/>
                </a:solidFill>
                <a:latin typeface="Calibri" pitchFamily="34" charset="0"/>
                <a:ea typeface="Calibri" pitchFamily="34" charset="-122"/>
                <a:cs typeface="Calibri" pitchFamily="34" charset="-120"/>
              </a:rPr>
              <a:t>KNOWLEDGE CHUNKS</a:t>
            </a:r>
            <a:endParaRPr lang="en-US" sz="950" dirty="0"/>
          </a:p>
        </p:txBody>
      </p:sp>
      <p:sp>
        <p:nvSpPr>
          <p:cNvPr id="6" name="Text 4"/>
          <p:cNvSpPr/>
          <p:nvPr/>
        </p:nvSpPr>
        <p:spPr>
          <a:xfrm>
            <a:off x="749808" y="2350008"/>
            <a:ext cx="320040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2,329</a:t>
            </a:r>
            <a:endParaRPr lang="en-US" sz="1800" dirty="0"/>
          </a:p>
        </p:txBody>
      </p:sp>
      <p:sp>
        <p:nvSpPr>
          <p:cNvPr id="7" name="Shape 5"/>
          <p:cNvSpPr/>
          <p:nvPr/>
        </p:nvSpPr>
        <p:spPr>
          <a:xfrm>
            <a:off x="4297680" y="1965960"/>
            <a:ext cx="3566160" cy="914400"/>
          </a:xfrm>
          <a:prstGeom prst="roundRect">
            <a:avLst>
              <a:gd name="adj" fmla="val 8000"/>
            </a:avLst>
          </a:prstGeom>
          <a:solidFill>
            <a:srgbClr val="1E4738"/>
          </a:solidFill>
          <a:ln w="12700">
            <a:solidFill>
              <a:srgbClr val="2F5445"/>
            </a:solidFill>
            <a:prstDash val="solid"/>
          </a:ln>
        </p:spPr>
      </p:sp>
      <p:sp>
        <p:nvSpPr>
          <p:cNvPr id="8" name="Text 6"/>
          <p:cNvSpPr/>
          <p:nvPr/>
        </p:nvSpPr>
        <p:spPr>
          <a:xfrm>
            <a:off x="4498848" y="2075688"/>
            <a:ext cx="3200400" cy="256032"/>
          </a:xfrm>
          <a:prstGeom prst="rect">
            <a:avLst/>
          </a:prstGeom>
          <a:noFill/>
          <a:ln/>
        </p:spPr>
        <p:txBody>
          <a:bodyPr wrap="square" rtlCol="0" anchor="ctr"/>
          <a:lstStyle/>
          <a:p>
            <a:pPr marL="0" indent="0">
              <a:buNone/>
            </a:pPr>
            <a:r>
              <a:rPr lang="en-US" sz="950" b="1" kern="0" spc="100" dirty="0">
                <a:solidFill>
                  <a:srgbClr val="B9C9BF"/>
                </a:solidFill>
                <a:latin typeface="Calibri" pitchFamily="34" charset="0"/>
                <a:ea typeface="Calibri" pitchFamily="34" charset="-122"/>
                <a:cs typeface="Calibri" pitchFamily="34" charset="-120"/>
              </a:rPr>
              <a:t>CROP RECORDS</a:t>
            </a:r>
            <a:endParaRPr lang="en-US" sz="950" dirty="0"/>
          </a:p>
        </p:txBody>
      </p:sp>
      <p:sp>
        <p:nvSpPr>
          <p:cNvPr id="9" name="Text 7"/>
          <p:cNvSpPr/>
          <p:nvPr/>
        </p:nvSpPr>
        <p:spPr>
          <a:xfrm>
            <a:off x="4498848" y="2350008"/>
            <a:ext cx="320040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2,200</a:t>
            </a:r>
            <a:endParaRPr lang="en-US" sz="1800" dirty="0"/>
          </a:p>
        </p:txBody>
      </p:sp>
      <p:sp>
        <p:nvSpPr>
          <p:cNvPr id="10" name="Shape 8"/>
          <p:cNvSpPr/>
          <p:nvPr/>
        </p:nvSpPr>
        <p:spPr>
          <a:xfrm>
            <a:off x="8046720" y="1965960"/>
            <a:ext cx="3566160" cy="914400"/>
          </a:xfrm>
          <a:prstGeom prst="roundRect">
            <a:avLst>
              <a:gd name="adj" fmla="val 8000"/>
            </a:avLst>
          </a:prstGeom>
          <a:solidFill>
            <a:srgbClr val="1E4738"/>
          </a:solidFill>
          <a:ln w="12700">
            <a:solidFill>
              <a:srgbClr val="2F5445"/>
            </a:solidFill>
            <a:prstDash val="solid"/>
          </a:ln>
        </p:spPr>
      </p:sp>
      <p:sp>
        <p:nvSpPr>
          <p:cNvPr id="11" name="Text 9"/>
          <p:cNvSpPr/>
          <p:nvPr/>
        </p:nvSpPr>
        <p:spPr>
          <a:xfrm>
            <a:off x="8247888" y="2075688"/>
            <a:ext cx="3200400" cy="256032"/>
          </a:xfrm>
          <a:prstGeom prst="rect">
            <a:avLst/>
          </a:prstGeom>
          <a:noFill/>
          <a:ln/>
        </p:spPr>
        <p:txBody>
          <a:bodyPr wrap="square" rtlCol="0" anchor="ctr"/>
          <a:lstStyle/>
          <a:p>
            <a:pPr marL="0" indent="0">
              <a:buNone/>
            </a:pPr>
            <a:r>
              <a:rPr lang="en-US" sz="950" b="1" kern="0" spc="100" dirty="0">
                <a:solidFill>
                  <a:srgbClr val="B9C9BF"/>
                </a:solidFill>
                <a:latin typeface="Calibri" pitchFamily="34" charset="0"/>
                <a:ea typeface="Calibri" pitchFamily="34" charset="-122"/>
                <a:cs typeface="Calibri" pitchFamily="34" charset="-120"/>
              </a:rPr>
              <a:t>FERTILIZER RECORDS</a:t>
            </a:r>
            <a:endParaRPr lang="en-US" sz="950" dirty="0"/>
          </a:p>
        </p:txBody>
      </p:sp>
      <p:sp>
        <p:nvSpPr>
          <p:cNvPr id="12" name="Text 10"/>
          <p:cNvSpPr/>
          <p:nvPr/>
        </p:nvSpPr>
        <p:spPr>
          <a:xfrm>
            <a:off x="8247888" y="2350008"/>
            <a:ext cx="320040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99</a:t>
            </a:r>
            <a:endParaRPr lang="en-US" sz="1800" dirty="0"/>
          </a:p>
        </p:txBody>
      </p:sp>
      <p:sp>
        <p:nvSpPr>
          <p:cNvPr id="13" name="Shape 11"/>
          <p:cNvSpPr/>
          <p:nvPr/>
        </p:nvSpPr>
        <p:spPr>
          <a:xfrm>
            <a:off x="548640" y="3044952"/>
            <a:ext cx="3566160" cy="914400"/>
          </a:xfrm>
          <a:prstGeom prst="roundRect">
            <a:avLst>
              <a:gd name="adj" fmla="val 8000"/>
            </a:avLst>
          </a:prstGeom>
          <a:solidFill>
            <a:srgbClr val="1E4738"/>
          </a:solidFill>
          <a:ln w="12700">
            <a:solidFill>
              <a:srgbClr val="2F5445"/>
            </a:solidFill>
            <a:prstDash val="solid"/>
          </a:ln>
        </p:spPr>
      </p:sp>
      <p:sp>
        <p:nvSpPr>
          <p:cNvPr id="14" name="Text 12"/>
          <p:cNvSpPr/>
          <p:nvPr/>
        </p:nvSpPr>
        <p:spPr>
          <a:xfrm>
            <a:off x="749808" y="3154680"/>
            <a:ext cx="3200400" cy="256032"/>
          </a:xfrm>
          <a:prstGeom prst="rect">
            <a:avLst/>
          </a:prstGeom>
          <a:noFill/>
          <a:ln/>
        </p:spPr>
        <p:txBody>
          <a:bodyPr wrap="square" rtlCol="0" anchor="ctr"/>
          <a:lstStyle/>
          <a:p>
            <a:pPr marL="0" indent="0">
              <a:buNone/>
            </a:pPr>
            <a:r>
              <a:rPr lang="en-US" sz="950" b="1" kern="0" spc="100" dirty="0">
                <a:solidFill>
                  <a:srgbClr val="B9C9BF"/>
                </a:solidFill>
                <a:latin typeface="Calibri" pitchFamily="34" charset="0"/>
                <a:ea typeface="Calibri" pitchFamily="34" charset="-122"/>
                <a:cs typeface="Calibri" pitchFamily="34" charset="-120"/>
              </a:rPr>
              <a:t>RETRIEVAL METHOD</a:t>
            </a:r>
            <a:endParaRPr lang="en-US" sz="950" dirty="0"/>
          </a:p>
        </p:txBody>
      </p:sp>
      <p:sp>
        <p:nvSpPr>
          <p:cNvPr id="15" name="Text 13"/>
          <p:cNvSpPr/>
          <p:nvPr/>
        </p:nvSpPr>
        <p:spPr>
          <a:xfrm>
            <a:off x="749808" y="3429000"/>
            <a:ext cx="320040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TF-IDF</a:t>
            </a:r>
            <a:endParaRPr lang="en-US" sz="1800" dirty="0"/>
          </a:p>
        </p:txBody>
      </p:sp>
      <p:sp>
        <p:nvSpPr>
          <p:cNvPr id="16" name="Shape 14"/>
          <p:cNvSpPr/>
          <p:nvPr/>
        </p:nvSpPr>
        <p:spPr>
          <a:xfrm>
            <a:off x="4297680" y="3044952"/>
            <a:ext cx="3566160" cy="914400"/>
          </a:xfrm>
          <a:prstGeom prst="roundRect">
            <a:avLst>
              <a:gd name="adj" fmla="val 8000"/>
            </a:avLst>
          </a:prstGeom>
          <a:solidFill>
            <a:srgbClr val="1E4738"/>
          </a:solidFill>
          <a:ln w="12700">
            <a:solidFill>
              <a:srgbClr val="2F5445"/>
            </a:solidFill>
            <a:prstDash val="solid"/>
          </a:ln>
        </p:spPr>
      </p:sp>
      <p:sp>
        <p:nvSpPr>
          <p:cNvPr id="17" name="Text 15"/>
          <p:cNvSpPr/>
          <p:nvPr/>
        </p:nvSpPr>
        <p:spPr>
          <a:xfrm>
            <a:off x="4498848" y="3154680"/>
            <a:ext cx="3200400" cy="256032"/>
          </a:xfrm>
          <a:prstGeom prst="rect">
            <a:avLst/>
          </a:prstGeom>
          <a:noFill/>
          <a:ln/>
        </p:spPr>
        <p:txBody>
          <a:bodyPr wrap="square" rtlCol="0" anchor="ctr"/>
          <a:lstStyle/>
          <a:p>
            <a:pPr marL="0" indent="0">
              <a:buNone/>
            </a:pPr>
            <a:r>
              <a:rPr lang="en-US" sz="950" b="1" kern="0" spc="100" dirty="0">
                <a:solidFill>
                  <a:srgbClr val="B9C9BF"/>
                </a:solidFill>
                <a:latin typeface="Calibri" pitchFamily="34" charset="0"/>
                <a:ea typeface="Calibri" pitchFamily="34" charset="-122"/>
                <a:cs typeface="Calibri" pitchFamily="34" charset="-120"/>
              </a:rPr>
              <a:t>LLM</a:t>
            </a:r>
            <a:endParaRPr lang="en-US" sz="950" dirty="0"/>
          </a:p>
        </p:txBody>
      </p:sp>
      <p:sp>
        <p:nvSpPr>
          <p:cNvPr id="18" name="Text 16"/>
          <p:cNvSpPr/>
          <p:nvPr/>
        </p:nvSpPr>
        <p:spPr>
          <a:xfrm>
            <a:off x="4498848" y="3429000"/>
            <a:ext cx="320040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Gemini 2.5 Flash</a:t>
            </a:r>
            <a:endParaRPr lang="en-US" sz="1800" dirty="0"/>
          </a:p>
        </p:txBody>
      </p:sp>
      <p:sp>
        <p:nvSpPr>
          <p:cNvPr id="19" name="Shape 17"/>
          <p:cNvSpPr/>
          <p:nvPr/>
        </p:nvSpPr>
        <p:spPr>
          <a:xfrm>
            <a:off x="8046720" y="3044952"/>
            <a:ext cx="3566160" cy="914400"/>
          </a:xfrm>
          <a:prstGeom prst="roundRect">
            <a:avLst>
              <a:gd name="adj" fmla="val 8000"/>
            </a:avLst>
          </a:prstGeom>
          <a:solidFill>
            <a:srgbClr val="1E4738"/>
          </a:solidFill>
          <a:ln w="12700">
            <a:solidFill>
              <a:srgbClr val="2F5445"/>
            </a:solidFill>
            <a:prstDash val="solid"/>
          </a:ln>
        </p:spPr>
      </p:sp>
      <p:sp>
        <p:nvSpPr>
          <p:cNvPr id="20" name="Text 18"/>
          <p:cNvSpPr/>
          <p:nvPr/>
        </p:nvSpPr>
        <p:spPr>
          <a:xfrm>
            <a:off x="8247888" y="3154680"/>
            <a:ext cx="3200400" cy="256032"/>
          </a:xfrm>
          <a:prstGeom prst="rect">
            <a:avLst/>
          </a:prstGeom>
          <a:noFill/>
          <a:ln/>
        </p:spPr>
        <p:txBody>
          <a:bodyPr wrap="square" rtlCol="0" anchor="ctr"/>
          <a:lstStyle/>
          <a:p>
            <a:pPr marL="0" indent="0">
              <a:buNone/>
            </a:pPr>
            <a:r>
              <a:rPr lang="en-US" sz="950" b="1" kern="0" spc="100" dirty="0">
                <a:solidFill>
                  <a:srgbClr val="B9C9BF"/>
                </a:solidFill>
                <a:latin typeface="Calibri" pitchFamily="34" charset="0"/>
                <a:ea typeface="Calibri" pitchFamily="34" charset="-122"/>
                <a:cs typeface="Calibri" pitchFamily="34" charset="-120"/>
              </a:rPr>
              <a:t>BACKEND</a:t>
            </a:r>
            <a:endParaRPr lang="en-US" sz="950" dirty="0"/>
          </a:p>
        </p:txBody>
      </p:sp>
      <p:sp>
        <p:nvSpPr>
          <p:cNvPr id="21" name="Text 19"/>
          <p:cNvSpPr/>
          <p:nvPr/>
        </p:nvSpPr>
        <p:spPr>
          <a:xfrm>
            <a:off x="8247888" y="3429000"/>
            <a:ext cx="320040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FastAPI</a:t>
            </a:r>
            <a:endParaRPr lang="en-US" sz="1800" dirty="0"/>
          </a:p>
        </p:txBody>
      </p:sp>
      <p:sp>
        <p:nvSpPr>
          <p:cNvPr id="22" name="Shape 20"/>
          <p:cNvSpPr/>
          <p:nvPr/>
        </p:nvSpPr>
        <p:spPr>
          <a:xfrm>
            <a:off x="548640" y="4123944"/>
            <a:ext cx="3566160" cy="914400"/>
          </a:xfrm>
          <a:prstGeom prst="roundRect">
            <a:avLst>
              <a:gd name="adj" fmla="val 8000"/>
            </a:avLst>
          </a:prstGeom>
          <a:solidFill>
            <a:srgbClr val="1E4738"/>
          </a:solidFill>
          <a:ln w="12700">
            <a:solidFill>
              <a:srgbClr val="2F5445"/>
            </a:solidFill>
            <a:prstDash val="solid"/>
          </a:ln>
        </p:spPr>
      </p:sp>
      <p:sp>
        <p:nvSpPr>
          <p:cNvPr id="23" name="Text 21"/>
          <p:cNvSpPr/>
          <p:nvPr/>
        </p:nvSpPr>
        <p:spPr>
          <a:xfrm>
            <a:off x="749808" y="4233672"/>
            <a:ext cx="3200400" cy="256032"/>
          </a:xfrm>
          <a:prstGeom prst="rect">
            <a:avLst/>
          </a:prstGeom>
          <a:noFill/>
          <a:ln/>
        </p:spPr>
        <p:txBody>
          <a:bodyPr wrap="square" rtlCol="0" anchor="ctr"/>
          <a:lstStyle/>
          <a:p>
            <a:pPr marL="0" indent="0">
              <a:buNone/>
            </a:pPr>
            <a:r>
              <a:rPr lang="en-US" sz="950" b="1" kern="0" spc="100" dirty="0">
                <a:solidFill>
                  <a:srgbClr val="B9C9BF"/>
                </a:solidFill>
                <a:latin typeface="Calibri" pitchFamily="34" charset="0"/>
                <a:ea typeface="Calibri" pitchFamily="34" charset="-122"/>
                <a:cs typeface="Calibri" pitchFamily="34" charset="-120"/>
              </a:rPr>
              <a:t>FRONTEND</a:t>
            </a:r>
            <a:endParaRPr lang="en-US" sz="950" dirty="0"/>
          </a:p>
        </p:txBody>
      </p:sp>
      <p:sp>
        <p:nvSpPr>
          <p:cNvPr id="24" name="Text 22"/>
          <p:cNvSpPr/>
          <p:nvPr/>
        </p:nvSpPr>
        <p:spPr>
          <a:xfrm>
            <a:off x="749808" y="4507992"/>
            <a:ext cx="320040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React</a:t>
            </a:r>
            <a:endParaRPr lang="en-US" sz="1800" dirty="0"/>
          </a:p>
        </p:txBody>
      </p:sp>
      <p:sp>
        <p:nvSpPr>
          <p:cNvPr id="25" name="Shape 23"/>
          <p:cNvSpPr/>
          <p:nvPr/>
        </p:nvSpPr>
        <p:spPr>
          <a:xfrm>
            <a:off x="4297680" y="4123944"/>
            <a:ext cx="3566160" cy="914400"/>
          </a:xfrm>
          <a:prstGeom prst="roundRect">
            <a:avLst>
              <a:gd name="adj" fmla="val 8000"/>
            </a:avLst>
          </a:prstGeom>
          <a:solidFill>
            <a:srgbClr val="1E4738"/>
          </a:solidFill>
          <a:ln w="12700">
            <a:solidFill>
              <a:srgbClr val="2F5445"/>
            </a:solidFill>
            <a:prstDash val="solid"/>
          </a:ln>
        </p:spPr>
      </p:sp>
      <p:sp>
        <p:nvSpPr>
          <p:cNvPr id="26" name="Text 24"/>
          <p:cNvSpPr/>
          <p:nvPr/>
        </p:nvSpPr>
        <p:spPr>
          <a:xfrm>
            <a:off x="4498848" y="4233672"/>
            <a:ext cx="3200400" cy="256032"/>
          </a:xfrm>
          <a:prstGeom prst="rect">
            <a:avLst/>
          </a:prstGeom>
          <a:noFill/>
          <a:ln/>
        </p:spPr>
        <p:txBody>
          <a:bodyPr wrap="square" rtlCol="0" anchor="ctr"/>
          <a:lstStyle/>
          <a:p>
            <a:pPr marL="0" indent="0">
              <a:buNone/>
            </a:pPr>
            <a:r>
              <a:rPr lang="en-US" sz="950" b="1" kern="0" spc="100" dirty="0">
                <a:solidFill>
                  <a:srgbClr val="B9C9BF"/>
                </a:solidFill>
                <a:latin typeface="Calibri" pitchFamily="34" charset="0"/>
                <a:ea typeface="Calibri" pitchFamily="34" charset="-122"/>
                <a:cs typeface="Calibri" pitchFamily="34" charset="-120"/>
              </a:rPr>
              <a:t>AVG. RESPONSE TIME</a:t>
            </a:r>
            <a:endParaRPr lang="en-US" sz="950" dirty="0"/>
          </a:p>
        </p:txBody>
      </p:sp>
      <p:sp>
        <p:nvSpPr>
          <p:cNvPr id="27" name="Text 25"/>
          <p:cNvSpPr/>
          <p:nvPr/>
        </p:nvSpPr>
        <p:spPr>
          <a:xfrm>
            <a:off x="4498848" y="4507992"/>
            <a:ext cx="320040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~7 sec</a:t>
            </a:r>
            <a:endParaRPr lang="en-US" sz="1800" dirty="0"/>
          </a:p>
        </p:txBody>
      </p:sp>
      <p:sp>
        <p:nvSpPr>
          <p:cNvPr id="28" name="Shape 26"/>
          <p:cNvSpPr/>
          <p:nvPr/>
        </p:nvSpPr>
        <p:spPr>
          <a:xfrm>
            <a:off x="8046720" y="4123944"/>
            <a:ext cx="3566160" cy="914400"/>
          </a:xfrm>
          <a:prstGeom prst="roundRect">
            <a:avLst>
              <a:gd name="adj" fmla="val 8000"/>
            </a:avLst>
          </a:prstGeom>
          <a:solidFill>
            <a:srgbClr val="1E4738"/>
          </a:solidFill>
          <a:ln w="12700">
            <a:solidFill>
              <a:srgbClr val="2F5445"/>
            </a:solidFill>
            <a:prstDash val="solid"/>
          </a:ln>
        </p:spPr>
      </p:sp>
      <p:sp>
        <p:nvSpPr>
          <p:cNvPr id="29" name="Text 27"/>
          <p:cNvSpPr/>
          <p:nvPr/>
        </p:nvSpPr>
        <p:spPr>
          <a:xfrm>
            <a:off x="8247888" y="4233672"/>
            <a:ext cx="3200400" cy="256032"/>
          </a:xfrm>
          <a:prstGeom prst="rect">
            <a:avLst/>
          </a:prstGeom>
          <a:noFill/>
          <a:ln/>
        </p:spPr>
        <p:txBody>
          <a:bodyPr wrap="square" rtlCol="0" anchor="ctr"/>
          <a:lstStyle/>
          <a:p>
            <a:pPr marL="0" indent="0">
              <a:buNone/>
            </a:pPr>
            <a:r>
              <a:rPr lang="en-US" sz="950" b="1" kern="0" spc="100" dirty="0">
                <a:solidFill>
                  <a:srgbClr val="B9C9BF"/>
                </a:solidFill>
                <a:latin typeface="Calibri" pitchFamily="34" charset="0"/>
                <a:ea typeface="Calibri" pitchFamily="34" charset="-122"/>
                <a:cs typeface="Calibri" pitchFamily="34" charset="-120"/>
              </a:rPr>
              <a:t>API STATUS</a:t>
            </a:r>
            <a:endParaRPr lang="en-US" sz="950" dirty="0"/>
          </a:p>
        </p:txBody>
      </p:sp>
      <p:sp>
        <p:nvSpPr>
          <p:cNvPr id="30" name="Text 28"/>
          <p:cNvSpPr/>
          <p:nvPr/>
        </p:nvSpPr>
        <p:spPr>
          <a:xfrm>
            <a:off x="8247888" y="4507992"/>
            <a:ext cx="320040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Working</a:t>
            </a:r>
            <a:endParaRPr lang="en-US" sz="1800" dirty="0"/>
          </a:p>
        </p:txBody>
      </p:sp>
      <p:sp>
        <p:nvSpPr>
          <p:cNvPr id="31" name="Text 29"/>
          <p:cNvSpPr/>
          <p:nvPr/>
        </p:nvSpPr>
        <p:spPr>
          <a:xfrm>
            <a:off x="548640" y="5257800"/>
            <a:ext cx="5486400" cy="274320"/>
          </a:xfrm>
          <a:prstGeom prst="rect">
            <a:avLst/>
          </a:prstGeom>
          <a:noFill/>
          <a:ln/>
        </p:spPr>
        <p:txBody>
          <a:bodyPr wrap="square" rtlCol="0" anchor="ctr"/>
          <a:lstStyle/>
          <a:p>
            <a:pPr marL="0" indent="0">
              <a:buNone/>
            </a:pPr>
            <a:r>
              <a:rPr lang="en-US" sz="1100" b="1" kern="0" spc="150" dirty="0">
                <a:solidFill>
                  <a:srgbClr val="D9A441"/>
                </a:solidFill>
                <a:latin typeface="Calibri" pitchFamily="34" charset="0"/>
                <a:ea typeface="Calibri" pitchFamily="34" charset="-122"/>
                <a:cs typeface="Calibri" pitchFamily="34" charset="-120"/>
              </a:rPr>
              <a:t>ALSO DEVELOPED</a:t>
            </a:r>
            <a:endParaRPr lang="en-US" sz="1100" dirty="0"/>
          </a:p>
        </p:txBody>
      </p:sp>
      <p:sp>
        <p:nvSpPr>
          <p:cNvPr id="32" name="Shape 30"/>
          <p:cNvSpPr/>
          <p:nvPr/>
        </p:nvSpPr>
        <p:spPr>
          <a:xfrm>
            <a:off x="548640" y="5577840"/>
            <a:ext cx="1888236" cy="457200"/>
          </a:xfrm>
          <a:prstGeom prst="roundRect">
            <a:avLst>
              <a:gd name="adj" fmla="val 50000"/>
            </a:avLst>
          </a:prstGeom>
          <a:solidFill>
            <a:srgbClr val="D9A441"/>
          </a:solidFill>
          <a:ln/>
        </p:spPr>
      </p:sp>
      <p:sp>
        <p:nvSpPr>
          <p:cNvPr id="33" name="Text 31"/>
          <p:cNvSpPr/>
          <p:nvPr/>
        </p:nvSpPr>
        <p:spPr>
          <a:xfrm>
            <a:off x="548640" y="5577840"/>
            <a:ext cx="1888236" cy="457200"/>
          </a:xfrm>
          <a:prstGeom prst="rect">
            <a:avLst/>
          </a:prstGeom>
          <a:noFill/>
          <a:ln/>
        </p:spPr>
        <p:txBody>
          <a:bodyPr wrap="square" lIns="0" tIns="0" rIns="0" bIns="0" rtlCol="0" anchor="ctr"/>
          <a:lstStyle/>
          <a:p>
            <a:pPr marL="0" indent="0" algn="ctr">
              <a:buNone/>
            </a:pPr>
            <a:r>
              <a:rPr lang="en-US" sz="1150" b="1" dirty="0">
                <a:solidFill>
                  <a:srgbClr val="13322A"/>
                </a:solidFill>
                <a:latin typeface="Calibri" pitchFamily="34" charset="0"/>
                <a:ea typeface="Calibri" pitchFamily="34" charset="-122"/>
                <a:cs typeface="Calibri" pitchFamily="34" charset="-120"/>
              </a:rPr>
              <a:t>RAG Evaluator</a:t>
            </a:r>
            <a:endParaRPr lang="en-US" sz="1150" dirty="0"/>
          </a:p>
        </p:txBody>
      </p:sp>
      <p:sp>
        <p:nvSpPr>
          <p:cNvPr id="34" name="Shape 32"/>
          <p:cNvSpPr/>
          <p:nvPr/>
        </p:nvSpPr>
        <p:spPr>
          <a:xfrm>
            <a:off x="2619756" y="5577840"/>
            <a:ext cx="1888236" cy="457200"/>
          </a:xfrm>
          <a:prstGeom prst="roundRect">
            <a:avLst>
              <a:gd name="adj" fmla="val 50000"/>
            </a:avLst>
          </a:prstGeom>
          <a:solidFill>
            <a:srgbClr val="D9A441"/>
          </a:solidFill>
          <a:ln/>
        </p:spPr>
      </p:sp>
      <p:sp>
        <p:nvSpPr>
          <p:cNvPr id="35" name="Text 33"/>
          <p:cNvSpPr/>
          <p:nvPr/>
        </p:nvSpPr>
        <p:spPr>
          <a:xfrm>
            <a:off x="2619756" y="5577840"/>
            <a:ext cx="1888236" cy="457200"/>
          </a:xfrm>
          <a:prstGeom prst="rect">
            <a:avLst/>
          </a:prstGeom>
          <a:noFill/>
          <a:ln/>
        </p:spPr>
        <p:txBody>
          <a:bodyPr wrap="square" lIns="0" tIns="0" rIns="0" bIns="0" rtlCol="0" anchor="ctr"/>
          <a:lstStyle/>
          <a:p>
            <a:pPr marL="0" indent="0" algn="ctr">
              <a:buNone/>
            </a:pPr>
            <a:r>
              <a:rPr lang="en-US" sz="1150" b="1" dirty="0">
                <a:solidFill>
                  <a:srgbClr val="13322A"/>
                </a:solidFill>
                <a:latin typeface="Calibri" pitchFamily="34" charset="0"/>
                <a:ea typeface="Calibri" pitchFamily="34" charset="-122"/>
                <a:cs typeface="Calibri" pitchFamily="34" charset="-120"/>
              </a:rPr>
              <a:t>LLM Evaluator</a:t>
            </a:r>
            <a:endParaRPr lang="en-US" sz="1150" dirty="0"/>
          </a:p>
        </p:txBody>
      </p:sp>
      <p:sp>
        <p:nvSpPr>
          <p:cNvPr id="36" name="Shape 34"/>
          <p:cNvSpPr/>
          <p:nvPr/>
        </p:nvSpPr>
        <p:spPr>
          <a:xfrm>
            <a:off x="4690872" y="5577840"/>
            <a:ext cx="3232404" cy="457200"/>
          </a:xfrm>
          <a:prstGeom prst="roundRect">
            <a:avLst>
              <a:gd name="adj" fmla="val 50000"/>
            </a:avLst>
          </a:prstGeom>
          <a:solidFill>
            <a:srgbClr val="D9A441"/>
          </a:solidFill>
          <a:ln/>
        </p:spPr>
      </p:sp>
      <p:sp>
        <p:nvSpPr>
          <p:cNvPr id="37" name="Text 35"/>
          <p:cNvSpPr/>
          <p:nvPr/>
        </p:nvSpPr>
        <p:spPr>
          <a:xfrm>
            <a:off x="4690872" y="5577840"/>
            <a:ext cx="3232404" cy="457200"/>
          </a:xfrm>
          <a:prstGeom prst="rect">
            <a:avLst/>
          </a:prstGeom>
          <a:noFill/>
          <a:ln/>
        </p:spPr>
        <p:txBody>
          <a:bodyPr wrap="square" lIns="0" tIns="0" rIns="0" bIns="0" rtlCol="0" anchor="ctr"/>
          <a:lstStyle/>
          <a:p>
            <a:pPr marL="0" indent="0" algn="ctr">
              <a:buNone/>
            </a:pPr>
            <a:r>
              <a:rPr lang="en-US" sz="1150" b="1" dirty="0">
                <a:solidFill>
                  <a:srgbClr val="13322A"/>
                </a:solidFill>
                <a:latin typeface="Calibri" pitchFamily="34" charset="0"/>
                <a:ea typeface="Calibri" pitchFamily="34" charset="-122"/>
                <a:cs typeface="Calibri" pitchFamily="34" charset="-120"/>
              </a:rPr>
              <a:t>Automated Evaluation Report</a:t>
            </a:r>
            <a:endParaRPr lang="en-US" sz="1150" dirty="0"/>
          </a:p>
        </p:txBody>
      </p:sp>
      <p:sp>
        <p:nvSpPr>
          <p:cNvPr id="38" name="Text 36"/>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B9C9BF"/>
                </a:solidFill>
                <a:latin typeface="Calibri" pitchFamily="34" charset="0"/>
                <a:ea typeface="Calibri" pitchFamily="34" charset="-122"/>
                <a:cs typeface="Calibri" pitchFamily="34" charset="-120"/>
              </a:rPr>
              <a:t>STELLAR AGRI AI</a:t>
            </a:r>
            <a:endParaRPr lang="en-US" sz="900" dirty="0"/>
          </a:p>
        </p:txBody>
      </p:sp>
      <p:sp>
        <p:nvSpPr>
          <p:cNvPr id="39" name="Text 37"/>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B9C9BF"/>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WHY IT WORKS</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Advantages</a:t>
            </a:r>
            <a:endParaRPr lang="en-US" sz="2800" dirty="0"/>
          </a:p>
        </p:txBody>
      </p:sp>
      <p:sp>
        <p:nvSpPr>
          <p:cNvPr id="4" name="Shape 2"/>
          <p:cNvSpPr/>
          <p:nvPr/>
        </p:nvSpPr>
        <p:spPr>
          <a:xfrm>
            <a:off x="548640" y="1965960"/>
            <a:ext cx="3566160" cy="1371600"/>
          </a:xfrm>
          <a:prstGeom prst="roundRect">
            <a:avLst>
              <a:gd name="adj" fmla="val 6000"/>
            </a:avLst>
          </a:prstGeom>
          <a:solidFill>
            <a:srgbClr val="FFFFFF"/>
          </a:solidFill>
          <a:ln w="12700">
            <a:solidFill>
              <a:srgbClr val="E1DFD3"/>
            </a:solidFill>
            <a:prstDash val="solid"/>
          </a:ln>
        </p:spPr>
      </p:sp>
      <p:sp>
        <p:nvSpPr>
          <p:cNvPr id="5" name="Shape 3"/>
          <p:cNvSpPr/>
          <p:nvPr/>
        </p:nvSpPr>
        <p:spPr>
          <a:xfrm>
            <a:off x="804672" y="2322576"/>
            <a:ext cx="658368" cy="658368"/>
          </a:xfrm>
          <a:prstGeom prst="ellipse">
            <a:avLst/>
          </a:prstGeom>
          <a:solidFill>
            <a:srgbClr val="13322A"/>
          </a:solidFill>
          <a:ln/>
        </p:spPr>
      </p:sp>
      <p:pic>
        <p:nvPicPr>
          <p:cNvPr id="6" name="Image 0" descr="/home/claude/work/icons/bullseye.png"/>
          <p:cNvPicPr>
            <a:picLocks noChangeAspect="1"/>
          </p:cNvPicPr>
          <p:nvPr/>
        </p:nvPicPr>
        <p:blipFill>
          <a:blip r:embed="rId3"/>
          <a:stretch>
            <a:fillRect/>
          </a:stretch>
        </p:blipFill>
        <p:spPr>
          <a:xfrm>
            <a:off x="896844" y="2414748"/>
            <a:ext cx="474025" cy="474025"/>
          </a:xfrm>
          <a:prstGeom prst="rect">
            <a:avLst/>
          </a:prstGeom>
        </p:spPr>
      </p:pic>
      <p:sp>
        <p:nvSpPr>
          <p:cNvPr id="7" name="Text 4"/>
          <p:cNvSpPr/>
          <p:nvPr/>
        </p:nvSpPr>
        <p:spPr>
          <a:xfrm>
            <a:off x="1600200" y="1965960"/>
            <a:ext cx="2286000" cy="1371600"/>
          </a:xfrm>
          <a:prstGeom prst="rect">
            <a:avLst/>
          </a:prstGeom>
          <a:noFill/>
          <a:ln/>
        </p:spPr>
        <p:txBody>
          <a:bodyPr wrap="square" lIns="0" tIns="0" rIns="0" bIns="0" rtlCol="0" anchor="ctr"/>
          <a:lstStyle/>
          <a:p>
            <a:pPr marL="0" indent="0">
              <a:lnSpc>
                <a:spcPct val="105000"/>
              </a:lnSpc>
              <a:buNone/>
            </a:pPr>
            <a:r>
              <a:rPr lang="en-US" sz="1350" b="1" dirty="0">
                <a:solidFill>
                  <a:srgbClr val="18231F"/>
                </a:solidFill>
                <a:latin typeface="Cambria" pitchFamily="34" charset="0"/>
                <a:ea typeface="Cambria" pitchFamily="34" charset="-122"/>
                <a:cs typeface="Cambria" pitchFamily="34" charset="-120"/>
              </a:rPr>
              <a:t>Accurate recommendations</a:t>
            </a:r>
            <a:endParaRPr lang="en-US" sz="1350" dirty="0"/>
          </a:p>
        </p:txBody>
      </p:sp>
      <p:sp>
        <p:nvSpPr>
          <p:cNvPr id="8" name="Shape 5"/>
          <p:cNvSpPr/>
          <p:nvPr/>
        </p:nvSpPr>
        <p:spPr>
          <a:xfrm>
            <a:off x="4297680" y="1965960"/>
            <a:ext cx="3566160" cy="1371600"/>
          </a:xfrm>
          <a:prstGeom prst="roundRect">
            <a:avLst>
              <a:gd name="adj" fmla="val 6000"/>
            </a:avLst>
          </a:prstGeom>
          <a:solidFill>
            <a:srgbClr val="FFFFFF"/>
          </a:solidFill>
          <a:ln w="12700">
            <a:solidFill>
              <a:srgbClr val="E1DFD3"/>
            </a:solidFill>
            <a:prstDash val="solid"/>
          </a:ln>
        </p:spPr>
      </p:sp>
      <p:sp>
        <p:nvSpPr>
          <p:cNvPr id="9" name="Shape 6"/>
          <p:cNvSpPr/>
          <p:nvPr/>
        </p:nvSpPr>
        <p:spPr>
          <a:xfrm>
            <a:off x="4553712" y="2322576"/>
            <a:ext cx="658368" cy="658368"/>
          </a:xfrm>
          <a:prstGeom prst="ellipse">
            <a:avLst/>
          </a:prstGeom>
          <a:solidFill>
            <a:srgbClr val="4C7A5E"/>
          </a:solidFill>
          <a:ln/>
        </p:spPr>
      </p:sp>
      <p:pic>
        <p:nvPicPr>
          <p:cNvPr id="10" name="Image 1" descr="/home/claude/work/icons/comments.png"/>
          <p:cNvPicPr>
            <a:picLocks noChangeAspect="1"/>
          </p:cNvPicPr>
          <p:nvPr/>
        </p:nvPicPr>
        <p:blipFill>
          <a:blip r:embed="rId4"/>
          <a:stretch>
            <a:fillRect/>
          </a:stretch>
        </p:blipFill>
        <p:spPr>
          <a:xfrm>
            <a:off x="4645884" y="2414748"/>
            <a:ext cx="474025" cy="474025"/>
          </a:xfrm>
          <a:prstGeom prst="rect">
            <a:avLst/>
          </a:prstGeom>
        </p:spPr>
      </p:pic>
      <p:sp>
        <p:nvSpPr>
          <p:cNvPr id="11" name="Text 7"/>
          <p:cNvSpPr/>
          <p:nvPr/>
        </p:nvSpPr>
        <p:spPr>
          <a:xfrm>
            <a:off x="5349240" y="1965960"/>
            <a:ext cx="2286000" cy="1371600"/>
          </a:xfrm>
          <a:prstGeom prst="rect">
            <a:avLst/>
          </a:prstGeom>
          <a:noFill/>
          <a:ln/>
        </p:spPr>
        <p:txBody>
          <a:bodyPr wrap="square" lIns="0" tIns="0" rIns="0" bIns="0" rtlCol="0" anchor="ctr"/>
          <a:lstStyle/>
          <a:p>
            <a:pPr marL="0" indent="0">
              <a:lnSpc>
                <a:spcPct val="105000"/>
              </a:lnSpc>
              <a:buNone/>
            </a:pPr>
            <a:r>
              <a:rPr lang="en-US" sz="1350" b="1" dirty="0">
                <a:solidFill>
                  <a:srgbClr val="18231F"/>
                </a:solidFill>
                <a:latin typeface="Cambria" pitchFamily="34" charset="0"/>
                <a:ea typeface="Cambria" pitchFamily="34" charset="-122"/>
                <a:cs typeface="Cambria" pitchFamily="34" charset="-120"/>
              </a:rPr>
              <a:t>Context-aware responses</a:t>
            </a:r>
            <a:endParaRPr lang="en-US" sz="1350" dirty="0"/>
          </a:p>
        </p:txBody>
      </p:sp>
      <p:sp>
        <p:nvSpPr>
          <p:cNvPr id="12" name="Shape 8"/>
          <p:cNvSpPr/>
          <p:nvPr/>
        </p:nvSpPr>
        <p:spPr>
          <a:xfrm>
            <a:off x="8046720" y="1965960"/>
            <a:ext cx="3566160" cy="1371600"/>
          </a:xfrm>
          <a:prstGeom prst="roundRect">
            <a:avLst>
              <a:gd name="adj" fmla="val 6000"/>
            </a:avLst>
          </a:prstGeom>
          <a:solidFill>
            <a:srgbClr val="FFFFFF"/>
          </a:solidFill>
          <a:ln w="12700">
            <a:solidFill>
              <a:srgbClr val="E1DFD3"/>
            </a:solidFill>
            <a:prstDash val="solid"/>
          </a:ln>
        </p:spPr>
      </p:sp>
      <p:sp>
        <p:nvSpPr>
          <p:cNvPr id="13" name="Shape 9"/>
          <p:cNvSpPr/>
          <p:nvPr/>
        </p:nvSpPr>
        <p:spPr>
          <a:xfrm>
            <a:off x="8302752" y="2322576"/>
            <a:ext cx="658368" cy="658368"/>
          </a:xfrm>
          <a:prstGeom prst="ellipse">
            <a:avLst/>
          </a:prstGeom>
          <a:solidFill>
            <a:srgbClr val="13322A"/>
          </a:solidFill>
          <a:ln/>
        </p:spPr>
      </p:sp>
      <p:pic>
        <p:nvPicPr>
          <p:cNvPr id="14" name="Image 2" descr="/home/claude/work/icons/gauge.png"/>
          <p:cNvPicPr>
            <a:picLocks noChangeAspect="1"/>
          </p:cNvPicPr>
          <p:nvPr/>
        </p:nvPicPr>
        <p:blipFill>
          <a:blip r:embed="rId5"/>
          <a:stretch>
            <a:fillRect/>
          </a:stretch>
        </p:blipFill>
        <p:spPr>
          <a:xfrm>
            <a:off x="8394924" y="2414748"/>
            <a:ext cx="474025" cy="474025"/>
          </a:xfrm>
          <a:prstGeom prst="rect">
            <a:avLst/>
          </a:prstGeom>
        </p:spPr>
      </p:pic>
      <p:sp>
        <p:nvSpPr>
          <p:cNvPr id="15" name="Text 10"/>
          <p:cNvSpPr/>
          <p:nvPr/>
        </p:nvSpPr>
        <p:spPr>
          <a:xfrm>
            <a:off x="9098280" y="1965960"/>
            <a:ext cx="2286000" cy="1371600"/>
          </a:xfrm>
          <a:prstGeom prst="rect">
            <a:avLst/>
          </a:prstGeom>
          <a:noFill/>
          <a:ln/>
        </p:spPr>
        <p:txBody>
          <a:bodyPr wrap="square" lIns="0" tIns="0" rIns="0" bIns="0" rtlCol="0" anchor="ctr"/>
          <a:lstStyle/>
          <a:p>
            <a:pPr marL="0" indent="0">
              <a:lnSpc>
                <a:spcPct val="105000"/>
              </a:lnSpc>
              <a:buNone/>
            </a:pPr>
            <a:r>
              <a:rPr lang="en-US" sz="1350" b="1" dirty="0">
                <a:solidFill>
                  <a:srgbClr val="18231F"/>
                </a:solidFill>
                <a:latin typeface="Cambria" pitchFamily="34" charset="0"/>
                <a:ea typeface="Cambria" pitchFamily="34" charset="-122"/>
                <a:cs typeface="Cambria" pitchFamily="34" charset="-120"/>
              </a:rPr>
              <a:t>Low computational cost</a:t>
            </a:r>
            <a:endParaRPr lang="en-US" sz="1350" dirty="0"/>
          </a:p>
        </p:txBody>
      </p:sp>
      <p:sp>
        <p:nvSpPr>
          <p:cNvPr id="16" name="Shape 11"/>
          <p:cNvSpPr/>
          <p:nvPr/>
        </p:nvSpPr>
        <p:spPr>
          <a:xfrm>
            <a:off x="548640" y="3520440"/>
            <a:ext cx="3566160" cy="1371600"/>
          </a:xfrm>
          <a:prstGeom prst="roundRect">
            <a:avLst>
              <a:gd name="adj" fmla="val 6000"/>
            </a:avLst>
          </a:prstGeom>
          <a:solidFill>
            <a:srgbClr val="FFFFFF"/>
          </a:solidFill>
          <a:ln w="12700">
            <a:solidFill>
              <a:srgbClr val="E1DFD3"/>
            </a:solidFill>
            <a:prstDash val="solid"/>
          </a:ln>
        </p:spPr>
      </p:sp>
      <p:sp>
        <p:nvSpPr>
          <p:cNvPr id="17" name="Shape 12"/>
          <p:cNvSpPr/>
          <p:nvPr/>
        </p:nvSpPr>
        <p:spPr>
          <a:xfrm>
            <a:off x="804672" y="3877056"/>
            <a:ext cx="658368" cy="658368"/>
          </a:xfrm>
          <a:prstGeom prst="ellipse">
            <a:avLst/>
          </a:prstGeom>
          <a:solidFill>
            <a:srgbClr val="4C7A5E"/>
          </a:solidFill>
          <a:ln/>
        </p:spPr>
      </p:sp>
      <p:pic>
        <p:nvPicPr>
          <p:cNvPr id="18" name="Image 3" descr="/home/claude/work/icons/puzzle.png"/>
          <p:cNvPicPr>
            <a:picLocks noChangeAspect="1"/>
          </p:cNvPicPr>
          <p:nvPr/>
        </p:nvPicPr>
        <p:blipFill>
          <a:blip r:embed="rId6"/>
          <a:stretch>
            <a:fillRect/>
          </a:stretch>
        </p:blipFill>
        <p:spPr>
          <a:xfrm>
            <a:off x="896844" y="3969228"/>
            <a:ext cx="474025" cy="474025"/>
          </a:xfrm>
          <a:prstGeom prst="rect">
            <a:avLst/>
          </a:prstGeom>
        </p:spPr>
      </p:pic>
      <p:sp>
        <p:nvSpPr>
          <p:cNvPr id="19" name="Text 13"/>
          <p:cNvSpPr/>
          <p:nvPr/>
        </p:nvSpPr>
        <p:spPr>
          <a:xfrm>
            <a:off x="1600200" y="3520440"/>
            <a:ext cx="2286000" cy="1371600"/>
          </a:xfrm>
          <a:prstGeom prst="rect">
            <a:avLst/>
          </a:prstGeom>
          <a:noFill/>
          <a:ln/>
        </p:spPr>
        <p:txBody>
          <a:bodyPr wrap="square" lIns="0" tIns="0" rIns="0" bIns="0" rtlCol="0" anchor="ctr"/>
          <a:lstStyle/>
          <a:p>
            <a:pPr marL="0" indent="0">
              <a:lnSpc>
                <a:spcPct val="105000"/>
              </a:lnSpc>
              <a:buNone/>
            </a:pPr>
            <a:r>
              <a:rPr lang="en-US" sz="1350" b="1" dirty="0">
                <a:solidFill>
                  <a:srgbClr val="18231F"/>
                </a:solidFill>
                <a:latin typeface="Cambria" pitchFamily="34" charset="0"/>
                <a:ea typeface="Cambria" pitchFamily="34" charset="-122"/>
                <a:cs typeface="Cambria" pitchFamily="34" charset="-120"/>
              </a:rPr>
              <a:t>Modular architecture</a:t>
            </a:r>
            <a:endParaRPr lang="en-US" sz="1350" dirty="0"/>
          </a:p>
        </p:txBody>
      </p:sp>
      <p:sp>
        <p:nvSpPr>
          <p:cNvPr id="20" name="Shape 14"/>
          <p:cNvSpPr/>
          <p:nvPr/>
        </p:nvSpPr>
        <p:spPr>
          <a:xfrm>
            <a:off x="4297680" y="3520440"/>
            <a:ext cx="3566160" cy="1371600"/>
          </a:xfrm>
          <a:prstGeom prst="roundRect">
            <a:avLst>
              <a:gd name="adj" fmla="val 6000"/>
            </a:avLst>
          </a:prstGeom>
          <a:solidFill>
            <a:srgbClr val="FFFFFF"/>
          </a:solidFill>
          <a:ln w="12700">
            <a:solidFill>
              <a:srgbClr val="E1DFD3"/>
            </a:solidFill>
            <a:prstDash val="solid"/>
          </a:ln>
        </p:spPr>
      </p:sp>
      <p:sp>
        <p:nvSpPr>
          <p:cNvPr id="21" name="Shape 15"/>
          <p:cNvSpPr/>
          <p:nvPr/>
        </p:nvSpPr>
        <p:spPr>
          <a:xfrm>
            <a:off x="4553712" y="3877056"/>
            <a:ext cx="658368" cy="658368"/>
          </a:xfrm>
          <a:prstGeom prst="ellipse">
            <a:avLst/>
          </a:prstGeom>
          <a:solidFill>
            <a:srgbClr val="13322A"/>
          </a:solidFill>
          <a:ln/>
        </p:spPr>
      </p:sp>
      <p:pic>
        <p:nvPicPr>
          <p:cNvPr id="22" name="Image 4" descr="/home/claude/work/icons/expand.png"/>
          <p:cNvPicPr>
            <a:picLocks noChangeAspect="1"/>
          </p:cNvPicPr>
          <p:nvPr/>
        </p:nvPicPr>
        <p:blipFill>
          <a:blip r:embed="rId7"/>
          <a:stretch>
            <a:fillRect/>
          </a:stretch>
        </p:blipFill>
        <p:spPr>
          <a:xfrm>
            <a:off x="4645884" y="3969228"/>
            <a:ext cx="474025" cy="474025"/>
          </a:xfrm>
          <a:prstGeom prst="rect">
            <a:avLst/>
          </a:prstGeom>
        </p:spPr>
      </p:pic>
      <p:sp>
        <p:nvSpPr>
          <p:cNvPr id="23" name="Text 16"/>
          <p:cNvSpPr/>
          <p:nvPr/>
        </p:nvSpPr>
        <p:spPr>
          <a:xfrm>
            <a:off x="5349240" y="3520440"/>
            <a:ext cx="2286000" cy="1371600"/>
          </a:xfrm>
          <a:prstGeom prst="rect">
            <a:avLst/>
          </a:prstGeom>
          <a:noFill/>
          <a:ln/>
        </p:spPr>
        <p:txBody>
          <a:bodyPr wrap="square" lIns="0" tIns="0" rIns="0" bIns="0" rtlCol="0" anchor="ctr"/>
          <a:lstStyle/>
          <a:p>
            <a:pPr marL="0" indent="0">
              <a:lnSpc>
                <a:spcPct val="105000"/>
              </a:lnSpc>
              <a:buNone/>
            </a:pPr>
            <a:r>
              <a:rPr lang="en-US" sz="1350" b="1" dirty="0">
                <a:solidFill>
                  <a:srgbClr val="18231F"/>
                </a:solidFill>
                <a:latin typeface="Cambria" pitchFamily="34" charset="0"/>
                <a:ea typeface="Cambria" pitchFamily="34" charset="-122"/>
                <a:cs typeface="Cambria" pitchFamily="34" charset="-120"/>
              </a:rPr>
              <a:t>Easily scalable</a:t>
            </a:r>
            <a:endParaRPr lang="en-US" sz="1350" dirty="0"/>
          </a:p>
        </p:txBody>
      </p:sp>
      <p:sp>
        <p:nvSpPr>
          <p:cNvPr id="24" name="Shape 17"/>
          <p:cNvSpPr/>
          <p:nvPr/>
        </p:nvSpPr>
        <p:spPr>
          <a:xfrm>
            <a:off x="8046720" y="3520440"/>
            <a:ext cx="3566160" cy="1371600"/>
          </a:xfrm>
          <a:prstGeom prst="roundRect">
            <a:avLst>
              <a:gd name="adj" fmla="val 6000"/>
            </a:avLst>
          </a:prstGeom>
          <a:solidFill>
            <a:srgbClr val="FFFFFF"/>
          </a:solidFill>
          <a:ln w="12700">
            <a:solidFill>
              <a:srgbClr val="E1DFD3"/>
            </a:solidFill>
            <a:prstDash val="solid"/>
          </a:ln>
        </p:spPr>
      </p:sp>
      <p:sp>
        <p:nvSpPr>
          <p:cNvPr id="25" name="Shape 18"/>
          <p:cNvSpPr/>
          <p:nvPr/>
        </p:nvSpPr>
        <p:spPr>
          <a:xfrm>
            <a:off x="8302752" y="3877056"/>
            <a:ext cx="658368" cy="658368"/>
          </a:xfrm>
          <a:prstGeom prst="ellipse">
            <a:avLst/>
          </a:prstGeom>
          <a:solidFill>
            <a:srgbClr val="4C7A5E"/>
          </a:solidFill>
          <a:ln/>
        </p:spPr>
      </p:sp>
      <p:pic>
        <p:nvPicPr>
          <p:cNvPr id="26" name="Image 5" descr="/home/claude/work/icons/rag.png"/>
          <p:cNvPicPr>
            <a:picLocks noChangeAspect="1"/>
          </p:cNvPicPr>
          <p:nvPr/>
        </p:nvPicPr>
        <p:blipFill>
          <a:blip r:embed="rId8"/>
          <a:stretch>
            <a:fillRect/>
          </a:stretch>
        </p:blipFill>
        <p:spPr>
          <a:xfrm>
            <a:off x="8394924" y="3969228"/>
            <a:ext cx="474025" cy="474025"/>
          </a:xfrm>
          <a:prstGeom prst="rect">
            <a:avLst/>
          </a:prstGeom>
        </p:spPr>
      </p:pic>
      <p:sp>
        <p:nvSpPr>
          <p:cNvPr id="27" name="Text 19"/>
          <p:cNvSpPr/>
          <p:nvPr/>
        </p:nvSpPr>
        <p:spPr>
          <a:xfrm>
            <a:off x="9098280" y="3520440"/>
            <a:ext cx="2286000" cy="1371600"/>
          </a:xfrm>
          <a:prstGeom prst="rect">
            <a:avLst/>
          </a:prstGeom>
          <a:noFill/>
          <a:ln/>
        </p:spPr>
        <p:txBody>
          <a:bodyPr wrap="square" lIns="0" tIns="0" rIns="0" bIns="0" rtlCol="0" anchor="ctr"/>
          <a:lstStyle/>
          <a:p>
            <a:pPr marL="0" indent="0">
              <a:lnSpc>
                <a:spcPct val="105000"/>
              </a:lnSpc>
              <a:buNone/>
            </a:pPr>
            <a:r>
              <a:rPr lang="en-US" sz="1350" b="1" dirty="0">
                <a:solidFill>
                  <a:srgbClr val="18231F"/>
                </a:solidFill>
                <a:latin typeface="Cambria" pitchFamily="34" charset="0"/>
                <a:ea typeface="Cambria" pitchFamily="34" charset="-122"/>
                <a:cs typeface="Cambria" pitchFamily="34" charset="-120"/>
              </a:rPr>
              <a:t>Multiple datasets</a:t>
            </a:r>
            <a:endParaRPr lang="en-US" sz="1350" dirty="0"/>
          </a:p>
        </p:txBody>
      </p:sp>
      <p:sp>
        <p:nvSpPr>
          <p:cNvPr id="28" name="Shape 20"/>
          <p:cNvSpPr/>
          <p:nvPr/>
        </p:nvSpPr>
        <p:spPr>
          <a:xfrm>
            <a:off x="548640" y="5074920"/>
            <a:ext cx="3566160" cy="1371600"/>
          </a:xfrm>
          <a:prstGeom prst="roundRect">
            <a:avLst>
              <a:gd name="adj" fmla="val 6000"/>
            </a:avLst>
          </a:prstGeom>
          <a:solidFill>
            <a:srgbClr val="FFFFFF"/>
          </a:solidFill>
          <a:ln w="12700">
            <a:solidFill>
              <a:srgbClr val="E1DFD3"/>
            </a:solidFill>
            <a:prstDash val="solid"/>
          </a:ln>
        </p:spPr>
      </p:sp>
      <p:sp>
        <p:nvSpPr>
          <p:cNvPr id="29" name="Shape 21"/>
          <p:cNvSpPr/>
          <p:nvPr/>
        </p:nvSpPr>
        <p:spPr>
          <a:xfrm>
            <a:off x="804672" y="5431536"/>
            <a:ext cx="658368" cy="658368"/>
          </a:xfrm>
          <a:prstGeom prst="ellipse">
            <a:avLst/>
          </a:prstGeom>
          <a:solidFill>
            <a:srgbClr val="13322A"/>
          </a:solidFill>
          <a:ln/>
        </p:spPr>
      </p:sp>
      <p:pic>
        <p:nvPicPr>
          <p:cNvPr id="30" name="Image 6" descr="/home/claude/work/icons/bolt.png"/>
          <p:cNvPicPr>
            <a:picLocks noChangeAspect="1"/>
          </p:cNvPicPr>
          <p:nvPr/>
        </p:nvPicPr>
        <p:blipFill>
          <a:blip r:embed="rId9"/>
          <a:stretch>
            <a:fillRect/>
          </a:stretch>
        </p:blipFill>
        <p:spPr>
          <a:xfrm>
            <a:off x="896844" y="5523708"/>
            <a:ext cx="474025" cy="474025"/>
          </a:xfrm>
          <a:prstGeom prst="rect">
            <a:avLst/>
          </a:prstGeom>
        </p:spPr>
      </p:pic>
      <p:sp>
        <p:nvSpPr>
          <p:cNvPr id="31" name="Text 22"/>
          <p:cNvSpPr/>
          <p:nvPr/>
        </p:nvSpPr>
        <p:spPr>
          <a:xfrm>
            <a:off x="1600200" y="5074920"/>
            <a:ext cx="2286000" cy="1371600"/>
          </a:xfrm>
          <a:prstGeom prst="rect">
            <a:avLst/>
          </a:prstGeom>
          <a:noFill/>
          <a:ln/>
        </p:spPr>
        <p:txBody>
          <a:bodyPr wrap="square" lIns="0" tIns="0" rIns="0" bIns="0" rtlCol="0" anchor="ctr"/>
          <a:lstStyle/>
          <a:p>
            <a:pPr marL="0" indent="0">
              <a:lnSpc>
                <a:spcPct val="105000"/>
              </a:lnSpc>
              <a:buNone/>
            </a:pPr>
            <a:r>
              <a:rPr lang="en-US" sz="1350" b="1" dirty="0">
                <a:solidFill>
                  <a:srgbClr val="18231F"/>
                </a:solidFill>
                <a:latin typeface="Cambria" pitchFamily="34" charset="0"/>
                <a:ea typeface="Cambria" pitchFamily="34" charset="-122"/>
                <a:cs typeface="Cambria" pitchFamily="34" charset="-120"/>
              </a:rPr>
              <a:t>Fast retrieval</a:t>
            </a:r>
            <a:endParaRPr lang="en-US" sz="1350" dirty="0"/>
          </a:p>
        </p:txBody>
      </p:sp>
      <p:sp>
        <p:nvSpPr>
          <p:cNvPr id="32" name="Shape 23"/>
          <p:cNvSpPr/>
          <p:nvPr/>
        </p:nvSpPr>
        <p:spPr>
          <a:xfrm>
            <a:off x="4297680" y="5074920"/>
            <a:ext cx="3566160" cy="1371600"/>
          </a:xfrm>
          <a:prstGeom prst="roundRect">
            <a:avLst>
              <a:gd name="adj" fmla="val 6000"/>
            </a:avLst>
          </a:prstGeom>
          <a:solidFill>
            <a:srgbClr val="FFFFFF"/>
          </a:solidFill>
          <a:ln w="12700">
            <a:solidFill>
              <a:srgbClr val="E1DFD3"/>
            </a:solidFill>
            <a:prstDash val="solid"/>
          </a:ln>
        </p:spPr>
      </p:sp>
      <p:sp>
        <p:nvSpPr>
          <p:cNvPr id="33" name="Shape 24"/>
          <p:cNvSpPr/>
          <p:nvPr/>
        </p:nvSpPr>
        <p:spPr>
          <a:xfrm>
            <a:off x="4553712" y="5431536"/>
            <a:ext cx="658368" cy="658368"/>
          </a:xfrm>
          <a:prstGeom prst="ellipse">
            <a:avLst/>
          </a:prstGeom>
          <a:solidFill>
            <a:srgbClr val="4C7A5E"/>
          </a:solidFill>
          <a:ln/>
        </p:spPr>
      </p:sp>
      <p:pic>
        <p:nvPicPr>
          <p:cNvPr id="34" name="Image 7" descr="/home/claude/work/icons/cloud_up.png"/>
          <p:cNvPicPr>
            <a:picLocks noChangeAspect="1"/>
          </p:cNvPicPr>
          <p:nvPr/>
        </p:nvPicPr>
        <p:blipFill>
          <a:blip r:embed="rId10"/>
          <a:stretch>
            <a:fillRect/>
          </a:stretch>
        </p:blipFill>
        <p:spPr>
          <a:xfrm>
            <a:off x="4645884" y="5523708"/>
            <a:ext cx="474025" cy="474025"/>
          </a:xfrm>
          <a:prstGeom prst="rect">
            <a:avLst/>
          </a:prstGeom>
        </p:spPr>
      </p:pic>
      <p:sp>
        <p:nvSpPr>
          <p:cNvPr id="35" name="Text 25"/>
          <p:cNvSpPr/>
          <p:nvPr/>
        </p:nvSpPr>
        <p:spPr>
          <a:xfrm>
            <a:off x="5349240" y="5074920"/>
            <a:ext cx="2286000" cy="1371600"/>
          </a:xfrm>
          <a:prstGeom prst="rect">
            <a:avLst/>
          </a:prstGeom>
          <a:noFill/>
          <a:ln/>
        </p:spPr>
        <p:txBody>
          <a:bodyPr wrap="square" lIns="0" tIns="0" rIns="0" bIns="0" rtlCol="0" anchor="ctr"/>
          <a:lstStyle/>
          <a:p>
            <a:pPr marL="0" indent="0">
              <a:lnSpc>
                <a:spcPct val="105000"/>
              </a:lnSpc>
              <a:buNone/>
            </a:pPr>
            <a:r>
              <a:rPr lang="en-US" sz="1350" b="1" dirty="0">
                <a:solidFill>
                  <a:srgbClr val="18231F"/>
                </a:solidFill>
                <a:latin typeface="Cambria" pitchFamily="34" charset="0"/>
                <a:ea typeface="Cambria" pitchFamily="34" charset="-122"/>
                <a:cs typeface="Cambria" pitchFamily="34" charset="-120"/>
              </a:rPr>
              <a:t>Easy deployment</a:t>
            </a:r>
            <a:endParaRPr lang="en-US" sz="1350" dirty="0"/>
          </a:p>
        </p:txBody>
      </p:sp>
      <p:sp>
        <p:nvSpPr>
          <p:cNvPr id="36" name="Shape 26"/>
          <p:cNvSpPr/>
          <p:nvPr/>
        </p:nvSpPr>
        <p:spPr>
          <a:xfrm>
            <a:off x="8046720" y="5074920"/>
            <a:ext cx="3566160" cy="1371600"/>
          </a:xfrm>
          <a:prstGeom prst="roundRect">
            <a:avLst>
              <a:gd name="adj" fmla="val 6000"/>
            </a:avLst>
          </a:prstGeom>
          <a:solidFill>
            <a:srgbClr val="FFFFFF"/>
          </a:solidFill>
          <a:ln w="12700">
            <a:solidFill>
              <a:srgbClr val="E1DFD3"/>
            </a:solidFill>
            <a:prstDash val="solid"/>
          </a:ln>
        </p:spPr>
      </p:sp>
      <p:sp>
        <p:nvSpPr>
          <p:cNvPr id="37" name="Shape 27"/>
          <p:cNvSpPr/>
          <p:nvPr/>
        </p:nvSpPr>
        <p:spPr>
          <a:xfrm>
            <a:off x="8302752" y="5431536"/>
            <a:ext cx="658368" cy="658368"/>
          </a:xfrm>
          <a:prstGeom prst="ellipse">
            <a:avLst/>
          </a:prstGeom>
          <a:solidFill>
            <a:srgbClr val="13322A"/>
          </a:solidFill>
          <a:ln/>
        </p:spPr>
      </p:sp>
      <p:pic>
        <p:nvPicPr>
          <p:cNvPr id="38" name="Image 8" descr="/home/claude/work/icons/users.png"/>
          <p:cNvPicPr>
            <a:picLocks noChangeAspect="1"/>
          </p:cNvPicPr>
          <p:nvPr/>
        </p:nvPicPr>
        <p:blipFill>
          <a:blip r:embed="rId11"/>
          <a:stretch>
            <a:fillRect/>
          </a:stretch>
        </p:blipFill>
        <p:spPr>
          <a:xfrm>
            <a:off x="8394924" y="5523708"/>
            <a:ext cx="474025" cy="474025"/>
          </a:xfrm>
          <a:prstGeom prst="rect">
            <a:avLst/>
          </a:prstGeom>
        </p:spPr>
      </p:pic>
      <p:sp>
        <p:nvSpPr>
          <p:cNvPr id="39" name="Text 28"/>
          <p:cNvSpPr/>
          <p:nvPr/>
        </p:nvSpPr>
        <p:spPr>
          <a:xfrm>
            <a:off x="9098280" y="5074920"/>
            <a:ext cx="2286000" cy="1371600"/>
          </a:xfrm>
          <a:prstGeom prst="rect">
            <a:avLst/>
          </a:prstGeom>
          <a:noFill/>
          <a:ln/>
        </p:spPr>
        <p:txBody>
          <a:bodyPr wrap="square" lIns="0" tIns="0" rIns="0" bIns="0" rtlCol="0" anchor="ctr"/>
          <a:lstStyle/>
          <a:p>
            <a:pPr marL="0" indent="0">
              <a:lnSpc>
                <a:spcPct val="105000"/>
              </a:lnSpc>
              <a:buNone/>
            </a:pPr>
            <a:r>
              <a:rPr lang="en-US" sz="1350" b="1" dirty="0">
                <a:solidFill>
                  <a:srgbClr val="18231F"/>
                </a:solidFill>
                <a:latin typeface="Cambria" pitchFamily="34" charset="0"/>
                <a:ea typeface="Cambria" pitchFamily="34" charset="-122"/>
                <a:cs typeface="Cambria" pitchFamily="34" charset="-120"/>
              </a:rPr>
              <a:t>Farmer-friendly interface</a:t>
            </a:r>
            <a:endParaRPr lang="en-US" sz="1350" dirty="0"/>
          </a:p>
        </p:txBody>
      </p:sp>
      <p:sp>
        <p:nvSpPr>
          <p:cNvPr id="40" name="Text 29"/>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41" name="Text 30"/>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322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WHAT'S NEXT</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Future scope</a:t>
            </a:r>
            <a:endParaRPr lang="en-US" sz="2800" dirty="0"/>
          </a:p>
        </p:txBody>
      </p:sp>
      <p:sp>
        <p:nvSpPr>
          <p:cNvPr id="4" name="Shape 2"/>
          <p:cNvSpPr/>
          <p:nvPr/>
        </p:nvSpPr>
        <p:spPr>
          <a:xfrm>
            <a:off x="548640" y="1965960"/>
            <a:ext cx="3520440" cy="960120"/>
          </a:xfrm>
          <a:prstGeom prst="roundRect">
            <a:avLst>
              <a:gd name="adj" fmla="val 7619"/>
            </a:avLst>
          </a:prstGeom>
          <a:solidFill>
            <a:srgbClr val="1E4738"/>
          </a:solidFill>
          <a:ln w="12700">
            <a:solidFill>
              <a:srgbClr val="2F5445"/>
            </a:solidFill>
            <a:prstDash val="solid"/>
          </a:ln>
        </p:spPr>
      </p:sp>
      <p:sp>
        <p:nvSpPr>
          <p:cNvPr id="5" name="Shape 3"/>
          <p:cNvSpPr/>
          <p:nvPr/>
        </p:nvSpPr>
        <p:spPr>
          <a:xfrm>
            <a:off x="731520" y="2208276"/>
            <a:ext cx="475488" cy="475488"/>
          </a:xfrm>
          <a:prstGeom prst="ellipse">
            <a:avLst/>
          </a:prstGeom>
          <a:solidFill>
            <a:srgbClr val="D9A441"/>
          </a:solidFill>
          <a:ln/>
        </p:spPr>
      </p:sp>
      <p:pic>
        <p:nvPicPr>
          <p:cNvPr id="6" name="Image 0" descr="/home/claude/work/icons/mic.png"/>
          <p:cNvPicPr>
            <a:picLocks noChangeAspect="1"/>
          </p:cNvPicPr>
          <p:nvPr/>
        </p:nvPicPr>
        <p:blipFill>
          <a:blip r:embed="rId3"/>
          <a:stretch>
            <a:fillRect/>
          </a:stretch>
        </p:blipFill>
        <p:spPr>
          <a:xfrm>
            <a:off x="798088" y="2274844"/>
            <a:ext cx="342351" cy="342351"/>
          </a:xfrm>
          <a:prstGeom prst="rect">
            <a:avLst/>
          </a:prstGeom>
        </p:spPr>
      </p:pic>
      <p:sp>
        <p:nvSpPr>
          <p:cNvPr id="7" name="Text 4"/>
          <p:cNvSpPr/>
          <p:nvPr/>
        </p:nvSpPr>
        <p:spPr>
          <a:xfrm>
            <a:off x="1325880" y="1965960"/>
            <a:ext cx="2606040" cy="960120"/>
          </a:xfrm>
          <a:prstGeom prst="rect">
            <a:avLst/>
          </a:prstGeom>
          <a:noFill/>
          <a:ln/>
        </p:spPr>
        <p:txBody>
          <a:bodyPr wrap="square" lIns="0" tIns="0" rIns="0" bIns="0" rtlCol="0" anchor="ctr"/>
          <a:lstStyle/>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Voice assistant in regional languages</a:t>
            </a:r>
            <a:endParaRPr lang="en-US" sz="1100" dirty="0"/>
          </a:p>
        </p:txBody>
      </p:sp>
      <p:sp>
        <p:nvSpPr>
          <p:cNvPr id="8" name="Shape 5"/>
          <p:cNvSpPr/>
          <p:nvPr/>
        </p:nvSpPr>
        <p:spPr>
          <a:xfrm>
            <a:off x="4251960" y="1965960"/>
            <a:ext cx="3520440" cy="960120"/>
          </a:xfrm>
          <a:prstGeom prst="roundRect">
            <a:avLst>
              <a:gd name="adj" fmla="val 7619"/>
            </a:avLst>
          </a:prstGeom>
          <a:solidFill>
            <a:srgbClr val="1E4738"/>
          </a:solidFill>
          <a:ln w="12700">
            <a:solidFill>
              <a:srgbClr val="2F5445"/>
            </a:solidFill>
            <a:prstDash val="solid"/>
          </a:ln>
        </p:spPr>
      </p:sp>
      <p:sp>
        <p:nvSpPr>
          <p:cNvPr id="9" name="Shape 6"/>
          <p:cNvSpPr/>
          <p:nvPr/>
        </p:nvSpPr>
        <p:spPr>
          <a:xfrm>
            <a:off x="4434840" y="2208276"/>
            <a:ext cx="475488" cy="475488"/>
          </a:xfrm>
          <a:prstGeom prst="ellipse">
            <a:avLst/>
          </a:prstGeom>
          <a:solidFill>
            <a:srgbClr val="D9A441"/>
          </a:solidFill>
          <a:ln/>
        </p:spPr>
      </p:sp>
      <p:pic>
        <p:nvPicPr>
          <p:cNvPr id="10" name="Image 1" descr="/home/claude/work/icons/image.png"/>
          <p:cNvPicPr>
            <a:picLocks noChangeAspect="1"/>
          </p:cNvPicPr>
          <p:nvPr/>
        </p:nvPicPr>
        <p:blipFill>
          <a:blip r:embed="rId4"/>
          <a:stretch>
            <a:fillRect/>
          </a:stretch>
        </p:blipFill>
        <p:spPr>
          <a:xfrm>
            <a:off x="4501408" y="2274844"/>
            <a:ext cx="342351" cy="342351"/>
          </a:xfrm>
          <a:prstGeom prst="rect">
            <a:avLst/>
          </a:prstGeom>
        </p:spPr>
      </p:pic>
      <p:sp>
        <p:nvSpPr>
          <p:cNvPr id="11" name="Text 7"/>
          <p:cNvSpPr/>
          <p:nvPr/>
        </p:nvSpPr>
        <p:spPr>
          <a:xfrm>
            <a:off x="5029200" y="1965960"/>
            <a:ext cx="2606040" cy="960120"/>
          </a:xfrm>
          <a:prstGeom prst="rect">
            <a:avLst/>
          </a:prstGeom>
          <a:noFill/>
          <a:ln/>
        </p:spPr>
        <p:txBody>
          <a:bodyPr wrap="square" lIns="0" tIns="0" rIns="0" bIns="0" rtlCol="0" anchor="ctr"/>
          <a:lstStyle/>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OCR for plant disease detection</a:t>
            </a:r>
            <a:endParaRPr lang="en-US" sz="1100" dirty="0"/>
          </a:p>
        </p:txBody>
      </p:sp>
      <p:sp>
        <p:nvSpPr>
          <p:cNvPr id="12" name="Shape 8"/>
          <p:cNvSpPr/>
          <p:nvPr/>
        </p:nvSpPr>
        <p:spPr>
          <a:xfrm>
            <a:off x="7955280" y="1965960"/>
            <a:ext cx="3520440" cy="960120"/>
          </a:xfrm>
          <a:prstGeom prst="roundRect">
            <a:avLst>
              <a:gd name="adj" fmla="val 7619"/>
            </a:avLst>
          </a:prstGeom>
          <a:solidFill>
            <a:srgbClr val="1E4738"/>
          </a:solidFill>
          <a:ln w="12700">
            <a:solidFill>
              <a:srgbClr val="2F5445"/>
            </a:solidFill>
            <a:prstDash val="solid"/>
          </a:ln>
        </p:spPr>
      </p:sp>
      <p:sp>
        <p:nvSpPr>
          <p:cNvPr id="13" name="Shape 9"/>
          <p:cNvSpPr/>
          <p:nvPr/>
        </p:nvSpPr>
        <p:spPr>
          <a:xfrm>
            <a:off x="8138160" y="2208276"/>
            <a:ext cx="475488" cy="475488"/>
          </a:xfrm>
          <a:prstGeom prst="ellipse">
            <a:avLst/>
          </a:prstGeom>
          <a:solidFill>
            <a:srgbClr val="D9A441"/>
          </a:solidFill>
          <a:ln/>
        </p:spPr>
      </p:sp>
      <p:pic>
        <p:nvPicPr>
          <p:cNvPr id="14" name="Image 2" descr="/home/claude/work/icons/camera.png"/>
          <p:cNvPicPr>
            <a:picLocks noChangeAspect="1"/>
          </p:cNvPicPr>
          <p:nvPr/>
        </p:nvPicPr>
        <p:blipFill>
          <a:blip r:embed="rId5"/>
          <a:stretch>
            <a:fillRect/>
          </a:stretch>
        </p:blipFill>
        <p:spPr>
          <a:xfrm>
            <a:off x="8204728" y="2274844"/>
            <a:ext cx="342351" cy="342351"/>
          </a:xfrm>
          <a:prstGeom prst="rect">
            <a:avLst/>
          </a:prstGeom>
        </p:spPr>
      </p:pic>
      <p:sp>
        <p:nvSpPr>
          <p:cNvPr id="15" name="Text 10"/>
          <p:cNvSpPr/>
          <p:nvPr/>
        </p:nvSpPr>
        <p:spPr>
          <a:xfrm>
            <a:off x="8732520" y="1965960"/>
            <a:ext cx="2606040" cy="960120"/>
          </a:xfrm>
          <a:prstGeom prst="rect">
            <a:avLst/>
          </a:prstGeom>
          <a:noFill/>
          <a:ln/>
        </p:spPr>
        <p:txBody>
          <a:bodyPr wrap="square" lIns="0" tIns="0" rIns="0" bIns="0" rtlCol="0" anchor="ctr"/>
          <a:lstStyle/>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Image-based diagnosis</a:t>
            </a:r>
            <a:endParaRPr lang="en-US" sz="1100" dirty="0"/>
          </a:p>
        </p:txBody>
      </p:sp>
      <p:sp>
        <p:nvSpPr>
          <p:cNvPr id="16" name="Shape 11"/>
          <p:cNvSpPr/>
          <p:nvPr/>
        </p:nvSpPr>
        <p:spPr>
          <a:xfrm>
            <a:off x="548640" y="3063240"/>
            <a:ext cx="3520440" cy="960120"/>
          </a:xfrm>
          <a:prstGeom prst="roundRect">
            <a:avLst>
              <a:gd name="adj" fmla="val 7619"/>
            </a:avLst>
          </a:prstGeom>
          <a:solidFill>
            <a:srgbClr val="1E4738"/>
          </a:solidFill>
          <a:ln w="12700">
            <a:solidFill>
              <a:srgbClr val="2F5445"/>
            </a:solidFill>
            <a:prstDash val="solid"/>
          </a:ln>
        </p:spPr>
      </p:sp>
      <p:sp>
        <p:nvSpPr>
          <p:cNvPr id="17" name="Shape 12"/>
          <p:cNvSpPr/>
          <p:nvPr/>
        </p:nvSpPr>
        <p:spPr>
          <a:xfrm>
            <a:off x="731520" y="3305556"/>
            <a:ext cx="475488" cy="475488"/>
          </a:xfrm>
          <a:prstGeom prst="ellipse">
            <a:avLst/>
          </a:prstGeom>
          <a:solidFill>
            <a:srgbClr val="D9A441"/>
          </a:solidFill>
          <a:ln/>
        </p:spPr>
      </p:sp>
      <p:pic>
        <p:nvPicPr>
          <p:cNvPr id="18" name="Image 3" descr="/home/claude/work/icons/helicopter.png"/>
          <p:cNvPicPr>
            <a:picLocks noChangeAspect="1"/>
          </p:cNvPicPr>
          <p:nvPr/>
        </p:nvPicPr>
        <p:blipFill>
          <a:blip r:embed="rId6"/>
          <a:stretch>
            <a:fillRect/>
          </a:stretch>
        </p:blipFill>
        <p:spPr>
          <a:xfrm>
            <a:off x="798088" y="3372124"/>
            <a:ext cx="342351" cy="342351"/>
          </a:xfrm>
          <a:prstGeom prst="rect">
            <a:avLst/>
          </a:prstGeom>
        </p:spPr>
      </p:pic>
      <p:sp>
        <p:nvSpPr>
          <p:cNvPr id="19" name="Text 13"/>
          <p:cNvSpPr/>
          <p:nvPr/>
        </p:nvSpPr>
        <p:spPr>
          <a:xfrm>
            <a:off x="1325880" y="3063240"/>
            <a:ext cx="2606040" cy="960120"/>
          </a:xfrm>
          <a:prstGeom prst="rect">
            <a:avLst/>
          </a:prstGeom>
          <a:noFill/>
          <a:ln/>
        </p:spPr>
        <p:txBody>
          <a:bodyPr wrap="square" lIns="0" tIns="0" rIns="0" bIns="0" rtlCol="0" anchor="ctr"/>
          <a:lstStyle/>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Drone integration</a:t>
            </a:r>
            <a:endParaRPr lang="en-US" sz="1100" dirty="0"/>
          </a:p>
        </p:txBody>
      </p:sp>
      <p:sp>
        <p:nvSpPr>
          <p:cNvPr id="20" name="Shape 14"/>
          <p:cNvSpPr/>
          <p:nvPr/>
        </p:nvSpPr>
        <p:spPr>
          <a:xfrm>
            <a:off x="4251960" y="3063240"/>
            <a:ext cx="3520440" cy="960120"/>
          </a:xfrm>
          <a:prstGeom prst="roundRect">
            <a:avLst>
              <a:gd name="adj" fmla="val 7619"/>
            </a:avLst>
          </a:prstGeom>
          <a:solidFill>
            <a:srgbClr val="1E4738"/>
          </a:solidFill>
          <a:ln w="12700">
            <a:solidFill>
              <a:srgbClr val="2F5445"/>
            </a:solidFill>
            <a:prstDash val="solid"/>
          </a:ln>
        </p:spPr>
      </p:sp>
      <p:sp>
        <p:nvSpPr>
          <p:cNvPr id="21" name="Shape 15"/>
          <p:cNvSpPr/>
          <p:nvPr/>
        </p:nvSpPr>
        <p:spPr>
          <a:xfrm>
            <a:off x="4434840" y="3305556"/>
            <a:ext cx="475488" cy="475488"/>
          </a:xfrm>
          <a:prstGeom prst="ellipse">
            <a:avLst/>
          </a:prstGeom>
          <a:solidFill>
            <a:srgbClr val="D9A441"/>
          </a:solidFill>
          <a:ln/>
        </p:spPr>
      </p:sp>
      <p:pic>
        <p:nvPicPr>
          <p:cNvPr id="22" name="Image 4" descr="/home/claude/work/icons/microchip.png"/>
          <p:cNvPicPr>
            <a:picLocks noChangeAspect="1"/>
          </p:cNvPicPr>
          <p:nvPr/>
        </p:nvPicPr>
        <p:blipFill>
          <a:blip r:embed="rId7"/>
          <a:stretch>
            <a:fillRect/>
          </a:stretch>
        </p:blipFill>
        <p:spPr>
          <a:xfrm>
            <a:off x="4501408" y="3372124"/>
            <a:ext cx="342351" cy="342351"/>
          </a:xfrm>
          <a:prstGeom prst="rect">
            <a:avLst/>
          </a:prstGeom>
        </p:spPr>
      </p:pic>
      <p:sp>
        <p:nvSpPr>
          <p:cNvPr id="23" name="Text 16"/>
          <p:cNvSpPr/>
          <p:nvPr/>
        </p:nvSpPr>
        <p:spPr>
          <a:xfrm>
            <a:off x="5029200" y="3063240"/>
            <a:ext cx="2606040" cy="960120"/>
          </a:xfrm>
          <a:prstGeom prst="rect">
            <a:avLst/>
          </a:prstGeom>
          <a:noFill/>
          <a:ln/>
        </p:spPr>
        <p:txBody>
          <a:bodyPr wrap="square" lIns="0" tIns="0" rIns="0" bIns="0" rtlCol="0" anchor="ctr"/>
          <a:lstStyle/>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IoT sensor integration</a:t>
            </a:r>
            <a:endParaRPr lang="en-US" sz="1100" dirty="0"/>
          </a:p>
        </p:txBody>
      </p:sp>
      <p:sp>
        <p:nvSpPr>
          <p:cNvPr id="24" name="Shape 17"/>
          <p:cNvSpPr/>
          <p:nvPr/>
        </p:nvSpPr>
        <p:spPr>
          <a:xfrm>
            <a:off x="7955280" y="3063240"/>
            <a:ext cx="3520440" cy="960120"/>
          </a:xfrm>
          <a:prstGeom prst="roundRect">
            <a:avLst>
              <a:gd name="adj" fmla="val 7619"/>
            </a:avLst>
          </a:prstGeom>
          <a:solidFill>
            <a:srgbClr val="1E4738"/>
          </a:solidFill>
          <a:ln w="12700">
            <a:solidFill>
              <a:srgbClr val="2F5445"/>
            </a:solidFill>
            <a:prstDash val="solid"/>
          </a:ln>
        </p:spPr>
      </p:sp>
      <p:sp>
        <p:nvSpPr>
          <p:cNvPr id="25" name="Shape 18"/>
          <p:cNvSpPr/>
          <p:nvPr/>
        </p:nvSpPr>
        <p:spPr>
          <a:xfrm>
            <a:off x="8138160" y="3305556"/>
            <a:ext cx="475488" cy="475488"/>
          </a:xfrm>
          <a:prstGeom prst="ellipse">
            <a:avLst/>
          </a:prstGeom>
          <a:solidFill>
            <a:srgbClr val="D9A441"/>
          </a:solidFill>
          <a:ln/>
        </p:spPr>
      </p:sp>
      <p:pic>
        <p:nvPicPr>
          <p:cNvPr id="26" name="Image 5" descr="/home/claude/work/icons/satellite.png"/>
          <p:cNvPicPr>
            <a:picLocks noChangeAspect="1"/>
          </p:cNvPicPr>
          <p:nvPr/>
        </p:nvPicPr>
        <p:blipFill>
          <a:blip r:embed="rId8"/>
          <a:stretch>
            <a:fillRect/>
          </a:stretch>
        </p:blipFill>
        <p:spPr>
          <a:xfrm>
            <a:off x="8204728" y="3372124"/>
            <a:ext cx="342351" cy="342351"/>
          </a:xfrm>
          <a:prstGeom prst="rect">
            <a:avLst/>
          </a:prstGeom>
        </p:spPr>
      </p:pic>
      <p:sp>
        <p:nvSpPr>
          <p:cNvPr id="27" name="Text 19"/>
          <p:cNvSpPr/>
          <p:nvPr/>
        </p:nvSpPr>
        <p:spPr>
          <a:xfrm>
            <a:off x="8732520" y="3063240"/>
            <a:ext cx="2606040" cy="960120"/>
          </a:xfrm>
          <a:prstGeom prst="rect">
            <a:avLst/>
          </a:prstGeom>
          <a:noFill/>
          <a:ln/>
        </p:spPr>
        <p:txBody>
          <a:bodyPr wrap="square" lIns="0" tIns="0" rIns="0" bIns="0" rtlCol="0" anchor="ctr"/>
          <a:lstStyle/>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Satellite weather monitoring</a:t>
            </a:r>
            <a:endParaRPr lang="en-US" sz="1100" dirty="0"/>
          </a:p>
        </p:txBody>
      </p:sp>
      <p:sp>
        <p:nvSpPr>
          <p:cNvPr id="28" name="Shape 20"/>
          <p:cNvSpPr/>
          <p:nvPr/>
        </p:nvSpPr>
        <p:spPr>
          <a:xfrm>
            <a:off x="548640" y="4160520"/>
            <a:ext cx="3520440" cy="960120"/>
          </a:xfrm>
          <a:prstGeom prst="roundRect">
            <a:avLst>
              <a:gd name="adj" fmla="val 7619"/>
            </a:avLst>
          </a:prstGeom>
          <a:solidFill>
            <a:srgbClr val="1E4738"/>
          </a:solidFill>
          <a:ln w="12700">
            <a:solidFill>
              <a:srgbClr val="2F5445"/>
            </a:solidFill>
            <a:prstDash val="solid"/>
          </a:ln>
        </p:spPr>
      </p:sp>
      <p:sp>
        <p:nvSpPr>
          <p:cNvPr id="29" name="Shape 21"/>
          <p:cNvSpPr/>
          <p:nvPr/>
        </p:nvSpPr>
        <p:spPr>
          <a:xfrm>
            <a:off x="731520" y="4402836"/>
            <a:ext cx="475488" cy="475488"/>
          </a:xfrm>
          <a:prstGeom prst="ellipse">
            <a:avLst/>
          </a:prstGeom>
          <a:solidFill>
            <a:srgbClr val="D9A441"/>
          </a:solidFill>
          <a:ln/>
        </p:spPr>
      </p:sp>
      <p:pic>
        <p:nvPicPr>
          <p:cNvPr id="30" name="Image 6" descr="/home/claude/work/icons/cubes.png"/>
          <p:cNvPicPr>
            <a:picLocks noChangeAspect="1"/>
          </p:cNvPicPr>
          <p:nvPr/>
        </p:nvPicPr>
        <p:blipFill>
          <a:blip r:embed="rId9"/>
          <a:stretch>
            <a:fillRect/>
          </a:stretch>
        </p:blipFill>
        <p:spPr>
          <a:xfrm>
            <a:off x="798088" y="4469404"/>
            <a:ext cx="342351" cy="342351"/>
          </a:xfrm>
          <a:prstGeom prst="rect">
            <a:avLst/>
          </a:prstGeom>
        </p:spPr>
      </p:pic>
      <p:sp>
        <p:nvSpPr>
          <p:cNvPr id="31" name="Text 22"/>
          <p:cNvSpPr/>
          <p:nvPr/>
        </p:nvSpPr>
        <p:spPr>
          <a:xfrm>
            <a:off x="1325880" y="4160520"/>
            <a:ext cx="2606040" cy="960120"/>
          </a:xfrm>
          <a:prstGeom prst="rect">
            <a:avLst/>
          </a:prstGeom>
          <a:noFill/>
          <a:ln/>
        </p:spPr>
        <p:txBody>
          <a:bodyPr wrap="square" lIns="0" tIns="0" rIns="0" bIns="0" rtlCol="0" anchor="ctr"/>
          <a:lstStyle/>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Vector database (FAISS/ChromaDB)</a:t>
            </a:r>
            <a:endParaRPr lang="en-US" sz="1100" dirty="0"/>
          </a:p>
        </p:txBody>
      </p:sp>
      <p:sp>
        <p:nvSpPr>
          <p:cNvPr id="32" name="Shape 23"/>
          <p:cNvSpPr/>
          <p:nvPr/>
        </p:nvSpPr>
        <p:spPr>
          <a:xfrm>
            <a:off x="4251960" y="4160520"/>
            <a:ext cx="3520440" cy="960120"/>
          </a:xfrm>
          <a:prstGeom prst="roundRect">
            <a:avLst>
              <a:gd name="adj" fmla="val 7619"/>
            </a:avLst>
          </a:prstGeom>
          <a:solidFill>
            <a:srgbClr val="1E4738"/>
          </a:solidFill>
          <a:ln w="12700">
            <a:solidFill>
              <a:srgbClr val="2F5445"/>
            </a:solidFill>
            <a:prstDash val="solid"/>
          </a:ln>
        </p:spPr>
      </p:sp>
      <p:sp>
        <p:nvSpPr>
          <p:cNvPr id="33" name="Shape 24"/>
          <p:cNvSpPr/>
          <p:nvPr/>
        </p:nvSpPr>
        <p:spPr>
          <a:xfrm>
            <a:off x="4434840" y="4402836"/>
            <a:ext cx="475488" cy="475488"/>
          </a:xfrm>
          <a:prstGeom prst="ellipse">
            <a:avLst/>
          </a:prstGeom>
          <a:solidFill>
            <a:srgbClr val="D9A441"/>
          </a:solidFill>
          <a:ln/>
        </p:spPr>
      </p:sp>
      <p:pic>
        <p:nvPicPr>
          <p:cNvPr id="34" name="Image 7" descr="/home/claude/work/icons/brain.png"/>
          <p:cNvPicPr>
            <a:picLocks noChangeAspect="1"/>
          </p:cNvPicPr>
          <p:nvPr/>
        </p:nvPicPr>
        <p:blipFill>
          <a:blip r:embed="rId10"/>
          <a:stretch>
            <a:fillRect/>
          </a:stretch>
        </p:blipFill>
        <p:spPr>
          <a:xfrm>
            <a:off x="4501408" y="4469404"/>
            <a:ext cx="342351" cy="342351"/>
          </a:xfrm>
          <a:prstGeom prst="rect">
            <a:avLst/>
          </a:prstGeom>
        </p:spPr>
      </p:pic>
      <p:sp>
        <p:nvSpPr>
          <p:cNvPr id="35" name="Text 25"/>
          <p:cNvSpPr/>
          <p:nvPr/>
        </p:nvSpPr>
        <p:spPr>
          <a:xfrm>
            <a:off x="5029200" y="4160520"/>
            <a:ext cx="2606040" cy="960120"/>
          </a:xfrm>
          <a:prstGeom prst="rect">
            <a:avLst/>
          </a:prstGeom>
          <a:noFill/>
          <a:ln/>
        </p:spPr>
        <p:txBody>
          <a:bodyPr wrap="square" lIns="0" tIns="0" rIns="0" bIns="0" rtlCol="0" anchor="ctr"/>
          <a:lstStyle/>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Fine-tuned agricultural LLM</a:t>
            </a:r>
            <a:endParaRPr lang="en-US" sz="1100" dirty="0"/>
          </a:p>
        </p:txBody>
      </p:sp>
      <p:sp>
        <p:nvSpPr>
          <p:cNvPr id="36" name="Shape 26"/>
          <p:cNvSpPr/>
          <p:nvPr/>
        </p:nvSpPr>
        <p:spPr>
          <a:xfrm>
            <a:off x="7955280" y="4160520"/>
            <a:ext cx="3520440" cy="960120"/>
          </a:xfrm>
          <a:prstGeom prst="roundRect">
            <a:avLst>
              <a:gd name="adj" fmla="val 7619"/>
            </a:avLst>
          </a:prstGeom>
          <a:solidFill>
            <a:srgbClr val="1E4738"/>
          </a:solidFill>
          <a:ln w="12700">
            <a:solidFill>
              <a:srgbClr val="2F5445"/>
            </a:solidFill>
            <a:prstDash val="solid"/>
          </a:ln>
        </p:spPr>
      </p:sp>
      <p:sp>
        <p:nvSpPr>
          <p:cNvPr id="37" name="Shape 27"/>
          <p:cNvSpPr/>
          <p:nvPr/>
        </p:nvSpPr>
        <p:spPr>
          <a:xfrm>
            <a:off x="8138160" y="4402836"/>
            <a:ext cx="475488" cy="475488"/>
          </a:xfrm>
          <a:prstGeom prst="ellipse">
            <a:avLst/>
          </a:prstGeom>
          <a:solidFill>
            <a:srgbClr val="D9A441"/>
          </a:solidFill>
          <a:ln/>
        </p:spPr>
      </p:sp>
      <p:pic>
        <p:nvPicPr>
          <p:cNvPr id="38" name="Image 8" descr="/home/claude/work/icons/mobile.png"/>
          <p:cNvPicPr>
            <a:picLocks noChangeAspect="1"/>
          </p:cNvPicPr>
          <p:nvPr/>
        </p:nvPicPr>
        <p:blipFill>
          <a:blip r:embed="rId11"/>
          <a:stretch>
            <a:fillRect/>
          </a:stretch>
        </p:blipFill>
        <p:spPr>
          <a:xfrm>
            <a:off x="8204728" y="4469404"/>
            <a:ext cx="342351" cy="342351"/>
          </a:xfrm>
          <a:prstGeom prst="rect">
            <a:avLst/>
          </a:prstGeom>
        </p:spPr>
      </p:pic>
      <p:sp>
        <p:nvSpPr>
          <p:cNvPr id="39" name="Text 28"/>
          <p:cNvSpPr/>
          <p:nvPr/>
        </p:nvSpPr>
        <p:spPr>
          <a:xfrm>
            <a:off x="8732520" y="4160520"/>
            <a:ext cx="2606040" cy="960120"/>
          </a:xfrm>
          <a:prstGeom prst="rect">
            <a:avLst/>
          </a:prstGeom>
          <a:noFill/>
          <a:ln/>
        </p:spPr>
        <p:txBody>
          <a:bodyPr wrap="square" lIns="0" tIns="0" rIns="0" bIns="0" rtlCol="0" anchor="ctr"/>
          <a:lstStyle/>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Mobile application</a:t>
            </a:r>
            <a:endParaRPr lang="en-US" sz="1100" dirty="0"/>
          </a:p>
        </p:txBody>
      </p:sp>
      <p:sp>
        <p:nvSpPr>
          <p:cNvPr id="40" name="Shape 29"/>
          <p:cNvSpPr/>
          <p:nvPr/>
        </p:nvSpPr>
        <p:spPr>
          <a:xfrm>
            <a:off x="548640" y="5257800"/>
            <a:ext cx="3520440" cy="960120"/>
          </a:xfrm>
          <a:prstGeom prst="roundRect">
            <a:avLst>
              <a:gd name="adj" fmla="val 7619"/>
            </a:avLst>
          </a:prstGeom>
          <a:solidFill>
            <a:srgbClr val="1E4738"/>
          </a:solidFill>
          <a:ln w="12700">
            <a:solidFill>
              <a:srgbClr val="2F5445"/>
            </a:solidFill>
            <a:prstDash val="solid"/>
          </a:ln>
        </p:spPr>
      </p:sp>
      <p:sp>
        <p:nvSpPr>
          <p:cNvPr id="41" name="Shape 30"/>
          <p:cNvSpPr/>
          <p:nvPr/>
        </p:nvSpPr>
        <p:spPr>
          <a:xfrm>
            <a:off x="731520" y="5500116"/>
            <a:ext cx="475488" cy="475488"/>
          </a:xfrm>
          <a:prstGeom prst="ellipse">
            <a:avLst/>
          </a:prstGeom>
          <a:solidFill>
            <a:srgbClr val="D9A441"/>
          </a:solidFill>
          <a:ln/>
        </p:spPr>
      </p:sp>
      <p:pic>
        <p:nvPicPr>
          <p:cNvPr id="42" name="Image 9" descr="/home/claude/work/icons/globe.png"/>
          <p:cNvPicPr>
            <a:picLocks noChangeAspect="1"/>
          </p:cNvPicPr>
          <p:nvPr/>
        </p:nvPicPr>
        <p:blipFill>
          <a:blip r:embed="rId12"/>
          <a:stretch>
            <a:fillRect/>
          </a:stretch>
        </p:blipFill>
        <p:spPr>
          <a:xfrm>
            <a:off x="798088" y="5566684"/>
            <a:ext cx="342351" cy="342351"/>
          </a:xfrm>
          <a:prstGeom prst="rect">
            <a:avLst/>
          </a:prstGeom>
        </p:spPr>
      </p:pic>
      <p:sp>
        <p:nvSpPr>
          <p:cNvPr id="43" name="Text 31"/>
          <p:cNvSpPr/>
          <p:nvPr/>
        </p:nvSpPr>
        <p:spPr>
          <a:xfrm>
            <a:off x="1325880" y="5257800"/>
            <a:ext cx="2606040" cy="960120"/>
          </a:xfrm>
          <a:prstGeom prst="rect">
            <a:avLst/>
          </a:prstGeom>
          <a:noFill/>
          <a:ln/>
        </p:spPr>
        <p:txBody>
          <a:bodyPr wrap="square" lIns="0" tIns="0" rIns="0" bIns="0" rtlCol="0" anchor="ctr"/>
          <a:lstStyle/>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Multi-language support</a:t>
            </a:r>
            <a:endParaRPr lang="en-US" sz="1100" dirty="0"/>
          </a:p>
        </p:txBody>
      </p:sp>
      <p:sp>
        <p:nvSpPr>
          <p:cNvPr id="44" name="Text 32"/>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B9C9BF"/>
                </a:solidFill>
                <a:latin typeface="Calibri" pitchFamily="34" charset="0"/>
                <a:ea typeface="Calibri" pitchFamily="34" charset="-122"/>
                <a:cs typeface="Calibri" pitchFamily="34" charset="-120"/>
              </a:rPr>
              <a:t>STELLAR AGRI AI</a:t>
            </a:r>
            <a:endParaRPr lang="en-US" sz="900" dirty="0"/>
          </a:p>
        </p:txBody>
      </p:sp>
      <p:sp>
        <p:nvSpPr>
          <p:cNvPr id="45" name="Text 33"/>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B9C9BF"/>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E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292608"/>
          </a:xfrm>
          <a:prstGeom prst="rect">
            <a:avLst/>
          </a:prstGeom>
          <a:noFill/>
          <a:ln/>
        </p:spPr>
        <p:txBody>
          <a:bodyPr wrap="square" rtlCol="0" anchor="ctr"/>
          <a:lstStyle/>
          <a:p>
            <a:pPr marL="0" indent="0">
              <a:buNone/>
            </a:pPr>
            <a:r>
              <a:rPr lang="en-US" sz="1200" b="1" kern="0" spc="200" dirty="0">
                <a:solidFill>
                  <a:srgbClr val="4C7A5E"/>
                </a:solidFill>
                <a:latin typeface="Calibri" pitchFamily="34" charset="0"/>
                <a:ea typeface="Calibri" pitchFamily="34" charset="-122"/>
                <a:cs typeface="Calibri" pitchFamily="34" charset="-120"/>
              </a:rPr>
              <a:t>WRAPPING UP</a:t>
            </a:r>
            <a:endParaRPr lang="en-US" sz="1200" dirty="0"/>
          </a:p>
        </p:txBody>
      </p:sp>
      <p:sp>
        <p:nvSpPr>
          <p:cNvPr id="3" name="Text 1"/>
          <p:cNvSpPr/>
          <p:nvPr/>
        </p:nvSpPr>
        <p:spPr>
          <a:xfrm>
            <a:off x="548640" y="749808"/>
            <a:ext cx="11064240" cy="640080"/>
          </a:xfrm>
          <a:prstGeom prst="rect">
            <a:avLst/>
          </a:prstGeom>
          <a:noFill/>
          <a:ln/>
        </p:spPr>
        <p:txBody>
          <a:bodyPr wrap="square" lIns="0" tIns="0" rIns="0" bIns="0" rtlCol="0" anchor="ctr"/>
          <a:lstStyle/>
          <a:p>
            <a:pPr marL="0" indent="0">
              <a:buNone/>
            </a:pPr>
            <a:r>
              <a:rPr lang="en-US" sz="2800" b="1" dirty="0">
                <a:solidFill>
                  <a:srgbClr val="18231F"/>
                </a:solidFill>
                <a:latin typeface="Cambria" pitchFamily="34" charset="0"/>
                <a:ea typeface="Cambria" pitchFamily="34" charset="-122"/>
                <a:cs typeface="Cambria" pitchFamily="34" charset="-120"/>
              </a:rPr>
              <a:t>Conclusion</a:t>
            </a:r>
            <a:endParaRPr lang="en-US" sz="2800" dirty="0"/>
          </a:p>
        </p:txBody>
      </p:sp>
      <p:sp>
        <p:nvSpPr>
          <p:cNvPr id="4" name="Text 2"/>
          <p:cNvSpPr/>
          <p:nvPr/>
        </p:nvSpPr>
        <p:spPr>
          <a:xfrm>
            <a:off x="548640" y="1371600"/>
            <a:ext cx="10881360" cy="502920"/>
          </a:xfrm>
          <a:prstGeom prst="rect">
            <a:avLst/>
          </a:prstGeom>
          <a:noFill/>
          <a:ln/>
        </p:spPr>
        <p:txBody>
          <a:bodyPr wrap="square" rtlCol="0" anchor="ctr"/>
          <a:lstStyle/>
          <a:p>
            <a:pPr marL="0" indent="0">
              <a:lnSpc>
                <a:spcPct val="120000"/>
              </a:lnSpc>
              <a:buNone/>
            </a:pPr>
            <a:r>
              <a:rPr lang="en-US" sz="1300" i="1" dirty="0">
                <a:solidFill>
                  <a:srgbClr val="55645C"/>
                </a:solidFill>
                <a:latin typeface="Calibri" pitchFamily="34" charset="0"/>
                <a:ea typeface="Calibri" pitchFamily="34" charset="-122"/>
                <a:cs typeface="Calibri" pitchFamily="34" charset="-120"/>
              </a:rPr>
              <a:t>Stellar Agri demonstrates how Artificial Intelligence, Retrieval-Augmented Generation, and Large Language Models can provide intelligent agricultural assistance.</a:t>
            </a:r>
            <a:endParaRPr lang="en-US" sz="1300" dirty="0"/>
          </a:p>
        </p:txBody>
      </p:sp>
      <p:sp>
        <p:nvSpPr>
          <p:cNvPr id="5" name="Text 3"/>
          <p:cNvSpPr/>
          <p:nvPr/>
        </p:nvSpPr>
        <p:spPr>
          <a:xfrm>
            <a:off x="548640" y="2057400"/>
            <a:ext cx="5486400" cy="274320"/>
          </a:xfrm>
          <a:prstGeom prst="rect">
            <a:avLst/>
          </a:prstGeom>
          <a:noFill/>
          <a:ln/>
        </p:spPr>
        <p:txBody>
          <a:bodyPr wrap="square" rtlCol="0" anchor="ctr"/>
          <a:lstStyle/>
          <a:p>
            <a:pPr marL="0" indent="0">
              <a:buNone/>
            </a:pPr>
            <a:r>
              <a:rPr lang="en-US" sz="1100" b="1" kern="0" spc="150" dirty="0">
                <a:solidFill>
                  <a:srgbClr val="4C7A5E"/>
                </a:solidFill>
                <a:latin typeface="Calibri" pitchFamily="34" charset="0"/>
                <a:ea typeface="Calibri" pitchFamily="34" charset="-122"/>
                <a:cs typeface="Calibri" pitchFamily="34" charset="-120"/>
              </a:rPr>
              <a:t>KEY ACHIEVEMENTS</a:t>
            </a:r>
            <a:endParaRPr lang="en-US" sz="1100" dirty="0"/>
          </a:p>
        </p:txBody>
      </p:sp>
      <p:sp>
        <p:nvSpPr>
          <p:cNvPr id="6" name="Shape 4"/>
          <p:cNvSpPr/>
          <p:nvPr/>
        </p:nvSpPr>
        <p:spPr>
          <a:xfrm>
            <a:off x="548640" y="2423160"/>
            <a:ext cx="5440680" cy="566928"/>
          </a:xfrm>
          <a:prstGeom prst="roundRect">
            <a:avLst>
              <a:gd name="adj" fmla="val 11290"/>
            </a:avLst>
          </a:prstGeom>
          <a:solidFill>
            <a:srgbClr val="FFFFFF"/>
          </a:solidFill>
          <a:ln w="12700">
            <a:solidFill>
              <a:srgbClr val="E1DFD3"/>
            </a:solidFill>
            <a:prstDash val="solid"/>
          </a:ln>
        </p:spPr>
      </p:sp>
      <p:pic>
        <p:nvPicPr>
          <p:cNvPr id="7" name="Image 0" descr="/home/claude/work/icons/check_dark.png"/>
          <p:cNvPicPr>
            <a:picLocks noChangeAspect="1"/>
          </p:cNvPicPr>
          <p:nvPr/>
        </p:nvPicPr>
        <p:blipFill>
          <a:blip r:embed="rId3"/>
          <a:stretch>
            <a:fillRect/>
          </a:stretch>
        </p:blipFill>
        <p:spPr>
          <a:xfrm>
            <a:off x="713232" y="2596896"/>
            <a:ext cx="219456" cy="219456"/>
          </a:xfrm>
          <a:prstGeom prst="rect">
            <a:avLst/>
          </a:prstGeom>
        </p:spPr>
      </p:pic>
      <p:sp>
        <p:nvSpPr>
          <p:cNvPr id="8" name="Text 5"/>
          <p:cNvSpPr/>
          <p:nvPr/>
        </p:nvSpPr>
        <p:spPr>
          <a:xfrm>
            <a:off x="1051560" y="2423160"/>
            <a:ext cx="4754880" cy="566928"/>
          </a:xfrm>
          <a:prstGeom prst="rect">
            <a:avLst/>
          </a:prstGeom>
          <a:noFill/>
          <a:ln/>
        </p:spPr>
        <p:txBody>
          <a:bodyPr wrap="square" lIns="0" tIns="0" rIns="0" bIns="0" rtlCol="0" anchor="ctr"/>
          <a:lstStyle/>
          <a:p>
            <a:pPr marL="0" indent="0">
              <a:lnSpc>
                <a:spcPct val="105000"/>
              </a:lnSpc>
              <a:buNone/>
            </a:pPr>
            <a:r>
              <a:rPr lang="en-US" sz="1080" dirty="0">
                <a:solidFill>
                  <a:srgbClr val="18231F"/>
                </a:solidFill>
                <a:latin typeface="Calibri" pitchFamily="34" charset="0"/>
                <a:ea typeface="Calibri" pitchFamily="34" charset="-122"/>
                <a:cs typeface="Calibri" pitchFamily="34" charset="-120"/>
              </a:rPr>
              <a:t>Developed a complete AI-powered agricultural advisory system</a:t>
            </a:r>
            <a:endParaRPr lang="en-US" sz="1080" dirty="0"/>
          </a:p>
        </p:txBody>
      </p:sp>
      <p:sp>
        <p:nvSpPr>
          <p:cNvPr id="9" name="Shape 6"/>
          <p:cNvSpPr/>
          <p:nvPr/>
        </p:nvSpPr>
        <p:spPr>
          <a:xfrm>
            <a:off x="6172200" y="2423160"/>
            <a:ext cx="5440680" cy="566928"/>
          </a:xfrm>
          <a:prstGeom prst="roundRect">
            <a:avLst>
              <a:gd name="adj" fmla="val 11290"/>
            </a:avLst>
          </a:prstGeom>
          <a:solidFill>
            <a:srgbClr val="FFFFFF"/>
          </a:solidFill>
          <a:ln w="12700">
            <a:solidFill>
              <a:srgbClr val="E1DFD3"/>
            </a:solidFill>
            <a:prstDash val="solid"/>
          </a:ln>
        </p:spPr>
      </p:sp>
      <p:pic>
        <p:nvPicPr>
          <p:cNvPr id="10" name="Image 1" descr="/home/claude/work/icons/check_dark.png"/>
          <p:cNvPicPr>
            <a:picLocks noChangeAspect="1"/>
          </p:cNvPicPr>
          <p:nvPr/>
        </p:nvPicPr>
        <p:blipFill>
          <a:blip r:embed="rId3"/>
          <a:stretch>
            <a:fillRect/>
          </a:stretch>
        </p:blipFill>
        <p:spPr>
          <a:xfrm>
            <a:off x="6336792" y="2596896"/>
            <a:ext cx="219456" cy="219456"/>
          </a:xfrm>
          <a:prstGeom prst="rect">
            <a:avLst/>
          </a:prstGeom>
        </p:spPr>
      </p:pic>
      <p:sp>
        <p:nvSpPr>
          <p:cNvPr id="11" name="Text 7"/>
          <p:cNvSpPr/>
          <p:nvPr/>
        </p:nvSpPr>
        <p:spPr>
          <a:xfrm>
            <a:off x="6675120" y="2423160"/>
            <a:ext cx="4754880" cy="566928"/>
          </a:xfrm>
          <a:prstGeom prst="rect">
            <a:avLst/>
          </a:prstGeom>
          <a:noFill/>
          <a:ln/>
        </p:spPr>
        <p:txBody>
          <a:bodyPr wrap="square" lIns="0" tIns="0" rIns="0" bIns="0" rtlCol="0" anchor="ctr"/>
          <a:lstStyle/>
          <a:p>
            <a:pPr marL="0" indent="0">
              <a:lnSpc>
                <a:spcPct val="105000"/>
              </a:lnSpc>
              <a:buNone/>
            </a:pPr>
            <a:r>
              <a:rPr lang="en-US" sz="1080" dirty="0">
                <a:solidFill>
                  <a:srgbClr val="18231F"/>
                </a:solidFill>
                <a:latin typeface="Calibri" pitchFamily="34" charset="0"/>
                <a:ea typeface="Calibri" pitchFamily="34" charset="-122"/>
                <a:cs typeface="Calibri" pitchFamily="34" charset="-120"/>
              </a:rPr>
              <a:t>Implemented a modular FastAPI backend with RAG architecture</a:t>
            </a:r>
            <a:endParaRPr lang="en-US" sz="1080" dirty="0"/>
          </a:p>
        </p:txBody>
      </p:sp>
      <p:sp>
        <p:nvSpPr>
          <p:cNvPr id="12" name="Shape 8"/>
          <p:cNvSpPr/>
          <p:nvPr/>
        </p:nvSpPr>
        <p:spPr>
          <a:xfrm>
            <a:off x="548640" y="3108960"/>
            <a:ext cx="5440680" cy="566928"/>
          </a:xfrm>
          <a:prstGeom prst="roundRect">
            <a:avLst>
              <a:gd name="adj" fmla="val 11290"/>
            </a:avLst>
          </a:prstGeom>
          <a:solidFill>
            <a:srgbClr val="FFFFFF"/>
          </a:solidFill>
          <a:ln w="12700">
            <a:solidFill>
              <a:srgbClr val="E1DFD3"/>
            </a:solidFill>
            <a:prstDash val="solid"/>
          </a:ln>
        </p:spPr>
      </p:sp>
      <p:pic>
        <p:nvPicPr>
          <p:cNvPr id="13" name="Image 2" descr="/home/claude/work/icons/check_dark.png"/>
          <p:cNvPicPr>
            <a:picLocks noChangeAspect="1"/>
          </p:cNvPicPr>
          <p:nvPr/>
        </p:nvPicPr>
        <p:blipFill>
          <a:blip r:embed="rId3"/>
          <a:stretch>
            <a:fillRect/>
          </a:stretch>
        </p:blipFill>
        <p:spPr>
          <a:xfrm>
            <a:off x="713232" y="3282696"/>
            <a:ext cx="219456" cy="219456"/>
          </a:xfrm>
          <a:prstGeom prst="rect">
            <a:avLst/>
          </a:prstGeom>
        </p:spPr>
      </p:pic>
      <p:sp>
        <p:nvSpPr>
          <p:cNvPr id="14" name="Text 9"/>
          <p:cNvSpPr/>
          <p:nvPr/>
        </p:nvSpPr>
        <p:spPr>
          <a:xfrm>
            <a:off x="1051560" y="3108960"/>
            <a:ext cx="4754880" cy="566928"/>
          </a:xfrm>
          <a:prstGeom prst="rect">
            <a:avLst/>
          </a:prstGeom>
          <a:noFill/>
          <a:ln/>
        </p:spPr>
        <p:txBody>
          <a:bodyPr wrap="square" lIns="0" tIns="0" rIns="0" bIns="0" rtlCol="0" anchor="ctr"/>
          <a:lstStyle/>
          <a:p>
            <a:pPr marL="0" indent="0">
              <a:lnSpc>
                <a:spcPct val="105000"/>
              </a:lnSpc>
              <a:buNone/>
            </a:pPr>
            <a:r>
              <a:rPr lang="en-US" sz="1080" dirty="0">
                <a:solidFill>
                  <a:srgbClr val="18231F"/>
                </a:solidFill>
                <a:latin typeface="Calibri" pitchFamily="34" charset="0"/>
                <a:ea typeface="Calibri" pitchFamily="34" charset="-122"/>
                <a:cs typeface="Calibri" pitchFamily="34" charset="-120"/>
              </a:rPr>
              <a:t>Built an interactive React frontend</a:t>
            </a:r>
            <a:endParaRPr lang="en-US" sz="1080" dirty="0"/>
          </a:p>
        </p:txBody>
      </p:sp>
      <p:sp>
        <p:nvSpPr>
          <p:cNvPr id="15" name="Shape 10"/>
          <p:cNvSpPr/>
          <p:nvPr/>
        </p:nvSpPr>
        <p:spPr>
          <a:xfrm>
            <a:off x="6172200" y="3108960"/>
            <a:ext cx="5440680" cy="566928"/>
          </a:xfrm>
          <a:prstGeom prst="roundRect">
            <a:avLst>
              <a:gd name="adj" fmla="val 11290"/>
            </a:avLst>
          </a:prstGeom>
          <a:solidFill>
            <a:srgbClr val="FFFFFF"/>
          </a:solidFill>
          <a:ln w="12700">
            <a:solidFill>
              <a:srgbClr val="E1DFD3"/>
            </a:solidFill>
            <a:prstDash val="solid"/>
          </a:ln>
        </p:spPr>
      </p:sp>
      <p:pic>
        <p:nvPicPr>
          <p:cNvPr id="16" name="Image 3" descr="/home/claude/work/icons/check_dark.png"/>
          <p:cNvPicPr>
            <a:picLocks noChangeAspect="1"/>
          </p:cNvPicPr>
          <p:nvPr/>
        </p:nvPicPr>
        <p:blipFill>
          <a:blip r:embed="rId3"/>
          <a:stretch>
            <a:fillRect/>
          </a:stretch>
        </p:blipFill>
        <p:spPr>
          <a:xfrm>
            <a:off x="6336792" y="3282696"/>
            <a:ext cx="219456" cy="219456"/>
          </a:xfrm>
          <a:prstGeom prst="rect">
            <a:avLst/>
          </a:prstGeom>
        </p:spPr>
      </p:pic>
      <p:sp>
        <p:nvSpPr>
          <p:cNvPr id="17" name="Text 11"/>
          <p:cNvSpPr/>
          <p:nvPr/>
        </p:nvSpPr>
        <p:spPr>
          <a:xfrm>
            <a:off x="6675120" y="3108960"/>
            <a:ext cx="4754880" cy="566928"/>
          </a:xfrm>
          <a:prstGeom prst="rect">
            <a:avLst/>
          </a:prstGeom>
          <a:noFill/>
          <a:ln/>
        </p:spPr>
        <p:txBody>
          <a:bodyPr wrap="square" lIns="0" tIns="0" rIns="0" bIns="0" rtlCol="0" anchor="ctr"/>
          <a:lstStyle/>
          <a:p>
            <a:pPr marL="0" indent="0">
              <a:lnSpc>
                <a:spcPct val="105000"/>
              </a:lnSpc>
              <a:buNone/>
            </a:pPr>
            <a:r>
              <a:rPr lang="en-US" sz="1080" dirty="0">
                <a:solidFill>
                  <a:srgbClr val="18231F"/>
                </a:solidFill>
                <a:latin typeface="Calibri" pitchFamily="34" charset="0"/>
                <a:ea typeface="Calibri" pitchFamily="34" charset="-122"/>
                <a:cs typeface="Calibri" pitchFamily="34" charset="-120"/>
              </a:rPr>
              <a:t>Integrated multiple agricultural datasets</a:t>
            </a:r>
            <a:endParaRPr lang="en-US" sz="1080" dirty="0"/>
          </a:p>
        </p:txBody>
      </p:sp>
      <p:sp>
        <p:nvSpPr>
          <p:cNvPr id="18" name="Shape 12"/>
          <p:cNvSpPr/>
          <p:nvPr/>
        </p:nvSpPr>
        <p:spPr>
          <a:xfrm>
            <a:off x="548640" y="3794760"/>
            <a:ext cx="5440680" cy="566928"/>
          </a:xfrm>
          <a:prstGeom prst="roundRect">
            <a:avLst>
              <a:gd name="adj" fmla="val 11290"/>
            </a:avLst>
          </a:prstGeom>
          <a:solidFill>
            <a:srgbClr val="FFFFFF"/>
          </a:solidFill>
          <a:ln w="12700">
            <a:solidFill>
              <a:srgbClr val="E1DFD3"/>
            </a:solidFill>
            <a:prstDash val="solid"/>
          </a:ln>
        </p:spPr>
      </p:sp>
      <p:pic>
        <p:nvPicPr>
          <p:cNvPr id="19" name="Image 4" descr="/home/claude/work/icons/check_dark.png"/>
          <p:cNvPicPr>
            <a:picLocks noChangeAspect="1"/>
          </p:cNvPicPr>
          <p:nvPr/>
        </p:nvPicPr>
        <p:blipFill>
          <a:blip r:embed="rId3"/>
          <a:stretch>
            <a:fillRect/>
          </a:stretch>
        </p:blipFill>
        <p:spPr>
          <a:xfrm>
            <a:off x="713232" y="3968496"/>
            <a:ext cx="219456" cy="219456"/>
          </a:xfrm>
          <a:prstGeom prst="rect">
            <a:avLst/>
          </a:prstGeom>
        </p:spPr>
      </p:pic>
      <p:sp>
        <p:nvSpPr>
          <p:cNvPr id="20" name="Text 13"/>
          <p:cNvSpPr/>
          <p:nvPr/>
        </p:nvSpPr>
        <p:spPr>
          <a:xfrm>
            <a:off x="1051560" y="3794760"/>
            <a:ext cx="4754880" cy="566928"/>
          </a:xfrm>
          <a:prstGeom prst="rect">
            <a:avLst/>
          </a:prstGeom>
          <a:noFill/>
          <a:ln/>
        </p:spPr>
        <p:txBody>
          <a:bodyPr wrap="square" lIns="0" tIns="0" rIns="0" bIns="0" rtlCol="0" anchor="ctr"/>
          <a:lstStyle/>
          <a:p>
            <a:pPr marL="0" indent="0">
              <a:lnSpc>
                <a:spcPct val="105000"/>
              </a:lnSpc>
              <a:buNone/>
            </a:pPr>
            <a:r>
              <a:rPr lang="en-US" sz="1080" dirty="0">
                <a:solidFill>
                  <a:srgbClr val="18231F"/>
                </a:solidFill>
                <a:latin typeface="Calibri" pitchFamily="34" charset="0"/>
                <a:ea typeface="Calibri" pitchFamily="34" charset="-122"/>
                <a:cs typeface="Calibri" pitchFamily="34" charset="-120"/>
              </a:rPr>
              <a:t>Delivered structured, context-aware recommendations for farmers</a:t>
            </a:r>
            <a:endParaRPr lang="en-US" sz="1080" dirty="0"/>
          </a:p>
        </p:txBody>
      </p:sp>
      <p:sp>
        <p:nvSpPr>
          <p:cNvPr id="21" name="Shape 14"/>
          <p:cNvSpPr/>
          <p:nvPr/>
        </p:nvSpPr>
        <p:spPr>
          <a:xfrm>
            <a:off x="6172200" y="3794760"/>
            <a:ext cx="5440680" cy="566928"/>
          </a:xfrm>
          <a:prstGeom prst="roundRect">
            <a:avLst>
              <a:gd name="adj" fmla="val 11290"/>
            </a:avLst>
          </a:prstGeom>
          <a:solidFill>
            <a:srgbClr val="FFFFFF"/>
          </a:solidFill>
          <a:ln w="12700">
            <a:solidFill>
              <a:srgbClr val="E1DFD3"/>
            </a:solidFill>
            <a:prstDash val="solid"/>
          </a:ln>
        </p:spPr>
      </p:sp>
      <p:pic>
        <p:nvPicPr>
          <p:cNvPr id="22" name="Image 5" descr="/home/claude/work/icons/check_dark.png"/>
          <p:cNvPicPr>
            <a:picLocks noChangeAspect="1"/>
          </p:cNvPicPr>
          <p:nvPr/>
        </p:nvPicPr>
        <p:blipFill>
          <a:blip r:embed="rId3"/>
          <a:stretch>
            <a:fillRect/>
          </a:stretch>
        </p:blipFill>
        <p:spPr>
          <a:xfrm>
            <a:off x="6336792" y="3968496"/>
            <a:ext cx="219456" cy="219456"/>
          </a:xfrm>
          <a:prstGeom prst="rect">
            <a:avLst/>
          </a:prstGeom>
        </p:spPr>
      </p:pic>
      <p:sp>
        <p:nvSpPr>
          <p:cNvPr id="23" name="Text 15"/>
          <p:cNvSpPr/>
          <p:nvPr/>
        </p:nvSpPr>
        <p:spPr>
          <a:xfrm>
            <a:off x="6675120" y="3794760"/>
            <a:ext cx="4754880" cy="566928"/>
          </a:xfrm>
          <a:prstGeom prst="rect">
            <a:avLst/>
          </a:prstGeom>
          <a:noFill/>
          <a:ln/>
        </p:spPr>
        <p:txBody>
          <a:bodyPr wrap="square" lIns="0" tIns="0" rIns="0" bIns="0" rtlCol="0" anchor="ctr"/>
          <a:lstStyle/>
          <a:p>
            <a:pPr marL="0" indent="0">
              <a:lnSpc>
                <a:spcPct val="105000"/>
              </a:lnSpc>
              <a:buNone/>
            </a:pPr>
            <a:r>
              <a:rPr lang="en-US" sz="1080" dirty="0">
                <a:solidFill>
                  <a:srgbClr val="18231F"/>
                </a:solidFill>
                <a:latin typeface="Calibri" pitchFamily="34" charset="0"/>
                <a:ea typeface="Calibri" pitchFamily="34" charset="-122"/>
                <a:cs typeface="Calibri" pitchFamily="34" charset="-120"/>
              </a:rPr>
              <a:t>Designed the system to be scalable and extensible for future enhancements</a:t>
            </a:r>
            <a:endParaRPr lang="en-US" sz="1080" dirty="0"/>
          </a:p>
        </p:txBody>
      </p:sp>
      <p:sp>
        <p:nvSpPr>
          <p:cNvPr id="24" name="Shape 16"/>
          <p:cNvSpPr/>
          <p:nvPr/>
        </p:nvSpPr>
        <p:spPr>
          <a:xfrm>
            <a:off x="548640" y="5029200"/>
            <a:ext cx="11064240" cy="1051560"/>
          </a:xfrm>
          <a:prstGeom prst="roundRect">
            <a:avLst>
              <a:gd name="adj" fmla="val 7826"/>
            </a:avLst>
          </a:prstGeom>
          <a:solidFill>
            <a:srgbClr val="13322A"/>
          </a:solidFill>
          <a:ln/>
        </p:spPr>
      </p:sp>
      <p:pic>
        <p:nvPicPr>
          <p:cNvPr id="25" name="Image 6" descr="/home/claude/work/icons/quote.png"/>
          <p:cNvPicPr>
            <a:picLocks noChangeAspect="1"/>
          </p:cNvPicPr>
          <p:nvPr/>
        </p:nvPicPr>
        <p:blipFill>
          <a:blip r:embed="rId4"/>
          <a:stretch>
            <a:fillRect/>
          </a:stretch>
        </p:blipFill>
        <p:spPr>
          <a:xfrm>
            <a:off x="822960" y="5349240"/>
            <a:ext cx="310896" cy="310896"/>
          </a:xfrm>
          <a:prstGeom prst="rect">
            <a:avLst/>
          </a:prstGeom>
        </p:spPr>
      </p:pic>
      <p:sp>
        <p:nvSpPr>
          <p:cNvPr id="26" name="Text 17"/>
          <p:cNvSpPr/>
          <p:nvPr/>
        </p:nvSpPr>
        <p:spPr>
          <a:xfrm>
            <a:off x="1325880" y="5029200"/>
            <a:ext cx="9966960" cy="1051560"/>
          </a:xfrm>
          <a:prstGeom prst="rect">
            <a:avLst/>
          </a:prstGeom>
          <a:noFill/>
          <a:ln/>
        </p:spPr>
        <p:txBody>
          <a:bodyPr wrap="square" lIns="0" tIns="0" rIns="0" bIns="0" rtlCol="0" anchor="ctr"/>
          <a:lstStyle/>
          <a:p>
            <a:pPr marL="0" indent="0">
              <a:lnSpc>
                <a:spcPct val="120000"/>
              </a:lnSpc>
              <a:buNone/>
            </a:pPr>
            <a:r>
              <a:rPr lang="en-US" sz="1350" b="1" i="1" dirty="0">
                <a:solidFill>
                  <a:srgbClr val="F3DFAF"/>
                </a:solidFill>
                <a:latin typeface="Cambria" pitchFamily="34" charset="0"/>
                <a:ea typeface="Cambria" pitchFamily="34" charset="-122"/>
                <a:cs typeface="Cambria" pitchFamily="34" charset="-120"/>
              </a:rPr>
              <a:t>Stellar Agri bridges the gap between modern AI technologies and practical farming, enabling farmers to make informed, data-driven decisions.</a:t>
            </a:r>
            <a:endParaRPr lang="en-US" sz="1350" dirty="0"/>
          </a:p>
        </p:txBody>
      </p:sp>
      <p:sp>
        <p:nvSpPr>
          <p:cNvPr id="27" name="Text 18"/>
          <p:cNvSpPr/>
          <p:nvPr/>
        </p:nvSpPr>
        <p:spPr>
          <a:xfrm>
            <a:off x="457200" y="6473952"/>
            <a:ext cx="3657600" cy="274320"/>
          </a:xfrm>
          <a:prstGeom prst="rect">
            <a:avLst/>
          </a:prstGeom>
          <a:noFill/>
          <a:ln/>
        </p:spPr>
        <p:txBody>
          <a:bodyPr wrap="square" rtlCol="0" anchor="ctr"/>
          <a:lstStyle/>
          <a:p>
            <a:pPr marL="0" indent="0">
              <a:buNone/>
            </a:pPr>
            <a:r>
              <a:rPr lang="en-US" sz="900" kern="0" spc="200" dirty="0">
                <a:solidFill>
                  <a:srgbClr val="55645C"/>
                </a:solidFill>
                <a:latin typeface="Calibri" pitchFamily="34" charset="0"/>
                <a:ea typeface="Calibri" pitchFamily="34" charset="-122"/>
                <a:cs typeface="Calibri" pitchFamily="34" charset="-120"/>
              </a:rPr>
              <a:t>STELLAR AGRI AI</a:t>
            </a:r>
            <a:endParaRPr lang="en-US" sz="900" dirty="0"/>
          </a:p>
        </p:txBody>
      </p:sp>
      <p:sp>
        <p:nvSpPr>
          <p:cNvPr id="28" name="Text 19"/>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5645C"/>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3322A"/>
        </a:solidFill>
        <a:effectLst/>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1E4738"/>
          </a:solidFill>
          <a:ln/>
        </p:spPr>
      </p:sp>
      <p:pic>
        <p:nvPicPr>
          <p:cNvPr id="3" name="Image 0" descr="/home/claude/work/stellar_white.png"/>
          <p:cNvPicPr>
            <a:picLocks noChangeAspect="1"/>
          </p:cNvPicPr>
          <p:nvPr/>
        </p:nvPicPr>
        <p:blipFill>
          <a:blip r:embed="rId3"/>
          <a:stretch>
            <a:fillRect/>
          </a:stretch>
        </p:blipFill>
        <p:spPr>
          <a:xfrm>
            <a:off x="457200" y="365760"/>
            <a:ext cx="1371600" cy="479685"/>
          </a:xfrm>
          <a:prstGeom prst="rect">
            <a:avLst/>
          </a:prstGeom>
        </p:spPr>
      </p:pic>
      <p:sp>
        <p:nvSpPr>
          <p:cNvPr id="4" name="Shape 1"/>
          <p:cNvSpPr/>
          <p:nvPr/>
        </p:nvSpPr>
        <p:spPr>
          <a:xfrm>
            <a:off x="10500055" y="365760"/>
            <a:ext cx="1234440" cy="502920"/>
          </a:xfrm>
          <a:prstGeom prst="roundRect">
            <a:avLst>
              <a:gd name="adj" fmla="val 18182"/>
            </a:avLst>
          </a:prstGeom>
          <a:solidFill>
            <a:srgbClr val="FFFFFF"/>
          </a:solidFill>
          <a:ln/>
          <a:effectLst>
            <a:outerShdw blurRad="76200" dist="25400" dir="5400000" algn="bl" rotWithShape="0">
              <a:srgbClr val="000000">
                <a:alpha val="25000"/>
              </a:srgbClr>
            </a:outerShdw>
          </a:effectLst>
        </p:spPr>
      </p:sp>
      <p:pic>
        <p:nvPicPr>
          <p:cNvPr id="5" name="Image 1" descr="/home/claude/work/snap_crop.png"/>
          <p:cNvPicPr>
            <a:picLocks noChangeAspect="1"/>
          </p:cNvPicPr>
          <p:nvPr/>
        </p:nvPicPr>
        <p:blipFill>
          <a:blip r:embed="rId4"/>
          <a:stretch>
            <a:fillRect/>
          </a:stretch>
        </p:blipFill>
        <p:spPr>
          <a:xfrm>
            <a:off x="10643490" y="438912"/>
            <a:ext cx="435506" cy="356616"/>
          </a:xfrm>
          <a:prstGeom prst="rect">
            <a:avLst/>
          </a:prstGeom>
        </p:spPr>
      </p:pic>
      <p:sp>
        <p:nvSpPr>
          <p:cNvPr id="6" name="Text 2"/>
          <p:cNvSpPr/>
          <p:nvPr/>
        </p:nvSpPr>
        <p:spPr>
          <a:xfrm>
            <a:off x="10953849" y="365760"/>
            <a:ext cx="707494" cy="502920"/>
          </a:xfrm>
          <a:prstGeom prst="rect">
            <a:avLst/>
          </a:prstGeom>
          <a:noFill/>
          <a:ln/>
        </p:spPr>
        <p:txBody>
          <a:bodyPr wrap="square" lIns="0" tIns="0" rIns="0" bIns="0" rtlCol="0" anchor="ctr"/>
          <a:lstStyle/>
          <a:p>
            <a:pPr marL="0" indent="0" algn="l">
              <a:buNone/>
            </a:pPr>
            <a:r>
              <a:rPr lang="en-US" sz="1100" b="1" dirty="0">
                <a:solidFill>
                  <a:srgbClr val="13322A"/>
                </a:solidFill>
                <a:latin typeface="Calibri" pitchFamily="34" charset="0"/>
                <a:ea typeface="Calibri" pitchFamily="34" charset="-122"/>
                <a:cs typeface="Calibri" pitchFamily="34" charset="-120"/>
              </a:rPr>
              <a:t>SnapServe</a:t>
            </a:r>
            <a:endParaRPr lang="en-US" sz="1100" dirty="0"/>
          </a:p>
        </p:txBody>
      </p:sp>
      <p:sp>
        <p:nvSpPr>
          <p:cNvPr id="7" name="Text 3"/>
          <p:cNvSpPr/>
          <p:nvPr/>
        </p:nvSpPr>
        <p:spPr>
          <a:xfrm>
            <a:off x="640080" y="2286000"/>
            <a:ext cx="7315200" cy="365760"/>
          </a:xfrm>
          <a:prstGeom prst="rect">
            <a:avLst/>
          </a:prstGeom>
          <a:noFill/>
          <a:ln/>
        </p:spPr>
        <p:txBody>
          <a:bodyPr wrap="square" rtlCol="0" anchor="ctr"/>
          <a:lstStyle/>
          <a:p>
            <a:pPr marL="0" indent="0">
              <a:buNone/>
            </a:pPr>
            <a:r>
              <a:rPr lang="en-US" sz="1400" b="1" kern="0" spc="300" dirty="0">
                <a:solidFill>
                  <a:srgbClr val="D9A441"/>
                </a:solidFill>
                <a:latin typeface="Calibri" pitchFamily="34" charset="0"/>
                <a:ea typeface="Calibri" pitchFamily="34" charset="-122"/>
                <a:cs typeface="Calibri" pitchFamily="34" charset="-120"/>
              </a:rPr>
              <a:t>THANK YOU</a:t>
            </a:r>
            <a:endParaRPr lang="en-US" sz="1400" dirty="0"/>
          </a:p>
        </p:txBody>
      </p:sp>
      <p:sp>
        <p:nvSpPr>
          <p:cNvPr id="8" name="Text 4"/>
          <p:cNvSpPr/>
          <p:nvPr/>
        </p:nvSpPr>
        <p:spPr>
          <a:xfrm>
            <a:off x="594360" y="2651760"/>
            <a:ext cx="9144000" cy="82296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Questions &amp; Discussion</a:t>
            </a:r>
            <a:endParaRPr lang="en-US" sz="3800" dirty="0"/>
          </a:p>
        </p:txBody>
      </p:sp>
      <p:sp>
        <p:nvSpPr>
          <p:cNvPr id="9" name="Shape 5"/>
          <p:cNvSpPr/>
          <p:nvPr/>
        </p:nvSpPr>
        <p:spPr>
          <a:xfrm>
            <a:off x="640080" y="3794760"/>
            <a:ext cx="5486400" cy="0"/>
          </a:xfrm>
          <a:prstGeom prst="line">
            <a:avLst/>
          </a:prstGeom>
          <a:noFill/>
          <a:ln w="12700">
            <a:solidFill>
              <a:srgbClr val="2F5445"/>
            </a:solidFill>
            <a:prstDash val="solid"/>
          </a:ln>
        </p:spPr>
      </p:sp>
      <p:sp>
        <p:nvSpPr>
          <p:cNvPr id="10" name="Shape 6"/>
          <p:cNvSpPr/>
          <p:nvPr/>
        </p:nvSpPr>
        <p:spPr>
          <a:xfrm>
            <a:off x="640080" y="4069080"/>
            <a:ext cx="548640" cy="548640"/>
          </a:xfrm>
          <a:prstGeom prst="ellipse">
            <a:avLst/>
          </a:prstGeom>
          <a:solidFill>
            <a:srgbClr val="4C7A5E"/>
          </a:solidFill>
          <a:ln/>
        </p:spPr>
      </p:sp>
      <p:pic>
        <p:nvPicPr>
          <p:cNvPr id="11" name="Image 2" descr="/home/claude/work/icons/gradcap.png"/>
          <p:cNvPicPr>
            <a:picLocks noChangeAspect="1"/>
          </p:cNvPicPr>
          <p:nvPr/>
        </p:nvPicPr>
        <p:blipFill>
          <a:blip r:embed="rId5"/>
          <a:stretch>
            <a:fillRect/>
          </a:stretch>
        </p:blipFill>
        <p:spPr>
          <a:xfrm>
            <a:off x="716890" y="4145890"/>
            <a:ext cx="395021" cy="395021"/>
          </a:xfrm>
          <a:prstGeom prst="rect">
            <a:avLst/>
          </a:prstGeom>
        </p:spPr>
      </p:pic>
      <p:sp>
        <p:nvSpPr>
          <p:cNvPr id="12" name="Text 7"/>
          <p:cNvSpPr/>
          <p:nvPr/>
        </p:nvSpPr>
        <p:spPr>
          <a:xfrm>
            <a:off x="1325880" y="4041648"/>
            <a:ext cx="73152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M Mohammed Salman</a:t>
            </a:r>
            <a:endParaRPr lang="en-US" sz="1600" dirty="0"/>
          </a:p>
        </p:txBody>
      </p:sp>
      <p:sp>
        <p:nvSpPr>
          <p:cNvPr id="13" name="Text 8"/>
          <p:cNvSpPr/>
          <p:nvPr/>
        </p:nvSpPr>
        <p:spPr>
          <a:xfrm>
            <a:off x="1325880" y="4370832"/>
            <a:ext cx="7315200" cy="320040"/>
          </a:xfrm>
          <a:prstGeom prst="rect">
            <a:avLst/>
          </a:prstGeom>
          <a:noFill/>
          <a:ln/>
        </p:spPr>
        <p:txBody>
          <a:bodyPr wrap="square" lIns="0" tIns="0" rIns="0" bIns="0" rtlCol="0" anchor="ctr"/>
          <a:lstStyle/>
          <a:p>
            <a:pPr marL="0" indent="0">
              <a:buNone/>
            </a:pPr>
            <a:r>
              <a:rPr lang="en-US" sz="1200" dirty="0">
                <a:solidFill>
                  <a:srgbClr val="B9C9BF"/>
                </a:solidFill>
                <a:latin typeface="Calibri" pitchFamily="34" charset="0"/>
                <a:ea typeface="Calibri" pitchFamily="34" charset="-122"/>
                <a:cs typeface="Calibri" pitchFamily="34" charset="-120"/>
              </a:rPr>
              <a:t>B.Tech Artificial Intelligence &amp; Data Science</a:t>
            </a:r>
            <a:endParaRPr lang="en-US" sz="1200" dirty="0"/>
          </a:p>
        </p:txBody>
      </p:sp>
      <p:sp>
        <p:nvSpPr>
          <p:cNvPr id="16" name="Text 11"/>
          <p:cNvSpPr/>
          <p:nvPr/>
        </p:nvSpPr>
        <p:spPr>
          <a:xfrm>
            <a:off x="7649996" y="3863341"/>
            <a:ext cx="3657600" cy="256032"/>
          </a:xfrm>
          <a:prstGeom prst="rect">
            <a:avLst/>
          </a:prstGeom>
          <a:noFill/>
          <a:ln/>
        </p:spPr>
        <p:txBody>
          <a:bodyPr wrap="square" rtlCol="0" anchor="ctr"/>
          <a:lstStyle/>
          <a:p>
            <a:pPr marL="0" indent="0">
              <a:buNone/>
            </a:pPr>
            <a:r>
              <a:rPr lang="en-US" sz="1000" b="1" kern="0" spc="150" dirty="0">
                <a:solidFill>
                  <a:srgbClr val="D9A441"/>
                </a:solidFill>
                <a:latin typeface="Calibri" pitchFamily="34" charset="0"/>
                <a:ea typeface="Calibri" pitchFamily="34" charset="-122"/>
                <a:cs typeface="Calibri" pitchFamily="34" charset="-120"/>
              </a:rPr>
              <a:t>INSTITUTION</a:t>
            </a:r>
            <a:endParaRPr lang="en-US" sz="1000" dirty="0"/>
          </a:p>
        </p:txBody>
      </p:sp>
      <p:sp>
        <p:nvSpPr>
          <p:cNvPr id="17" name="Text 12"/>
          <p:cNvSpPr/>
          <p:nvPr/>
        </p:nvSpPr>
        <p:spPr>
          <a:xfrm>
            <a:off x="1325880" y="4498848"/>
            <a:ext cx="6858000" cy="548640"/>
          </a:xfrm>
          <a:prstGeom prst="rect">
            <a:avLst/>
          </a:prstGeom>
          <a:noFill/>
          <a:ln/>
        </p:spPr>
        <p:txBody>
          <a:bodyPr wrap="square" lIns="0" tIns="0" rIns="0" bIns="0" rtlCol="0" anchor="ctr"/>
          <a:lstStyle/>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B.S. Abdur Rahman Crescent Institute of Science and Technology</a:t>
            </a:r>
            <a:endParaRPr lang="en-US" sz="1200" dirty="0"/>
          </a:p>
        </p:txBody>
      </p:sp>
      <p:sp>
        <p:nvSpPr>
          <p:cNvPr id="29" name="Shape 6">
            <a:extLst>
              <a:ext uri="{FF2B5EF4-FFF2-40B4-BE49-F238E27FC236}">
                <a16:creationId xmlns:a16="http://schemas.microsoft.com/office/drawing/2014/main" id="{77A9CAEA-8652-680C-C942-9EEC2666DBB6}"/>
              </a:ext>
            </a:extLst>
          </p:cNvPr>
          <p:cNvSpPr/>
          <p:nvPr/>
        </p:nvSpPr>
        <p:spPr>
          <a:xfrm>
            <a:off x="655320" y="4972431"/>
            <a:ext cx="548640" cy="548640"/>
          </a:xfrm>
          <a:prstGeom prst="ellipse">
            <a:avLst/>
          </a:prstGeom>
          <a:solidFill>
            <a:srgbClr val="4C7A5E"/>
          </a:solidFill>
          <a:ln/>
        </p:spPr>
      </p:sp>
      <p:pic>
        <p:nvPicPr>
          <p:cNvPr id="31" name="Image 2" descr="/home/claude/work/icons/gradcap.png">
            <a:extLst>
              <a:ext uri="{FF2B5EF4-FFF2-40B4-BE49-F238E27FC236}">
                <a16:creationId xmlns:a16="http://schemas.microsoft.com/office/drawing/2014/main" id="{41F10DEC-0557-1350-5B90-BB3D4652CE4B}"/>
              </a:ext>
            </a:extLst>
          </p:cNvPr>
          <p:cNvPicPr>
            <a:picLocks noChangeAspect="1"/>
          </p:cNvPicPr>
          <p:nvPr/>
        </p:nvPicPr>
        <p:blipFill>
          <a:blip r:embed="rId5"/>
          <a:stretch>
            <a:fillRect/>
          </a:stretch>
        </p:blipFill>
        <p:spPr>
          <a:xfrm>
            <a:off x="732130" y="5049241"/>
            <a:ext cx="395021" cy="395021"/>
          </a:xfrm>
          <a:prstGeom prst="rect">
            <a:avLst/>
          </a:prstGeom>
        </p:spPr>
      </p:pic>
      <p:sp>
        <p:nvSpPr>
          <p:cNvPr id="33" name="Text 7">
            <a:extLst>
              <a:ext uri="{FF2B5EF4-FFF2-40B4-BE49-F238E27FC236}">
                <a16:creationId xmlns:a16="http://schemas.microsoft.com/office/drawing/2014/main" id="{35A61E35-D7A7-509C-63C8-0BCD090B787C}"/>
              </a:ext>
            </a:extLst>
          </p:cNvPr>
          <p:cNvSpPr/>
          <p:nvPr/>
        </p:nvSpPr>
        <p:spPr>
          <a:xfrm>
            <a:off x="1341120" y="4944999"/>
            <a:ext cx="7315200" cy="365760"/>
          </a:xfrm>
          <a:prstGeom prst="rect">
            <a:avLst/>
          </a:prstGeom>
          <a:noFill/>
          <a:ln/>
        </p:spPr>
        <p:txBody>
          <a:bodyPr wrap="square" lIns="0" tIns="0" rIns="0" bIns="0" rtlCol="0" anchor="ctr"/>
          <a:lstStyle/>
          <a:p>
            <a:r>
              <a:rPr lang="en-US" sz="1600" b="1" dirty="0">
                <a:solidFill>
                  <a:srgbClr val="FFFFFF"/>
                </a:solidFill>
                <a:latin typeface="Cambria" pitchFamily="34" charset="0"/>
                <a:ea typeface="Cambria" pitchFamily="34" charset="-122"/>
                <a:cs typeface="Cambria" pitchFamily="34" charset="-120"/>
              </a:rPr>
              <a:t>Reshmi S</a:t>
            </a:r>
            <a:endParaRPr lang="en-US" sz="1600" dirty="0"/>
          </a:p>
        </p:txBody>
      </p:sp>
      <p:sp>
        <p:nvSpPr>
          <p:cNvPr id="35" name="Text 8">
            <a:extLst>
              <a:ext uri="{FF2B5EF4-FFF2-40B4-BE49-F238E27FC236}">
                <a16:creationId xmlns:a16="http://schemas.microsoft.com/office/drawing/2014/main" id="{739658DC-9294-877D-4F3B-B6D4E3562859}"/>
              </a:ext>
            </a:extLst>
          </p:cNvPr>
          <p:cNvSpPr/>
          <p:nvPr/>
        </p:nvSpPr>
        <p:spPr>
          <a:xfrm>
            <a:off x="1341120" y="5274183"/>
            <a:ext cx="7315200" cy="320040"/>
          </a:xfrm>
          <a:prstGeom prst="rect">
            <a:avLst/>
          </a:prstGeom>
          <a:noFill/>
          <a:ln/>
        </p:spPr>
        <p:txBody>
          <a:bodyPr wrap="square" lIns="0" tIns="0" rIns="0" bIns="0" rtlCol="0" anchor="ctr"/>
          <a:lstStyle/>
          <a:p>
            <a:pPr marL="0" indent="0">
              <a:buNone/>
            </a:pPr>
            <a:r>
              <a:rPr lang="en-US" sz="1200" dirty="0">
                <a:solidFill>
                  <a:srgbClr val="B9C9BF"/>
                </a:solidFill>
                <a:latin typeface="Calibri" pitchFamily="34" charset="0"/>
                <a:ea typeface="Calibri" pitchFamily="34" charset="-122"/>
                <a:cs typeface="Calibri" pitchFamily="34" charset="-120"/>
              </a:rPr>
              <a:t>MCA</a:t>
            </a:r>
            <a:endParaRPr lang="en-US" sz="1200" dirty="0"/>
          </a:p>
        </p:txBody>
      </p:sp>
      <p:sp>
        <p:nvSpPr>
          <p:cNvPr id="37" name="Text 12">
            <a:extLst>
              <a:ext uri="{FF2B5EF4-FFF2-40B4-BE49-F238E27FC236}">
                <a16:creationId xmlns:a16="http://schemas.microsoft.com/office/drawing/2014/main" id="{7B2493E2-38C4-3F06-CF33-A77DBD2A291A}"/>
              </a:ext>
            </a:extLst>
          </p:cNvPr>
          <p:cNvSpPr/>
          <p:nvPr/>
        </p:nvSpPr>
        <p:spPr>
          <a:xfrm>
            <a:off x="1341120" y="5402199"/>
            <a:ext cx="6858000" cy="548640"/>
          </a:xfrm>
          <a:prstGeom prst="rect">
            <a:avLst/>
          </a:prstGeom>
          <a:noFill/>
          <a:ln/>
        </p:spPr>
        <p:txBody>
          <a:bodyPr wrap="square" lIns="0" tIns="0" rIns="0" bIns="0" rtlCol="0" anchor="ctr"/>
          <a:lstStyle/>
          <a:p>
            <a:pPr>
              <a:lnSpc>
                <a:spcPct val="120000"/>
              </a:lnSpc>
            </a:pPr>
            <a:r>
              <a:rPr lang="en-US" sz="1200" dirty="0">
                <a:solidFill>
                  <a:srgbClr val="FFFFFF"/>
                </a:solidFill>
                <a:latin typeface="Calibri" pitchFamily="34" charset="0"/>
                <a:ea typeface="Calibri" pitchFamily="34" charset="-122"/>
                <a:cs typeface="Calibri" pitchFamily="34" charset="-120"/>
              </a:rPr>
              <a:t>Dwaraka Doss </a:t>
            </a:r>
            <a:r>
              <a:rPr lang="en-US" sz="1200" dirty="0" err="1">
                <a:solidFill>
                  <a:srgbClr val="FFFFFF"/>
                </a:solidFill>
                <a:latin typeface="Calibri" pitchFamily="34" charset="0"/>
                <a:ea typeface="Calibri" pitchFamily="34" charset="-122"/>
                <a:cs typeface="Calibri" pitchFamily="34" charset="-120"/>
              </a:rPr>
              <a:t>Goverdhan</a:t>
            </a:r>
            <a:r>
              <a:rPr lang="en-US" sz="1200" dirty="0">
                <a:solidFill>
                  <a:srgbClr val="FFFFFF"/>
                </a:solidFill>
                <a:latin typeface="Calibri" pitchFamily="34" charset="0"/>
                <a:ea typeface="Calibri" pitchFamily="34" charset="-122"/>
                <a:cs typeface="Calibri" pitchFamily="34" charset="-120"/>
              </a:rPr>
              <a:t> Doss Vaishnav College</a:t>
            </a:r>
            <a:endParaRPr lang="en-US" sz="1200" dirty="0"/>
          </a:p>
        </p:txBody>
      </p:sp>
      <p:sp>
        <p:nvSpPr>
          <p:cNvPr id="39" name="Shape 6">
            <a:extLst>
              <a:ext uri="{FF2B5EF4-FFF2-40B4-BE49-F238E27FC236}">
                <a16:creationId xmlns:a16="http://schemas.microsoft.com/office/drawing/2014/main" id="{67C1D21F-583B-9054-3D3F-4FD2C4E2AC60}"/>
              </a:ext>
            </a:extLst>
          </p:cNvPr>
          <p:cNvSpPr/>
          <p:nvPr/>
        </p:nvSpPr>
        <p:spPr>
          <a:xfrm>
            <a:off x="640080" y="5879592"/>
            <a:ext cx="548640" cy="548640"/>
          </a:xfrm>
          <a:prstGeom prst="ellipse">
            <a:avLst/>
          </a:prstGeom>
          <a:solidFill>
            <a:srgbClr val="4C7A5E"/>
          </a:solidFill>
          <a:ln/>
        </p:spPr>
      </p:sp>
      <p:pic>
        <p:nvPicPr>
          <p:cNvPr id="41" name="Image 2" descr="/home/claude/work/icons/gradcap.png">
            <a:extLst>
              <a:ext uri="{FF2B5EF4-FFF2-40B4-BE49-F238E27FC236}">
                <a16:creationId xmlns:a16="http://schemas.microsoft.com/office/drawing/2014/main" id="{7B665D2B-E57C-EE8A-A3FA-0537A2A1530E}"/>
              </a:ext>
            </a:extLst>
          </p:cNvPr>
          <p:cNvPicPr>
            <a:picLocks noChangeAspect="1"/>
          </p:cNvPicPr>
          <p:nvPr/>
        </p:nvPicPr>
        <p:blipFill>
          <a:blip r:embed="rId5"/>
          <a:stretch>
            <a:fillRect/>
          </a:stretch>
        </p:blipFill>
        <p:spPr>
          <a:xfrm>
            <a:off x="716890" y="5956402"/>
            <a:ext cx="395021" cy="395021"/>
          </a:xfrm>
          <a:prstGeom prst="rect">
            <a:avLst/>
          </a:prstGeom>
        </p:spPr>
      </p:pic>
      <p:sp>
        <p:nvSpPr>
          <p:cNvPr id="43" name="Text 7">
            <a:extLst>
              <a:ext uri="{FF2B5EF4-FFF2-40B4-BE49-F238E27FC236}">
                <a16:creationId xmlns:a16="http://schemas.microsoft.com/office/drawing/2014/main" id="{DC56D224-DB50-12B6-546E-F61E73682814}"/>
              </a:ext>
            </a:extLst>
          </p:cNvPr>
          <p:cNvSpPr/>
          <p:nvPr/>
        </p:nvSpPr>
        <p:spPr>
          <a:xfrm>
            <a:off x="1325880" y="5848350"/>
            <a:ext cx="73152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Vinodhini J A</a:t>
            </a:r>
            <a:endParaRPr lang="en-US" sz="1600" dirty="0"/>
          </a:p>
        </p:txBody>
      </p:sp>
      <p:sp>
        <p:nvSpPr>
          <p:cNvPr id="45" name="Text 8">
            <a:extLst>
              <a:ext uri="{FF2B5EF4-FFF2-40B4-BE49-F238E27FC236}">
                <a16:creationId xmlns:a16="http://schemas.microsoft.com/office/drawing/2014/main" id="{6B5A5F8E-2FDF-D4CF-35C7-A6550953F5CA}"/>
              </a:ext>
            </a:extLst>
          </p:cNvPr>
          <p:cNvSpPr/>
          <p:nvPr/>
        </p:nvSpPr>
        <p:spPr>
          <a:xfrm>
            <a:off x="1325880" y="6181344"/>
            <a:ext cx="7315200" cy="320040"/>
          </a:xfrm>
          <a:prstGeom prst="rect">
            <a:avLst/>
          </a:prstGeom>
          <a:noFill/>
          <a:ln/>
        </p:spPr>
        <p:txBody>
          <a:bodyPr wrap="square" lIns="0" tIns="0" rIns="0" bIns="0" rtlCol="0" anchor="ctr"/>
          <a:lstStyle/>
          <a:p>
            <a:pPr marL="0" indent="0">
              <a:buNone/>
            </a:pPr>
            <a:r>
              <a:rPr lang="en-US" sz="1200" dirty="0">
                <a:solidFill>
                  <a:srgbClr val="B9C9BF"/>
                </a:solidFill>
                <a:latin typeface="Calibri" pitchFamily="34" charset="0"/>
                <a:ea typeface="Calibri" pitchFamily="34" charset="-122"/>
                <a:cs typeface="Calibri" pitchFamily="34" charset="-120"/>
              </a:rPr>
              <a:t>MCA</a:t>
            </a:r>
            <a:endParaRPr lang="en-US" sz="1200" dirty="0"/>
          </a:p>
        </p:txBody>
      </p:sp>
      <p:sp>
        <p:nvSpPr>
          <p:cNvPr id="47" name="Text 12">
            <a:extLst>
              <a:ext uri="{FF2B5EF4-FFF2-40B4-BE49-F238E27FC236}">
                <a16:creationId xmlns:a16="http://schemas.microsoft.com/office/drawing/2014/main" id="{4D19EF55-F323-9F51-B00D-60CFB5B7B7DD}"/>
              </a:ext>
            </a:extLst>
          </p:cNvPr>
          <p:cNvSpPr/>
          <p:nvPr/>
        </p:nvSpPr>
        <p:spPr>
          <a:xfrm>
            <a:off x="1325880" y="6309360"/>
            <a:ext cx="6858000" cy="548640"/>
          </a:xfrm>
          <a:prstGeom prst="rect">
            <a:avLst/>
          </a:prstGeom>
          <a:noFill/>
          <a:ln/>
        </p:spPr>
        <p:txBody>
          <a:bodyPr wrap="square" lIns="0" tIns="0" rIns="0" bIns="0" rtlCol="0" anchor="ctr"/>
          <a:lstStyle/>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Dwaraka Doss </a:t>
            </a:r>
            <a:r>
              <a:rPr lang="en-US" sz="1200" dirty="0" err="1">
                <a:solidFill>
                  <a:srgbClr val="FFFFFF"/>
                </a:solidFill>
                <a:latin typeface="Calibri" pitchFamily="34" charset="0"/>
                <a:ea typeface="Calibri" pitchFamily="34" charset="-122"/>
                <a:cs typeface="Calibri" pitchFamily="34" charset="-120"/>
              </a:rPr>
              <a:t>Goverdhan</a:t>
            </a:r>
            <a:r>
              <a:rPr lang="en-US" sz="1200" dirty="0">
                <a:solidFill>
                  <a:srgbClr val="FFFFFF"/>
                </a:solidFill>
                <a:latin typeface="Calibri" pitchFamily="34" charset="0"/>
                <a:ea typeface="Calibri" pitchFamily="34" charset="-122"/>
                <a:cs typeface="Calibri" pitchFamily="34" charset="-120"/>
              </a:rPr>
              <a:t> Doss Vaishnav College</a:t>
            </a:r>
            <a:endParaRPr lang="en-US" sz="1200" dirty="0"/>
          </a:p>
        </p:txBody>
      </p:sp>
      <p:sp>
        <p:nvSpPr>
          <p:cNvPr id="51" name="Text 12">
            <a:extLst>
              <a:ext uri="{FF2B5EF4-FFF2-40B4-BE49-F238E27FC236}">
                <a16:creationId xmlns:a16="http://schemas.microsoft.com/office/drawing/2014/main" id="{A030D086-AF61-F8F9-2B2B-DA40F2DD909E}"/>
              </a:ext>
            </a:extLst>
          </p:cNvPr>
          <p:cNvSpPr/>
          <p:nvPr/>
        </p:nvSpPr>
        <p:spPr>
          <a:xfrm>
            <a:off x="7736205" y="4006215"/>
            <a:ext cx="3099435" cy="548640"/>
          </a:xfrm>
          <a:prstGeom prst="rect">
            <a:avLst/>
          </a:prstGeom>
          <a:noFill/>
          <a:ln/>
        </p:spPr>
        <p:txBody>
          <a:bodyPr wrap="square" lIns="0" tIns="0" rIns="0" bIns="0" rtlCol="0" anchor="ctr"/>
          <a:lstStyle/>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CFRSI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1722</Words>
  <Application>Microsoft Office PowerPoint</Application>
  <PresentationFormat>Widescreen</PresentationFormat>
  <Paragraphs>387</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Mohammed Salman M</cp:lastModifiedBy>
  <cp:revision>2</cp:revision>
  <dcterms:created xsi:type="dcterms:W3CDTF">2026-09-01T06:14:58Z</dcterms:created>
  <dcterms:modified xsi:type="dcterms:W3CDTF">2026-09-01T06:33:49Z</dcterms:modified>
</cp:coreProperties>
</file>